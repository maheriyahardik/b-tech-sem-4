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51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6285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087" y="1147712"/>
            <a:ext cx="7324725" cy="1643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96231"/>
            <a:ext cx="1024487" cy="9950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150" y="244418"/>
            <a:ext cx="1312068" cy="6986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71600" y="584515"/>
            <a:ext cx="5931538" cy="98039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5080" algn="ctr">
              <a:lnSpc>
                <a:spcPct val="100400"/>
              </a:lnSpc>
              <a:spcBef>
                <a:spcPts val="85"/>
              </a:spcBef>
              <a:tabLst>
                <a:tab pos="1230630" algn="l"/>
              </a:tabLst>
            </a:pPr>
            <a:r>
              <a:rPr sz="2400" spc="-20" dirty="0">
                <a:solidFill>
                  <a:srgbClr val="000000"/>
                </a:solidFill>
              </a:rPr>
              <a:t>SAL</a:t>
            </a:r>
            <a:r>
              <a:rPr sz="2400" spc="-135" dirty="0">
                <a:solidFill>
                  <a:srgbClr val="000000"/>
                </a:solidFill>
              </a:rPr>
              <a:t> </a:t>
            </a:r>
            <a:r>
              <a:rPr lang="en-IN" sz="2400" spc="-135" dirty="0">
                <a:solidFill>
                  <a:srgbClr val="000000"/>
                </a:solidFill>
              </a:rPr>
              <a:t>COLLEGE AND ENGINEERING</a:t>
            </a:r>
            <a:br>
              <a:rPr lang="en-IN" sz="2400" spc="-135" dirty="0">
                <a:solidFill>
                  <a:srgbClr val="000000"/>
                </a:solidFill>
              </a:rPr>
            </a:br>
            <a:r>
              <a:rPr sz="2100" dirty="0">
                <a:solidFill>
                  <a:srgbClr val="000000"/>
                </a:solidFill>
              </a:rPr>
              <a:t>Analysis</a:t>
            </a:r>
            <a:r>
              <a:rPr sz="2100" spc="-40" dirty="0">
                <a:solidFill>
                  <a:srgbClr val="000000"/>
                </a:solidFill>
              </a:rPr>
              <a:t> </a:t>
            </a:r>
            <a:r>
              <a:rPr sz="2100" dirty="0">
                <a:solidFill>
                  <a:srgbClr val="000000"/>
                </a:solidFill>
              </a:rPr>
              <a:t>and</a:t>
            </a:r>
            <a:r>
              <a:rPr sz="2100" spc="-20" dirty="0">
                <a:solidFill>
                  <a:srgbClr val="000000"/>
                </a:solidFill>
              </a:rPr>
              <a:t> </a:t>
            </a:r>
            <a:r>
              <a:rPr sz="2100" dirty="0">
                <a:solidFill>
                  <a:srgbClr val="000000"/>
                </a:solidFill>
              </a:rPr>
              <a:t>Design</a:t>
            </a:r>
            <a:r>
              <a:rPr sz="2100" spc="-25" dirty="0">
                <a:solidFill>
                  <a:srgbClr val="000000"/>
                </a:solidFill>
              </a:rPr>
              <a:t> </a:t>
            </a:r>
            <a:r>
              <a:rPr sz="2100" spc="-10" dirty="0">
                <a:solidFill>
                  <a:srgbClr val="000000"/>
                </a:solidFill>
              </a:rPr>
              <a:t>of</a:t>
            </a:r>
            <a:r>
              <a:rPr sz="2100" spc="-120" dirty="0">
                <a:solidFill>
                  <a:srgbClr val="000000"/>
                </a:solidFill>
              </a:rPr>
              <a:t> </a:t>
            </a:r>
            <a:r>
              <a:rPr sz="2100" spc="-10" dirty="0">
                <a:solidFill>
                  <a:srgbClr val="000000"/>
                </a:solidFill>
              </a:rPr>
              <a:t>Algorithms–(BE04000241) </a:t>
            </a:r>
            <a:r>
              <a:rPr sz="1800" dirty="0">
                <a:solidFill>
                  <a:srgbClr val="000000"/>
                </a:solidFill>
              </a:rPr>
              <a:t>SEM</a:t>
            </a:r>
            <a:r>
              <a:rPr sz="1800" spc="-1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–</a:t>
            </a:r>
            <a:r>
              <a:rPr sz="1800" spc="-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4 </a:t>
            </a:r>
            <a:r>
              <a:rPr sz="1800" spc="-50" dirty="0">
                <a:solidFill>
                  <a:srgbClr val="000000"/>
                </a:solidFill>
              </a:rPr>
              <a:t>B</a:t>
            </a:r>
            <a:r>
              <a:rPr sz="1800" dirty="0">
                <a:solidFill>
                  <a:srgbClr val="000000"/>
                </a:solidFill>
              </a:rPr>
              <a:t>	Branch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–</a:t>
            </a:r>
            <a:r>
              <a:rPr sz="1800" spc="-2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Computer</a:t>
            </a:r>
            <a:r>
              <a:rPr sz="1800" spc="-5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Engineering</a:t>
            </a:r>
            <a:endParaRPr sz="1800" dirty="0"/>
          </a:p>
        </p:txBody>
      </p:sp>
      <p:sp>
        <p:nvSpPr>
          <p:cNvPr id="5" name="object 5"/>
          <p:cNvSpPr txBox="1"/>
          <p:nvPr/>
        </p:nvSpPr>
        <p:spPr>
          <a:xfrm>
            <a:off x="3473018" y="4122515"/>
            <a:ext cx="224198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241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Submitted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Prof.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Twinkle Patel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909" y="1580122"/>
            <a:ext cx="3357245" cy="11518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endParaRPr sz="1400" dirty="0">
              <a:latin typeface="Palatino Linotype"/>
              <a:cs typeface="Palatino Linotype"/>
            </a:endParaRPr>
          </a:p>
          <a:p>
            <a:pPr marR="215900" algn="ctr">
              <a:lnSpc>
                <a:spcPct val="100000"/>
              </a:lnSpc>
              <a:spcBef>
                <a:spcPts val="85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Greedy</a:t>
            </a:r>
            <a:r>
              <a:rPr sz="2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endParaRPr sz="2000" dirty="0">
              <a:latin typeface="Times New Roman"/>
              <a:cs typeface="Times New Roman"/>
            </a:endParaRPr>
          </a:p>
          <a:p>
            <a:pPr marR="216535" algn="ctr">
              <a:lnSpc>
                <a:spcPct val="100000"/>
              </a:lnSpc>
              <a:spcBef>
                <a:spcPts val="1065"/>
              </a:spcBef>
            </a:pPr>
            <a:r>
              <a:rPr sz="1900" b="1" dirty="0">
                <a:latin typeface="Times New Roman"/>
                <a:cs typeface="Times New Roman"/>
              </a:rPr>
              <a:t>Presented</a:t>
            </a:r>
            <a:r>
              <a:rPr sz="1900" b="1" spc="-80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by</a:t>
            </a:r>
            <a:endParaRPr sz="1900" dirty="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223520" cy="5143500"/>
            <a:chOff x="0" y="0"/>
            <a:chExt cx="223520" cy="51435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23000" cy="5143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0"/>
              <a:ext cx="183515" cy="5143500"/>
            </a:xfrm>
            <a:custGeom>
              <a:avLst/>
              <a:gdLst/>
              <a:ahLst/>
              <a:cxnLst/>
              <a:rect l="l" t="t" r="r" b="b"/>
              <a:pathLst>
                <a:path w="183515" h="5143500">
                  <a:moveTo>
                    <a:pt x="182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999" y="0"/>
                  </a:lnTo>
                  <a:lnTo>
                    <a:pt x="18299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21137"/>
              </p:ext>
            </p:extLst>
          </p:nvPr>
        </p:nvGraphicFramePr>
        <p:xfrm>
          <a:off x="1290356" y="2910512"/>
          <a:ext cx="6541680" cy="515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7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70">
                <a:tc>
                  <a:txBody>
                    <a:bodyPr/>
                    <a:lstStyle/>
                    <a:p>
                      <a:pPr marR="343535" algn="r">
                        <a:lnSpc>
                          <a:spcPts val="1390"/>
                        </a:lnSpc>
                      </a:pPr>
                      <a:r>
                        <a:rPr sz="1200" spc="-40" dirty="0">
                          <a:latin typeface="Calibri"/>
                          <a:cs typeface="Calibri"/>
                        </a:rPr>
                        <a:t>Sr.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Enrollment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38">
                <a:tc>
                  <a:txBody>
                    <a:bodyPr/>
                    <a:lstStyle/>
                    <a:p>
                      <a:pPr marR="339090" algn="r">
                        <a:lnSpc>
                          <a:spcPts val="116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251</a:t>
                      </a:r>
                      <a:r>
                        <a:rPr lang="en-IN" sz="1000" spc="-10" dirty="0">
                          <a:latin typeface="Calibri"/>
                          <a:cs typeface="Calibri"/>
                        </a:rPr>
                        <a:t>133107016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IN" sz="1000" dirty="0">
                          <a:latin typeface="Calibri"/>
                          <a:cs typeface="Calibri"/>
                        </a:rPr>
                        <a:t>MAHERIYA HARDIK 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9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35" dirty="0"/>
              <a:t>Greedy</a:t>
            </a:r>
            <a:r>
              <a:rPr spc="-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69620"/>
            <a:ext cx="819658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algorithmic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strategy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that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builds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step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step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choosing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available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current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moment.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selects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locally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step.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goal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globally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solution.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mainly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Example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idea:</a:t>
            </a:r>
            <a:endParaRPr sz="2000">
              <a:latin typeface="Times New Roman"/>
              <a:cs typeface="Times New Roman"/>
            </a:endParaRPr>
          </a:p>
          <a:p>
            <a:pPr marL="469265" indent="-38163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Always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take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immediate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benefit.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Key</a:t>
            </a:r>
            <a:r>
              <a:rPr spc="55" dirty="0"/>
              <a:t> </a:t>
            </a:r>
            <a:r>
              <a:rPr dirty="0"/>
              <a:t>Idea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Greedy</a:t>
            </a:r>
            <a:r>
              <a:rPr spc="-135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03147"/>
            <a:ext cx="8201025" cy="32137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7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approach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works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repeatedly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making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moment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without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re-considering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previous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decisions.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Main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concept: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Local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optimum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→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hope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reach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global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optimum.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Example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analogy: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Selecting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coin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first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coin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change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Characteristics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Greedy</a:t>
            </a:r>
            <a:r>
              <a:rPr spc="-114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256145" cy="311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usually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have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these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properties: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Property</a:t>
            </a:r>
            <a:endParaRPr sz="20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12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9264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local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leads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solution.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Substructure</a:t>
            </a:r>
            <a:endParaRPr sz="2000">
              <a:latin typeface="Times New Roman"/>
              <a:cs typeface="Times New Roman"/>
            </a:endParaRPr>
          </a:p>
          <a:p>
            <a:pPr marL="927100" marR="5080" lvl="1" indent="-367030">
              <a:lnSpc>
                <a:spcPct val="105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927100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constructed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from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of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subproblems.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General</a:t>
            </a:r>
            <a:r>
              <a:rPr spc="45" dirty="0"/>
              <a:t> </a:t>
            </a:r>
            <a:r>
              <a:rPr dirty="0"/>
              <a:t>Structure</a:t>
            </a:r>
            <a:r>
              <a:rPr spc="45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Greedy</a:t>
            </a:r>
            <a:r>
              <a:rPr spc="-1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8174355" cy="305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follow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simple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structure: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Initialize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set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Choose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candidate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Add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candidate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Repeat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until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complete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Instead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checking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possible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combinations,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focuses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choice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step.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Applications</a:t>
            </a:r>
            <a:r>
              <a:rPr spc="6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dirty="0"/>
              <a:t>Greedy</a:t>
            </a:r>
            <a:r>
              <a:rPr spc="-120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6874509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many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well-known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problems: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Activity Selection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Fractional</a:t>
            </a:r>
            <a:r>
              <a:rPr sz="20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Minimum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Spanning</a:t>
            </a:r>
            <a:r>
              <a:rPr sz="20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Tree</a:t>
            </a:r>
            <a:endParaRPr sz="20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○"/>
              <a:tabLst>
                <a:tab pos="926465" algn="l"/>
              </a:tabLst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Kruskal’s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  <a:p>
            <a:pPr marL="926465" lvl="1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○"/>
              <a:tabLst>
                <a:tab pos="926465" algn="l"/>
              </a:tabLst>
            </a:pP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Prim’s</a:t>
            </a:r>
            <a:r>
              <a:rPr sz="2000" spc="-7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Algorithm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Huffman</a:t>
            </a:r>
            <a:r>
              <a:rPr sz="2000" spc="-7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Dijkstra’s</a:t>
            </a:r>
            <a:r>
              <a:rPr sz="2000" spc="-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Shortest</a:t>
            </a:r>
            <a:r>
              <a:rPr sz="2000" spc="-7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Path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commonly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scheduling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Fractional</a:t>
            </a:r>
            <a:r>
              <a:rPr spc="100" dirty="0"/>
              <a:t> </a:t>
            </a:r>
            <a:r>
              <a:rPr dirty="0"/>
              <a:t>Knapsack</a:t>
            </a:r>
            <a:r>
              <a:rPr spc="10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969884" cy="351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Problem</a:t>
            </a:r>
            <a:r>
              <a:rPr sz="20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statement: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Given: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weight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A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knapsack with limited</a:t>
            </a:r>
            <a:r>
              <a:rPr sz="2000" spc="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capacity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9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Goal: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Maximize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total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inside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Knapsack,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broken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into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maximize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6825" y="1628587"/>
            <a:ext cx="4425475" cy="18863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Greedy</a:t>
            </a:r>
            <a:r>
              <a:rPr spc="-130" dirty="0"/>
              <a:t> </a:t>
            </a:r>
            <a:r>
              <a:rPr dirty="0"/>
              <a:t>Approach</a:t>
            </a:r>
            <a:r>
              <a:rPr spc="6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Fractional</a:t>
            </a:r>
            <a:r>
              <a:rPr spc="60" dirty="0"/>
              <a:t> </a:t>
            </a:r>
            <a:r>
              <a:rPr spc="-10" dirty="0"/>
              <a:t>Knapsack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6220460" cy="270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Steps: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Calculate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value/weight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ratio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each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item.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Sort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based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ratio.</a:t>
            </a:r>
            <a:endParaRPr sz="2000">
              <a:latin typeface="Times New Roman"/>
              <a:cs typeface="Times New Roman"/>
            </a:endParaRPr>
          </a:p>
          <a:p>
            <a:pPr marL="469265" indent="-39941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Pick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items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ratio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first.</a:t>
            </a:r>
            <a:endParaRPr sz="2000">
              <a:latin typeface="Times New Roman"/>
              <a:cs typeface="Times New Roman"/>
            </a:endParaRPr>
          </a:p>
          <a:p>
            <a:pPr marL="469265" indent="-419100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90000"/>
              <a:buFont typeface="Tahoma"/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If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next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doesn't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fit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completely,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take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of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This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ensures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maximum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profit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Example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Fractional</a:t>
            </a:r>
            <a:r>
              <a:rPr spc="75" dirty="0"/>
              <a:t> </a:t>
            </a:r>
            <a:r>
              <a:rPr spc="-10" dirty="0"/>
              <a:t>Knapsack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2861140"/>
            <a:ext cx="3992245" cy="194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Steps:</a:t>
            </a:r>
            <a:endParaRPr sz="2000">
              <a:latin typeface="Times New Roman"/>
              <a:cs typeface="Times New Roman"/>
            </a:endParaRPr>
          </a:p>
          <a:p>
            <a:pPr marL="469265" indent="-34353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75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Select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item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highest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ratio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first.</a:t>
            </a:r>
            <a:endParaRPr sz="2000">
              <a:latin typeface="Times New Roman"/>
              <a:cs typeface="Times New Roman"/>
            </a:endParaRPr>
          </a:p>
          <a:p>
            <a:pPr marL="469265" indent="-343535">
              <a:lnSpc>
                <a:spcPct val="100000"/>
              </a:lnSpc>
              <a:spcBef>
                <a:spcPts val="359"/>
              </a:spcBef>
              <a:buClr>
                <a:srgbClr val="000000"/>
              </a:buClr>
              <a:buSzPct val="75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Continue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until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capacity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full.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Result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→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Maximum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possible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value.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6187" y="1147712"/>
          <a:ext cx="7239000" cy="1643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Item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Weight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Ratio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60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120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Advantages</a:t>
            </a:r>
            <a:r>
              <a:rPr spc="6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Greedy</a:t>
            </a:r>
            <a:r>
              <a:rPr spc="-12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4708525" cy="2831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Advantages: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Simple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understand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Easy to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implement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Efficient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many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Often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faster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than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dynamic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programming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Disadvantages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Greedy</a:t>
            </a:r>
            <a:r>
              <a:rPr spc="-114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5919470" cy="216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Disadvantages: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Does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not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guarantee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problems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Works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only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when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property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exists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Sometimes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dynamic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programming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required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instead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Real-</a:t>
            </a:r>
            <a:r>
              <a:rPr spc="-25" dirty="0"/>
              <a:t>World</a:t>
            </a:r>
            <a:r>
              <a:rPr spc="-8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409815" cy="333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in:</a:t>
            </a: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Network</a:t>
            </a:r>
            <a:r>
              <a:rPr sz="2000" spc="-7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routing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Data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compression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(Huffman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coding)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Scheduling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tasks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46926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Resource</a:t>
            </a:r>
            <a:r>
              <a:rPr sz="20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These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popular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because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produce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good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results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quickly.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5340"/>
            <a:ext cx="7724140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Greedy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algorithms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choose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best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immediate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solution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every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step.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are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widely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used</a:t>
            </a:r>
            <a:r>
              <a:rPr sz="20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optimization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Example:</a:t>
            </a:r>
            <a:r>
              <a:rPr sz="20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Fractional</a:t>
            </a:r>
            <a:r>
              <a:rPr sz="20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Knapsack,</a:t>
            </a:r>
            <a:r>
              <a:rPr sz="2000" spc="-114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Activity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Selection.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Tahoma"/>
              <a:buChar char="●"/>
            </a:pPr>
            <a:endParaRPr sz="2000">
              <a:latin typeface="Times New Roman"/>
              <a:cs typeface="Times New Roman"/>
            </a:endParaRPr>
          </a:p>
          <a:p>
            <a:pPr marL="379095" marR="5080" indent="-367030">
              <a:lnSpc>
                <a:spcPct val="114999"/>
              </a:lnSpc>
              <a:buClr>
                <a:srgbClr val="000000"/>
              </a:buClr>
              <a:buSzPct val="90000"/>
              <a:buFont typeface="Tahoma"/>
              <a:buChar char="●"/>
              <a:tabLst>
                <a:tab pos="379095" algn="l"/>
              </a:tabLst>
            </a:pP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Although</a:t>
            </a:r>
            <a:r>
              <a:rPr sz="20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simple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efficient,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they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do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not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always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guarantee</a:t>
            </a:r>
            <a:r>
              <a:rPr sz="20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82828"/>
                </a:solidFill>
                <a:latin typeface="Times New Roman"/>
                <a:cs typeface="Times New Roman"/>
              </a:rPr>
              <a:t>optimal solution.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266442"/>
            <a:ext cx="2147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Thank</a:t>
            </a:r>
            <a:r>
              <a:rPr sz="3600" spc="-25" dirty="0"/>
              <a:t> you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22885" cy="5143500"/>
            <a:chOff x="0" y="0"/>
            <a:chExt cx="222885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22880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80" h="5143500">
                  <a:moveTo>
                    <a:pt x="18287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182879" y="0"/>
                  </a:lnTo>
                  <a:lnTo>
                    <a:pt x="182879" y="514349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539</Words>
  <Application>Microsoft Office PowerPoint</Application>
  <PresentationFormat>On-screen Show (16:9)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Palatino Linotype</vt:lpstr>
      <vt:lpstr>Tahoma</vt:lpstr>
      <vt:lpstr>Times New Roman</vt:lpstr>
      <vt:lpstr>Office Theme</vt:lpstr>
      <vt:lpstr>SAL COLLEGE AND ENGINEERING Analysis and Design of Algorithms–(BE04000241) SEM – 4 B Branch – Computer Engineering</vt:lpstr>
      <vt:lpstr>Introduction to Greedy Algorithm</vt:lpstr>
      <vt:lpstr>Key Idea of Greedy Algorithms</vt:lpstr>
      <vt:lpstr>Characteristics of Greedy Algorithms</vt:lpstr>
      <vt:lpstr>General Structure of Greedy Algorithm</vt:lpstr>
      <vt:lpstr>Applications of Greedy Algorithms</vt:lpstr>
      <vt:lpstr>Fractional Knapsack Problem</vt:lpstr>
      <vt:lpstr>Greedy Approach for Fractional Knapsack</vt:lpstr>
      <vt:lpstr>Example of Fractional Knapsack</vt:lpstr>
      <vt:lpstr>Advantages of Greedy Algorithm</vt:lpstr>
      <vt:lpstr>Disadvantages of Greedy Algorithm</vt:lpstr>
      <vt:lpstr>Real-World Applications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</dc:title>
  <cp:lastModifiedBy>maher_27tf</cp:lastModifiedBy>
  <cp:revision>1</cp:revision>
  <dcterms:created xsi:type="dcterms:W3CDTF">2026-03-21T10:15:51Z</dcterms:created>
  <dcterms:modified xsi:type="dcterms:W3CDTF">2026-03-21T10:26:07Z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2026-03-21T00:00:00Z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2026-03-21T00:00:00Z</vt:filetime>
  </property>
</Properties>
</file>