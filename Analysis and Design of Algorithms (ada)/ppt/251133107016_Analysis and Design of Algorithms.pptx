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9144000" cy="51435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15" d="100"/>
          <a:sy n="115" d="100"/>
        </p:scale>
        <p:origin x="514" y="7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1594485"/>
            <a:ext cx="7772400" cy="10801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rgbClr val="006699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006699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006699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3/21/2026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006699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3/21/2026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3/21/2026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F4FA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4725" y="501590"/>
            <a:ext cx="7562850" cy="5194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rgbClr val="006699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48087" y="1147712"/>
            <a:ext cx="7324725" cy="16433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7407" y="96231"/>
            <a:ext cx="1024487" cy="995033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534150" y="244418"/>
            <a:ext cx="1312068" cy="698658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371600" y="584515"/>
            <a:ext cx="5931538" cy="980397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065" marR="5080" indent="-5080" algn="ctr">
              <a:lnSpc>
                <a:spcPct val="100400"/>
              </a:lnSpc>
              <a:spcBef>
                <a:spcPts val="85"/>
              </a:spcBef>
              <a:tabLst>
                <a:tab pos="1230630" algn="l"/>
              </a:tabLst>
            </a:pPr>
            <a:r>
              <a:rPr sz="2400" spc="-20" dirty="0">
                <a:solidFill>
                  <a:srgbClr val="000000"/>
                </a:solidFill>
              </a:rPr>
              <a:t>SAL</a:t>
            </a:r>
            <a:r>
              <a:rPr sz="2400" spc="-135" dirty="0">
                <a:solidFill>
                  <a:srgbClr val="000000"/>
                </a:solidFill>
              </a:rPr>
              <a:t> </a:t>
            </a:r>
            <a:r>
              <a:rPr lang="en-IN" sz="2400" spc="-135" dirty="0">
                <a:solidFill>
                  <a:srgbClr val="000000"/>
                </a:solidFill>
              </a:rPr>
              <a:t>COLLEGE AND ENGINEERING</a:t>
            </a:r>
            <a:br>
              <a:rPr lang="en-IN" sz="2400" spc="-135" dirty="0">
                <a:solidFill>
                  <a:srgbClr val="000000"/>
                </a:solidFill>
              </a:rPr>
            </a:br>
            <a:r>
              <a:rPr sz="2100" dirty="0">
                <a:solidFill>
                  <a:srgbClr val="000000"/>
                </a:solidFill>
              </a:rPr>
              <a:t>Analysis</a:t>
            </a:r>
            <a:r>
              <a:rPr sz="2100" spc="-40" dirty="0">
                <a:solidFill>
                  <a:srgbClr val="000000"/>
                </a:solidFill>
              </a:rPr>
              <a:t> </a:t>
            </a:r>
            <a:r>
              <a:rPr sz="2100" dirty="0">
                <a:solidFill>
                  <a:srgbClr val="000000"/>
                </a:solidFill>
              </a:rPr>
              <a:t>and</a:t>
            </a:r>
            <a:r>
              <a:rPr sz="2100" spc="-20" dirty="0">
                <a:solidFill>
                  <a:srgbClr val="000000"/>
                </a:solidFill>
              </a:rPr>
              <a:t> </a:t>
            </a:r>
            <a:r>
              <a:rPr sz="2100" dirty="0">
                <a:solidFill>
                  <a:srgbClr val="000000"/>
                </a:solidFill>
              </a:rPr>
              <a:t>Design</a:t>
            </a:r>
            <a:r>
              <a:rPr sz="2100" spc="-25" dirty="0">
                <a:solidFill>
                  <a:srgbClr val="000000"/>
                </a:solidFill>
              </a:rPr>
              <a:t> </a:t>
            </a:r>
            <a:r>
              <a:rPr sz="2100" spc="-10" dirty="0">
                <a:solidFill>
                  <a:srgbClr val="000000"/>
                </a:solidFill>
              </a:rPr>
              <a:t>of</a:t>
            </a:r>
            <a:r>
              <a:rPr sz="2100" spc="-120" dirty="0">
                <a:solidFill>
                  <a:srgbClr val="000000"/>
                </a:solidFill>
              </a:rPr>
              <a:t> </a:t>
            </a:r>
            <a:r>
              <a:rPr sz="2100" spc="-10" dirty="0">
                <a:solidFill>
                  <a:srgbClr val="000000"/>
                </a:solidFill>
              </a:rPr>
              <a:t>Algorithms–(BE04000241) </a:t>
            </a:r>
            <a:r>
              <a:rPr sz="1800" dirty="0">
                <a:solidFill>
                  <a:srgbClr val="000000"/>
                </a:solidFill>
              </a:rPr>
              <a:t>SEM</a:t>
            </a:r>
            <a:r>
              <a:rPr sz="1800" spc="-10" dirty="0">
                <a:solidFill>
                  <a:srgbClr val="000000"/>
                </a:solidFill>
              </a:rPr>
              <a:t> </a:t>
            </a:r>
            <a:r>
              <a:rPr sz="1800" dirty="0">
                <a:solidFill>
                  <a:srgbClr val="000000"/>
                </a:solidFill>
              </a:rPr>
              <a:t>–</a:t>
            </a:r>
            <a:r>
              <a:rPr sz="1800" spc="-5" dirty="0">
                <a:solidFill>
                  <a:srgbClr val="000000"/>
                </a:solidFill>
              </a:rPr>
              <a:t> </a:t>
            </a:r>
            <a:r>
              <a:rPr sz="1800" dirty="0">
                <a:solidFill>
                  <a:srgbClr val="000000"/>
                </a:solidFill>
              </a:rPr>
              <a:t>4 </a:t>
            </a:r>
            <a:r>
              <a:rPr sz="1800" spc="-50" dirty="0">
                <a:solidFill>
                  <a:srgbClr val="000000"/>
                </a:solidFill>
              </a:rPr>
              <a:t>B</a:t>
            </a:r>
            <a:r>
              <a:rPr sz="1800" dirty="0">
                <a:solidFill>
                  <a:srgbClr val="000000"/>
                </a:solidFill>
              </a:rPr>
              <a:t>	Branch</a:t>
            </a:r>
            <a:r>
              <a:rPr sz="1800" spc="-25" dirty="0">
                <a:solidFill>
                  <a:srgbClr val="000000"/>
                </a:solidFill>
              </a:rPr>
              <a:t> </a:t>
            </a:r>
            <a:r>
              <a:rPr sz="1800" dirty="0">
                <a:solidFill>
                  <a:srgbClr val="000000"/>
                </a:solidFill>
              </a:rPr>
              <a:t>–</a:t>
            </a:r>
            <a:r>
              <a:rPr sz="1800" spc="-25" dirty="0">
                <a:solidFill>
                  <a:srgbClr val="000000"/>
                </a:solidFill>
              </a:rPr>
              <a:t> </a:t>
            </a:r>
            <a:r>
              <a:rPr sz="1800" spc="-10" dirty="0">
                <a:solidFill>
                  <a:srgbClr val="000000"/>
                </a:solidFill>
              </a:rPr>
              <a:t>Computer</a:t>
            </a:r>
            <a:r>
              <a:rPr sz="1800" spc="-50" dirty="0">
                <a:solidFill>
                  <a:srgbClr val="000000"/>
                </a:solidFill>
              </a:rPr>
              <a:t> </a:t>
            </a:r>
            <a:r>
              <a:rPr sz="1800" spc="-10" dirty="0">
                <a:solidFill>
                  <a:srgbClr val="000000"/>
                </a:solidFill>
              </a:rPr>
              <a:t>Engineering</a:t>
            </a:r>
            <a:endParaRPr sz="1800" dirty="0"/>
          </a:p>
        </p:txBody>
      </p:sp>
      <p:sp>
        <p:nvSpPr>
          <p:cNvPr id="5" name="object 5"/>
          <p:cNvSpPr txBox="1"/>
          <p:nvPr/>
        </p:nvSpPr>
        <p:spPr>
          <a:xfrm>
            <a:off x="3473018" y="4122515"/>
            <a:ext cx="2241982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72415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latin typeface="Times New Roman"/>
                <a:cs typeface="Times New Roman"/>
              </a:rPr>
              <a:t>Submitted</a:t>
            </a:r>
            <a:r>
              <a:rPr sz="2000" b="1" spc="-45" dirty="0">
                <a:latin typeface="Times New Roman"/>
                <a:cs typeface="Times New Roman"/>
              </a:rPr>
              <a:t> </a:t>
            </a:r>
            <a:r>
              <a:rPr sz="2000" b="1" spc="-25" dirty="0">
                <a:latin typeface="Times New Roman"/>
                <a:cs typeface="Times New Roman"/>
              </a:rPr>
              <a:t>to </a:t>
            </a:r>
            <a:r>
              <a:rPr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Prof.</a:t>
            </a:r>
            <a:r>
              <a:rPr sz="2000" b="1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lang="en-IN" sz="2000" b="1" spc="-35" dirty="0">
                <a:solidFill>
                  <a:srgbClr val="FF0000"/>
                </a:solidFill>
                <a:latin typeface="Times New Roman"/>
                <a:cs typeface="Times New Roman"/>
              </a:rPr>
              <a:t>Twinkle Patel</a:t>
            </a:r>
            <a:endParaRPr sz="2000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893909" y="1580122"/>
            <a:ext cx="3357245" cy="1151890"/>
          </a:xfrm>
          <a:prstGeom prst="rect">
            <a:avLst/>
          </a:prstGeom>
        </p:spPr>
        <p:txBody>
          <a:bodyPr vert="horz" wrap="square" lIns="0" tIns="882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95"/>
              </a:spcBef>
            </a:pPr>
            <a:endParaRPr sz="1400" dirty="0">
              <a:latin typeface="Palatino Linotype"/>
              <a:cs typeface="Palatino Linotype"/>
            </a:endParaRPr>
          </a:p>
          <a:p>
            <a:pPr marR="215900" algn="ctr">
              <a:lnSpc>
                <a:spcPct val="100000"/>
              </a:lnSpc>
              <a:spcBef>
                <a:spcPts val="850"/>
              </a:spcBef>
            </a:pPr>
            <a:r>
              <a:rPr sz="20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Greedy</a:t>
            </a:r>
            <a:r>
              <a:rPr sz="2000" b="1" spc="-9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Algorithm</a:t>
            </a:r>
            <a:endParaRPr sz="2000" dirty="0">
              <a:latin typeface="Times New Roman"/>
              <a:cs typeface="Times New Roman"/>
            </a:endParaRPr>
          </a:p>
          <a:p>
            <a:pPr marR="216535" algn="ctr">
              <a:lnSpc>
                <a:spcPct val="100000"/>
              </a:lnSpc>
              <a:spcBef>
                <a:spcPts val="1065"/>
              </a:spcBef>
            </a:pPr>
            <a:r>
              <a:rPr sz="1900" b="1" dirty="0">
                <a:latin typeface="Times New Roman"/>
                <a:cs typeface="Times New Roman"/>
              </a:rPr>
              <a:t>Presented</a:t>
            </a:r>
            <a:r>
              <a:rPr sz="1900" b="1" spc="-80" dirty="0">
                <a:latin typeface="Times New Roman"/>
                <a:cs typeface="Times New Roman"/>
              </a:rPr>
              <a:t> </a:t>
            </a:r>
            <a:r>
              <a:rPr sz="1900" b="1" spc="-25" dirty="0">
                <a:latin typeface="Times New Roman"/>
                <a:cs typeface="Times New Roman"/>
              </a:rPr>
              <a:t>by</a:t>
            </a:r>
            <a:endParaRPr sz="1900" dirty="0">
              <a:latin typeface="Times New Roman"/>
              <a:cs typeface="Times New Roman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0" y="0"/>
            <a:ext cx="223520" cy="5143500"/>
            <a:chOff x="0" y="0"/>
            <a:chExt cx="223520" cy="5143500"/>
          </a:xfrm>
        </p:grpSpPr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223000" cy="5143500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0" y="0"/>
              <a:ext cx="183515" cy="5143500"/>
            </a:xfrm>
            <a:custGeom>
              <a:avLst/>
              <a:gdLst/>
              <a:ahLst/>
              <a:cxnLst/>
              <a:rect l="l" t="t" r="r" b="b"/>
              <a:pathLst>
                <a:path w="183515" h="5143500">
                  <a:moveTo>
                    <a:pt x="182999" y="5143499"/>
                  </a:moveTo>
                  <a:lnTo>
                    <a:pt x="0" y="5143499"/>
                  </a:lnTo>
                  <a:lnTo>
                    <a:pt x="0" y="0"/>
                  </a:lnTo>
                  <a:lnTo>
                    <a:pt x="182999" y="0"/>
                  </a:lnTo>
                  <a:lnTo>
                    <a:pt x="182999" y="5143499"/>
                  </a:lnTo>
                  <a:close/>
                </a:path>
              </a:pathLst>
            </a:custGeom>
            <a:solidFill>
              <a:srgbClr val="00B0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10" name="object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5321137"/>
              </p:ext>
            </p:extLst>
          </p:nvPr>
        </p:nvGraphicFramePr>
        <p:xfrm>
          <a:off x="1290356" y="2910512"/>
          <a:ext cx="6541680" cy="51590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572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765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078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1170">
                <a:tc>
                  <a:txBody>
                    <a:bodyPr/>
                    <a:lstStyle/>
                    <a:p>
                      <a:pPr marR="343535" algn="r">
                        <a:lnSpc>
                          <a:spcPts val="1390"/>
                        </a:lnSpc>
                      </a:pPr>
                      <a:r>
                        <a:rPr sz="1200" spc="-40" dirty="0">
                          <a:latin typeface="Calibri"/>
                          <a:cs typeface="Calibri"/>
                        </a:rPr>
                        <a:t>Sr.</a:t>
                      </a:r>
                      <a:r>
                        <a:rPr sz="12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No</a:t>
                      </a:r>
                      <a:endParaRPr sz="1200" dirty="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4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90"/>
                        </a:lnSpc>
                      </a:pPr>
                      <a:r>
                        <a:rPr sz="1200" spc="-10" dirty="0">
                          <a:latin typeface="Calibri"/>
                          <a:cs typeface="Calibri"/>
                        </a:rPr>
                        <a:t>Enrollment 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No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4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90"/>
                        </a:lnSpc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Student</a:t>
                      </a:r>
                      <a:r>
                        <a:rPr sz="12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Name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738">
                <a:tc>
                  <a:txBody>
                    <a:bodyPr/>
                    <a:lstStyle/>
                    <a:p>
                      <a:pPr marR="339090" algn="r">
                        <a:lnSpc>
                          <a:spcPts val="1160"/>
                        </a:lnSpc>
                      </a:pPr>
                      <a:r>
                        <a:rPr sz="1000" spc="-50" dirty="0">
                          <a:latin typeface="Calibri"/>
                          <a:cs typeface="Calibri"/>
                        </a:rPr>
                        <a:t>1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4"/>
                    </a:solidFill>
                  </a:tcPr>
                </a:tc>
                <a:tc>
                  <a:txBody>
                    <a:bodyPr/>
                    <a:lstStyle/>
                    <a:p>
                      <a:pPr marL="27305" algn="ctr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000" spc="-10" dirty="0">
                          <a:latin typeface="Calibri"/>
                          <a:cs typeface="Calibri"/>
                        </a:rPr>
                        <a:t>251</a:t>
                      </a:r>
                      <a:r>
                        <a:rPr lang="en-IN" sz="1000" spc="-10" dirty="0">
                          <a:latin typeface="Calibri"/>
                          <a:cs typeface="Calibri"/>
                        </a:rPr>
                        <a:t>133107016</a:t>
                      </a:r>
                      <a:endParaRPr sz="1000" dirty="0">
                        <a:latin typeface="Calibri"/>
                        <a:cs typeface="Calibri"/>
                      </a:endParaRPr>
                    </a:p>
                  </a:txBody>
                  <a:tcPr marL="0" marR="0" marT="444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4"/>
                    </a:solidFill>
                  </a:tcPr>
                </a:tc>
                <a:tc>
                  <a:txBody>
                    <a:bodyPr/>
                    <a:lstStyle/>
                    <a:p>
                      <a:pPr marL="27940" algn="ctr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lang="en-IN" sz="1000" dirty="0">
                          <a:latin typeface="Calibri"/>
                          <a:cs typeface="Calibri"/>
                        </a:rPr>
                        <a:t>MAHERIYA HARDIK S</a:t>
                      </a:r>
                      <a:endParaRPr sz="1000" dirty="0">
                        <a:latin typeface="Calibri"/>
                        <a:cs typeface="Calibri"/>
                      </a:endParaRPr>
                    </a:p>
                  </a:txBody>
                  <a:tcPr marL="0" marR="0" marT="444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Introduction</a:t>
            </a:r>
            <a:r>
              <a:rPr spc="-90" dirty="0"/>
              <a:t> </a:t>
            </a:r>
            <a:r>
              <a:rPr dirty="0"/>
              <a:t>to</a:t>
            </a:r>
            <a:r>
              <a:rPr spc="-50" dirty="0"/>
              <a:t> </a:t>
            </a:r>
            <a:r>
              <a:rPr spc="-35" dirty="0"/>
              <a:t>Greedy</a:t>
            </a:r>
            <a:r>
              <a:rPr spc="-180" dirty="0"/>
              <a:t> </a:t>
            </a:r>
            <a:r>
              <a:rPr spc="-10" dirty="0"/>
              <a:t>Algorithm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1169620"/>
            <a:ext cx="8196580" cy="3439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sz="2000" spc="-20" dirty="0">
                <a:solidFill>
                  <a:srgbClr val="282828"/>
                </a:solidFill>
                <a:latin typeface="Times New Roman"/>
                <a:cs typeface="Times New Roman"/>
              </a:rPr>
              <a:t>A</a:t>
            </a:r>
            <a:r>
              <a:rPr sz="2000" spc="-114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282828"/>
                </a:solidFill>
                <a:latin typeface="Times New Roman"/>
                <a:cs typeface="Times New Roman"/>
              </a:rPr>
              <a:t>Greedy</a:t>
            </a:r>
            <a:r>
              <a:rPr sz="2000" spc="-114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Algorithm</a:t>
            </a:r>
            <a:r>
              <a:rPr sz="2000" spc="-30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is</a:t>
            </a:r>
            <a:r>
              <a:rPr sz="2000" spc="-1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an</a:t>
            </a:r>
            <a:r>
              <a:rPr sz="2000" spc="-10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algorithmic</a:t>
            </a:r>
            <a:r>
              <a:rPr sz="2000" spc="-1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strategy</a:t>
            </a:r>
            <a:r>
              <a:rPr sz="2000" spc="-10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that</a:t>
            </a:r>
            <a:r>
              <a:rPr sz="2000" spc="-1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builds</a:t>
            </a:r>
            <a:r>
              <a:rPr sz="2000" spc="-1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a</a:t>
            </a:r>
            <a:r>
              <a:rPr sz="2000" spc="-1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solution</a:t>
            </a:r>
            <a:r>
              <a:rPr sz="2000" spc="-10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step</a:t>
            </a:r>
            <a:r>
              <a:rPr sz="2000" spc="-10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by</a:t>
            </a:r>
            <a:r>
              <a:rPr sz="2000" spc="-10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spc="-20" dirty="0">
                <a:solidFill>
                  <a:srgbClr val="282828"/>
                </a:solidFill>
                <a:latin typeface="Times New Roman"/>
                <a:cs typeface="Times New Roman"/>
              </a:rPr>
              <a:t>step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by</a:t>
            </a:r>
            <a:r>
              <a:rPr sz="2000" spc="-2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choosing</a:t>
            </a:r>
            <a:r>
              <a:rPr sz="2000" spc="-10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the</a:t>
            </a:r>
            <a:r>
              <a:rPr sz="2000" spc="-20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best</a:t>
            </a:r>
            <a:r>
              <a:rPr sz="2000" spc="-1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option</a:t>
            </a:r>
            <a:r>
              <a:rPr sz="2000" spc="-1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available</a:t>
            </a:r>
            <a:r>
              <a:rPr sz="2000" spc="-1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at</a:t>
            </a:r>
            <a:r>
              <a:rPr sz="2000" spc="-20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the</a:t>
            </a:r>
            <a:r>
              <a:rPr sz="2000" spc="-1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current</a:t>
            </a:r>
            <a:r>
              <a:rPr sz="2000" spc="-1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282828"/>
                </a:solidFill>
                <a:latin typeface="Times New Roman"/>
                <a:cs typeface="Times New Roman"/>
              </a:rPr>
              <a:t>moment.</a:t>
            </a:r>
            <a:endParaRPr sz="2000">
              <a:latin typeface="Times New Roman"/>
              <a:cs typeface="Times New Roman"/>
            </a:endParaRPr>
          </a:p>
          <a:p>
            <a:pPr marL="469265" indent="-381635">
              <a:lnSpc>
                <a:spcPct val="100000"/>
              </a:lnSpc>
              <a:spcBef>
                <a:spcPts val="1560"/>
              </a:spcBef>
              <a:buClr>
                <a:srgbClr val="000000"/>
              </a:buClr>
              <a:buFont typeface="Tahoma"/>
              <a:buChar char="●"/>
              <a:tabLst>
                <a:tab pos="469265" algn="l"/>
              </a:tabLst>
            </a:pP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It</a:t>
            </a:r>
            <a:r>
              <a:rPr sz="2000" spc="-30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selects</a:t>
            </a:r>
            <a:r>
              <a:rPr sz="2000" spc="-20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the</a:t>
            </a:r>
            <a:r>
              <a:rPr sz="2000" spc="-1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locally</a:t>
            </a:r>
            <a:r>
              <a:rPr sz="2000" spc="-1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optimal</a:t>
            </a:r>
            <a:r>
              <a:rPr sz="2000" spc="-20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choice</a:t>
            </a:r>
            <a:r>
              <a:rPr sz="2000" spc="-1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at</a:t>
            </a:r>
            <a:r>
              <a:rPr sz="2000" spc="-20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each</a:t>
            </a:r>
            <a:r>
              <a:rPr sz="2000" spc="-10" dirty="0">
                <a:solidFill>
                  <a:srgbClr val="282828"/>
                </a:solidFill>
                <a:latin typeface="Times New Roman"/>
                <a:cs typeface="Times New Roman"/>
              </a:rPr>
              <a:t> step.</a:t>
            </a:r>
            <a:endParaRPr sz="2000">
              <a:latin typeface="Times New Roman"/>
              <a:cs typeface="Times New Roman"/>
            </a:endParaRPr>
          </a:p>
          <a:p>
            <a:pPr marL="469265" indent="-381635">
              <a:lnSpc>
                <a:spcPct val="100000"/>
              </a:lnSpc>
              <a:spcBef>
                <a:spcPts val="359"/>
              </a:spcBef>
              <a:buClr>
                <a:srgbClr val="000000"/>
              </a:buClr>
              <a:buFont typeface="Tahoma"/>
              <a:buChar char="●"/>
              <a:tabLst>
                <a:tab pos="469265" algn="l"/>
              </a:tabLst>
            </a:pP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The</a:t>
            </a:r>
            <a:r>
              <a:rPr sz="2000" spc="-20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goal</a:t>
            </a:r>
            <a:r>
              <a:rPr sz="2000" spc="-1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is</a:t>
            </a:r>
            <a:r>
              <a:rPr sz="2000" spc="-1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to</a:t>
            </a:r>
            <a:r>
              <a:rPr sz="2000" spc="-1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reach</a:t>
            </a:r>
            <a:r>
              <a:rPr sz="2000" spc="-10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a</a:t>
            </a:r>
            <a:r>
              <a:rPr sz="2000" spc="-1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globally</a:t>
            </a:r>
            <a:r>
              <a:rPr sz="2000" spc="-10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optimal</a:t>
            </a:r>
            <a:r>
              <a:rPr sz="2000" spc="-20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282828"/>
                </a:solidFill>
                <a:latin typeface="Times New Roman"/>
                <a:cs typeface="Times New Roman"/>
              </a:rPr>
              <a:t>solution.</a:t>
            </a:r>
            <a:endParaRPr sz="2000">
              <a:latin typeface="Times New Roman"/>
              <a:cs typeface="Times New Roman"/>
            </a:endParaRPr>
          </a:p>
          <a:p>
            <a:pPr marL="469265" indent="-381635">
              <a:lnSpc>
                <a:spcPct val="100000"/>
              </a:lnSpc>
              <a:spcBef>
                <a:spcPts val="359"/>
              </a:spcBef>
              <a:buClr>
                <a:srgbClr val="000000"/>
              </a:buClr>
              <a:buFont typeface="Tahoma"/>
              <a:buChar char="●"/>
              <a:tabLst>
                <a:tab pos="469265" algn="l"/>
              </a:tabLst>
            </a:pP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Used</a:t>
            </a:r>
            <a:r>
              <a:rPr sz="2000" spc="-1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mainly</a:t>
            </a:r>
            <a:r>
              <a:rPr sz="2000" spc="-10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for</a:t>
            </a:r>
            <a:r>
              <a:rPr sz="2000" spc="-10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optimization</a:t>
            </a:r>
            <a:r>
              <a:rPr sz="2000" spc="-10" dirty="0">
                <a:solidFill>
                  <a:srgbClr val="282828"/>
                </a:solidFill>
                <a:latin typeface="Times New Roman"/>
                <a:cs typeface="Times New Roman"/>
              </a:rPr>
              <a:t> problems.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buFont typeface="Tahoma"/>
              <a:buChar char="●"/>
            </a:pP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19"/>
              </a:spcBef>
              <a:buFont typeface="Tahoma"/>
              <a:buChar char="●"/>
            </a:pP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Example</a:t>
            </a:r>
            <a:r>
              <a:rPr sz="2000" spc="-3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282828"/>
                </a:solidFill>
                <a:latin typeface="Times New Roman"/>
                <a:cs typeface="Times New Roman"/>
              </a:rPr>
              <a:t>idea:</a:t>
            </a:r>
            <a:endParaRPr sz="2000">
              <a:latin typeface="Times New Roman"/>
              <a:cs typeface="Times New Roman"/>
            </a:endParaRPr>
          </a:p>
          <a:p>
            <a:pPr marL="469265" indent="-381635">
              <a:lnSpc>
                <a:spcPct val="100000"/>
              </a:lnSpc>
              <a:spcBef>
                <a:spcPts val="1560"/>
              </a:spcBef>
              <a:buClr>
                <a:srgbClr val="000000"/>
              </a:buClr>
              <a:buFont typeface="Tahoma"/>
              <a:buChar char="●"/>
              <a:tabLst>
                <a:tab pos="469265" algn="l"/>
              </a:tabLst>
            </a:pP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Always</a:t>
            </a:r>
            <a:r>
              <a:rPr sz="2000" spc="-40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take</a:t>
            </a:r>
            <a:r>
              <a:rPr sz="2000" spc="-40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the</a:t>
            </a:r>
            <a:r>
              <a:rPr sz="2000" spc="-3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best</a:t>
            </a:r>
            <a:r>
              <a:rPr sz="2000" spc="-40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immediate</a:t>
            </a:r>
            <a:r>
              <a:rPr sz="2000" spc="-40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282828"/>
                </a:solidFill>
                <a:latin typeface="Times New Roman"/>
                <a:cs typeface="Times New Roman"/>
              </a:rPr>
              <a:t>benefit.</a:t>
            </a:r>
            <a:endParaRPr sz="2000">
              <a:latin typeface="Times New Roman"/>
              <a:cs typeface="Times New Roman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0"/>
            <a:ext cx="222885" cy="5143500"/>
            <a:chOff x="0" y="0"/>
            <a:chExt cx="222885" cy="514350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222880" cy="514350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0" y="0"/>
              <a:ext cx="182880" cy="5143500"/>
            </a:xfrm>
            <a:custGeom>
              <a:avLst/>
              <a:gdLst/>
              <a:ahLst/>
              <a:cxnLst/>
              <a:rect l="l" t="t" r="r" b="b"/>
              <a:pathLst>
                <a:path w="182880" h="5143500">
                  <a:moveTo>
                    <a:pt x="182879" y="5143499"/>
                  </a:moveTo>
                  <a:lnTo>
                    <a:pt x="0" y="5143499"/>
                  </a:lnTo>
                  <a:lnTo>
                    <a:pt x="0" y="0"/>
                  </a:lnTo>
                  <a:lnTo>
                    <a:pt x="182879" y="0"/>
                  </a:lnTo>
                  <a:lnTo>
                    <a:pt x="182879" y="5143499"/>
                  </a:lnTo>
                  <a:close/>
                </a:path>
              </a:pathLst>
            </a:custGeom>
            <a:solidFill>
              <a:srgbClr val="00B0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/>
              <a:t>Key</a:t>
            </a:r>
            <a:r>
              <a:rPr spc="55" dirty="0"/>
              <a:t> </a:t>
            </a:r>
            <a:r>
              <a:rPr dirty="0"/>
              <a:t>Idea</a:t>
            </a:r>
            <a:r>
              <a:rPr spc="55" dirty="0"/>
              <a:t> </a:t>
            </a:r>
            <a:r>
              <a:rPr dirty="0"/>
              <a:t>of</a:t>
            </a:r>
            <a:r>
              <a:rPr spc="55" dirty="0"/>
              <a:t> </a:t>
            </a:r>
            <a:r>
              <a:rPr dirty="0"/>
              <a:t>Greedy</a:t>
            </a:r>
            <a:r>
              <a:rPr spc="-135" dirty="0"/>
              <a:t> </a:t>
            </a:r>
            <a:r>
              <a:rPr spc="-10" dirty="0"/>
              <a:t>Algorithms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1203147"/>
            <a:ext cx="8201025" cy="3213735"/>
          </a:xfrm>
          <a:prstGeom prst="rect">
            <a:avLst/>
          </a:prstGeom>
        </p:spPr>
        <p:txBody>
          <a:bodyPr vert="horz" wrap="square" lIns="0" tIns="34925" rIns="0" bIns="0" rtlCol="0">
            <a:spAutoFit/>
          </a:bodyPr>
          <a:lstStyle/>
          <a:p>
            <a:pPr marL="12700" marR="5080">
              <a:lnSpc>
                <a:spcPts val="2280"/>
              </a:lnSpc>
              <a:spcBef>
                <a:spcPts val="275"/>
              </a:spcBef>
            </a:pP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The</a:t>
            </a:r>
            <a:r>
              <a:rPr sz="2000" spc="-20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greedy</a:t>
            </a:r>
            <a:r>
              <a:rPr sz="2000" spc="-10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approach</a:t>
            </a:r>
            <a:r>
              <a:rPr sz="2000" spc="-10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works</a:t>
            </a:r>
            <a:r>
              <a:rPr sz="2000" spc="-1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by</a:t>
            </a:r>
            <a:r>
              <a:rPr sz="2000" spc="-10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repeatedly</a:t>
            </a:r>
            <a:r>
              <a:rPr sz="2000" spc="-10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making</a:t>
            </a:r>
            <a:r>
              <a:rPr sz="2000" spc="-10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the</a:t>
            </a:r>
            <a:r>
              <a:rPr sz="2000" spc="-1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best</a:t>
            </a:r>
            <a:r>
              <a:rPr sz="2000" spc="-1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choice</a:t>
            </a:r>
            <a:r>
              <a:rPr sz="2000" spc="-20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at</a:t>
            </a:r>
            <a:r>
              <a:rPr sz="2000" spc="-1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the</a:t>
            </a:r>
            <a:r>
              <a:rPr sz="2000" spc="-1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282828"/>
                </a:solidFill>
                <a:latin typeface="Times New Roman"/>
                <a:cs typeface="Times New Roman"/>
              </a:rPr>
              <a:t>moment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without</a:t>
            </a:r>
            <a:r>
              <a:rPr sz="2000" spc="-30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re-considering</a:t>
            </a:r>
            <a:r>
              <a:rPr sz="2000" spc="-20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previous</a:t>
            </a:r>
            <a:r>
              <a:rPr sz="2000" spc="-2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282828"/>
                </a:solidFill>
                <a:latin typeface="Times New Roman"/>
                <a:cs typeface="Times New Roman"/>
              </a:rPr>
              <a:t>decisions.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975"/>
              </a:spcBef>
            </a:pP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Main </a:t>
            </a:r>
            <a:r>
              <a:rPr sz="2000" spc="-10" dirty="0">
                <a:solidFill>
                  <a:srgbClr val="282828"/>
                </a:solidFill>
                <a:latin typeface="Times New Roman"/>
                <a:cs typeface="Times New Roman"/>
              </a:rPr>
              <a:t>concept: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80"/>
              </a:spcBef>
            </a:pP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Local</a:t>
            </a:r>
            <a:r>
              <a:rPr sz="2000" spc="-30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optimum</a:t>
            </a:r>
            <a:r>
              <a:rPr sz="2000" spc="-20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→</a:t>
            </a:r>
            <a:r>
              <a:rPr sz="2000" spc="-10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hope</a:t>
            </a:r>
            <a:r>
              <a:rPr sz="2000" spc="-20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to</a:t>
            </a:r>
            <a:r>
              <a:rPr sz="2000" spc="-10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reach</a:t>
            </a:r>
            <a:r>
              <a:rPr sz="2000" spc="-1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global</a:t>
            </a:r>
            <a:r>
              <a:rPr sz="2000" spc="-1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282828"/>
                </a:solidFill>
                <a:latin typeface="Times New Roman"/>
                <a:cs typeface="Times New Roman"/>
              </a:rPr>
              <a:t>optimum.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30"/>
              </a:spcBef>
            </a:pP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Example</a:t>
            </a:r>
            <a:r>
              <a:rPr sz="2000" spc="-4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282828"/>
                </a:solidFill>
                <a:latin typeface="Times New Roman"/>
                <a:cs typeface="Times New Roman"/>
              </a:rPr>
              <a:t>analogy: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80"/>
              </a:spcBef>
            </a:pP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Selecting</a:t>
            </a:r>
            <a:r>
              <a:rPr sz="2000" spc="-2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highest</a:t>
            </a:r>
            <a:r>
              <a:rPr sz="2000" spc="-1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value</a:t>
            </a:r>
            <a:r>
              <a:rPr sz="2000" spc="-20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coin</a:t>
            </a:r>
            <a:r>
              <a:rPr sz="2000" spc="-10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first</a:t>
            </a:r>
            <a:r>
              <a:rPr sz="2000" spc="-1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in</a:t>
            </a:r>
            <a:r>
              <a:rPr sz="2000" spc="-1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coin</a:t>
            </a:r>
            <a:r>
              <a:rPr sz="2000" spc="-10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change</a:t>
            </a:r>
            <a:r>
              <a:rPr sz="2000" spc="-1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282828"/>
                </a:solidFill>
                <a:latin typeface="Times New Roman"/>
                <a:cs typeface="Times New Roman"/>
              </a:rPr>
              <a:t>problem.</a:t>
            </a:r>
            <a:endParaRPr sz="2000">
              <a:latin typeface="Times New Roman"/>
              <a:cs typeface="Times New Roman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0"/>
            <a:ext cx="222885" cy="5143500"/>
            <a:chOff x="0" y="0"/>
            <a:chExt cx="222885" cy="514350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222880" cy="514350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0" y="0"/>
              <a:ext cx="182880" cy="5143500"/>
            </a:xfrm>
            <a:custGeom>
              <a:avLst/>
              <a:gdLst/>
              <a:ahLst/>
              <a:cxnLst/>
              <a:rect l="l" t="t" r="r" b="b"/>
              <a:pathLst>
                <a:path w="182880" h="5143500">
                  <a:moveTo>
                    <a:pt x="182879" y="5143499"/>
                  </a:moveTo>
                  <a:lnTo>
                    <a:pt x="0" y="5143499"/>
                  </a:lnTo>
                  <a:lnTo>
                    <a:pt x="0" y="0"/>
                  </a:lnTo>
                  <a:lnTo>
                    <a:pt x="182879" y="0"/>
                  </a:lnTo>
                  <a:lnTo>
                    <a:pt x="182879" y="5143499"/>
                  </a:lnTo>
                  <a:close/>
                </a:path>
              </a:pathLst>
            </a:custGeom>
            <a:solidFill>
              <a:srgbClr val="00B0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/>
              <a:t>Characteristics</a:t>
            </a:r>
            <a:r>
              <a:rPr spc="75" dirty="0"/>
              <a:t> </a:t>
            </a:r>
            <a:r>
              <a:rPr dirty="0"/>
              <a:t>of</a:t>
            </a:r>
            <a:r>
              <a:rPr spc="80" dirty="0"/>
              <a:t> </a:t>
            </a:r>
            <a:r>
              <a:rPr dirty="0"/>
              <a:t>Greedy</a:t>
            </a:r>
            <a:r>
              <a:rPr spc="-114" dirty="0"/>
              <a:t> </a:t>
            </a:r>
            <a:r>
              <a:rPr spc="-10" dirty="0"/>
              <a:t>Algorithms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1215340"/>
            <a:ext cx="7256145" cy="31165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Greedy</a:t>
            </a:r>
            <a:r>
              <a:rPr sz="2000" spc="-30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algorithms</a:t>
            </a:r>
            <a:r>
              <a:rPr sz="2000" spc="-3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usually</a:t>
            </a:r>
            <a:r>
              <a:rPr sz="2000" spc="-2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have</a:t>
            </a:r>
            <a:r>
              <a:rPr sz="2000" spc="-3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these</a:t>
            </a:r>
            <a:r>
              <a:rPr sz="2000" spc="-30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282828"/>
                </a:solidFill>
                <a:latin typeface="Times New Roman"/>
                <a:cs typeface="Times New Roman"/>
              </a:rPr>
              <a:t>properties: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85"/>
              </a:spcBef>
            </a:pPr>
            <a:endParaRPr sz="2000">
              <a:latin typeface="Times New Roman"/>
              <a:cs typeface="Times New Roman"/>
            </a:endParaRPr>
          </a:p>
          <a:p>
            <a:pPr marL="469265" indent="-399415">
              <a:lnSpc>
                <a:spcPct val="100000"/>
              </a:lnSpc>
              <a:buClr>
                <a:srgbClr val="000000"/>
              </a:buClr>
              <a:buSzPct val="90000"/>
              <a:buAutoNum type="arabicPeriod"/>
              <a:tabLst>
                <a:tab pos="469265" algn="l"/>
              </a:tabLst>
            </a:pP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Greedy</a:t>
            </a:r>
            <a:r>
              <a:rPr sz="2000" spc="-4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Choice</a:t>
            </a:r>
            <a:r>
              <a:rPr sz="2000" spc="-4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282828"/>
                </a:solidFill>
                <a:latin typeface="Times New Roman"/>
                <a:cs typeface="Times New Roman"/>
              </a:rPr>
              <a:t>Property</a:t>
            </a:r>
            <a:endParaRPr sz="2000">
              <a:latin typeface="Times New Roman"/>
              <a:cs typeface="Times New Roman"/>
            </a:endParaRPr>
          </a:p>
          <a:p>
            <a:pPr marL="926465" lvl="1" indent="-366395">
              <a:lnSpc>
                <a:spcPct val="100000"/>
              </a:lnSpc>
              <a:spcBef>
                <a:spcPts val="120"/>
              </a:spcBef>
              <a:buClr>
                <a:srgbClr val="000000"/>
              </a:buClr>
              <a:buSzPct val="90000"/>
              <a:buFont typeface="Tahoma"/>
              <a:buChar char="●"/>
              <a:tabLst>
                <a:tab pos="926465" algn="l"/>
              </a:tabLst>
            </a:pP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The</a:t>
            </a:r>
            <a:r>
              <a:rPr sz="2000" spc="-30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best</a:t>
            </a:r>
            <a:r>
              <a:rPr sz="2000" spc="-2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local</a:t>
            </a:r>
            <a:r>
              <a:rPr sz="2000" spc="-2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choice</a:t>
            </a:r>
            <a:r>
              <a:rPr sz="2000" spc="-2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leads</a:t>
            </a:r>
            <a:r>
              <a:rPr sz="2000" spc="-2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to</a:t>
            </a:r>
            <a:r>
              <a:rPr sz="2000" spc="-20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the</a:t>
            </a:r>
            <a:r>
              <a:rPr sz="2000" spc="-2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optimal</a:t>
            </a:r>
            <a:r>
              <a:rPr sz="2000" spc="-2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282828"/>
                </a:solidFill>
                <a:latin typeface="Times New Roman"/>
                <a:cs typeface="Times New Roman"/>
              </a:rPr>
              <a:t>solution.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90"/>
              </a:spcBef>
            </a:pPr>
            <a:endParaRPr sz="2000">
              <a:latin typeface="Times New Roman"/>
              <a:cs typeface="Times New Roman"/>
            </a:endParaRPr>
          </a:p>
          <a:p>
            <a:pPr marL="469265" indent="-399415">
              <a:lnSpc>
                <a:spcPct val="100000"/>
              </a:lnSpc>
              <a:buClr>
                <a:srgbClr val="000000"/>
              </a:buClr>
              <a:buSzPct val="90000"/>
              <a:buAutoNum type="arabicPeriod"/>
              <a:tabLst>
                <a:tab pos="469265" algn="l"/>
              </a:tabLst>
            </a:pP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Optimal</a:t>
            </a:r>
            <a:r>
              <a:rPr sz="2000" spc="-4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282828"/>
                </a:solidFill>
                <a:latin typeface="Times New Roman"/>
                <a:cs typeface="Times New Roman"/>
              </a:rPr>
              <a:t>Substructure</a:t>
            </a:r>
            <a:endParaRPr sz="2000">
              <a:latin typeface="Times New Roman"/>
              <a:cs typeface="Times New Roman"/>
            </a:endParaRPr>
          </a:p>
          <a:p>
            <a:pPr marL="927100" marR="5080" lvl="1" indent="-367030">
              <a:lnSpc>
                <a:spcPct val="105000"/>
              </a:lnSpc>
              <a:buClr>
                <a:srgbClr val="000000"/>
              </a:buClr>
              <a:buSzPct val="90000"/>
              <a:buFont typeface="Tahoma"/>
              <a:buChar char="●"/>
              <a:tabLst>
                <a:tab pos="927100" algn="l"/>
              </a:tabLst>
            </a:pP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Optimal</a:t>
            </a:r>
            <a:r>
              <a:rPr sz="2000" spc="-30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solution</a:t>
            </a:r>
            <a:r>
              <a:rPr sz="2000" spc="-1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can</a:t>
            </a:r>
            <a:r>
              <a:rPr sz="2000" spc="-20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be</a:t>
            </a:r>
            <a:r>
              <a:rPr sz="2000" spc="-20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constructed</a:t>
            </a:r>
            <a:r>
              <a:rPr sz="2000" spc="-1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from</a:t>
            </a:r>
            <a:r>
              <a:rPr sz="2000" spc="-20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optimal</a:t>
            </a:r>
            <a:r>
              <a:rPr sz="2000" spc="-20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solutions</a:t>
            </a:r>
            <a:r>
              <a:rPr sz="2000" spc="-1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spc="-25" dirty="0">
                <a:solidFill>
                  <a:srgbClr val="282828"/>
                </a:solidFill>
                <a:latin typeface="Times New Roman"/>
                <a:cs typeface="Times New Roman"/>
              </a:rPr>
              <a:t>of </a:t>
            </a:r>
            <a:r>
              <a:rPr sz="2000" spc="-10" dirty="0">
                <a:solidFill>
                  <a:srgbClr val="282828"/>
                </a:solidFill>
                <a:latin typeface="Times New Roman"/>
                <a:cs typeface="Times New Roman"/>
              </a:rPr>
              <a:t>subproblems.</a:t>
            </a:r>
            <a:endParaRPr sz="2000">
              <a:latin typeface="Times New Roman"/>
              <a:cs typeface="Times New Roman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0"/>
            <a:ext cx="222885" cy="5143500"/>
            <a:chOff x="0" y="0"/>
            <a:chExt cx="222885" cy="514350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222880" cy="514350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0" y="0"/>
              <a:ext cx="182880" cy="5143500"/>
            </a:xfrm>
            <a:custGeom>
              <a:avLst/>
              <a:gdLst/>
              <a:ahLst/>
              <a:cxnLst/>
              <a:rect l="l" t="t" r="r" b="b"/>
              <a:pathLst>
                <a:path w="182880" h="5143500">
                  <a:moveTo>
                    <a:pt x="182879" y="5143499"/>
                  </a:moveTo>
                  <a:lnTo>
                    <a:pt x="0" y="5143499"/>
                  </a:lnTo>
                  <a:lnTo>
                    <a:pt x="0" y="0"/>
                  </a:lnTo>
                  <a:lnTo>
                    <a:pt x="182879" y="0"/>
                  </a:lnTo>
                  <a:lnTo>
                    <a:pt x="182879" y="5143499"/>
                  </a:lnTo>
                  <a:close/>
                </a:path>
              </a:pathLst>
            </a:custGeom>
            <a:solidFill>
              <a:srgbClr val="00B0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/>
              <a:t>General</a:t>
            </a:r>
            <a:r>
              <a:rPr spc="45" dirty="0"/>
              <a:t> </a:t>
            </a:r>
            <a:r>
              <a:rPr dirty="0"/>
              <a:t>Structure</a:t>
            </a:r>
            <a:r>
              <a:rPr spc="45" dirty="0"/>
              <a:t> </a:t>
            </a:r>
            <a:r>
              <a:rPr dirty="0"/>
              <a:t>of</a:t>
            </a:r>
            <a:r>
              <a:rPr spc="50" dirty="0"/>
              <a:t> </a:t>
            </a:r>
            <a:r>
              <a:rPr dirty="0"/>
              <a:t>Greedy</a:t>
            </a:r>
            <a:r>
              <a:rPr spc="-135" dirty="0"/>
              <a:t> </a:t>
            </a:r>
            <a:r>
              <a:rPr spc="-10" dirty="0"/>
              <a:t>Algorithm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1215340"/>
            <a:ext cx="8174355" cy="305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Greedy</a:t>
            </a:r>
            <a:r>
              <a:rPr sz="2000" spc="-3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algorithms</a:t>
            </a:r>
            <a:r>
              <a:rPr sz="2000" spc="-3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follow</a:t>
            </a:r>
            <a:r>
              <a:rPr sz="2000" spc="-3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a</a:t>
            </a:r>
            <a:r>
              <a:rPr sz="2000" spc="-3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simple</a:t>
            </a:r>
            <a:r>
              <a:rPr sz="2000" spc="-3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282828"/>
                </a:solidFill>
                <a:latin typeface="Times New Roman"/>
                <a:cs typeface="Times New Roman"/>
              </a:rPr>
              <a:t>structure:</a:t>
            </a:r>
            <a:endParaRPr sz="2000">
              <a:latin typeface="Times New Roman"/>
              <a:cs typeface="Times New Roman"/>
            </a:endParaRPr>
          </a:p>
          <a:p>
            <a:pPr marL="469265" indent="-399415">
              <a:lnSpc>
                <a:spcPct val="100000"/>
              </a:lnSpc>
              <a:spcBef>
                <a:spcPts val="1560"/>
              </a:spcBef>
              <a:buClr>
                <a:srgbClr val="000000"/>
              </a:buClr>
              <a:buSzPct val="90000"/>
              <a:buAutoNum type="arabicPeriod"/>
              <a:tabLst>
                <a:tab pos="469265" algn="l"/>
              </a:tabLst>
            </a:pP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Initialize</a:t>
            </a:r>
            <a:r>
              <a:rPr sz="2000" spc="-30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solution</a:t>
            </a:r>
            <a:r>
              <a:rPr sz="2000" spc="-20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spc="-25" dirty="0">
                <a:solidFill>
                  <a:srgbClr val="282828"/>
                </a:solidFill>
                <a:latin typeface="Times New Roman"/>
                <a:cs typeface="Times New Roman"/>
              </a:rPr>
              <a:t>set</a:t>
            </a:r>
            <a:endParaRPr sz="2000">
              <a:latin typeface="Times New Roman"/>
              <a:cs typeface="Times New Roman"/>
            </a:endParaRPr>
          </a:p>
          <a:p>
            <a:pPr marL="469265" indent="-399415">
              <a:lnSpc>
                <a:spcPct val="100000"/>
              </a:lnSpc>
              <a:spcBef>
                <a:spcPts val="359"/>
              </a:spcBef>
              <a:buClr>
                <a:srgbClr val="000000"/>
              </a:buClr>
              <a:buSzPct val="90000"/>
              <a:buAutoNum type="arabicPeriod"/>
              <a:tabLst>
                <a:tab pos="469265" algn="l"/>
              </a:tabLst>
            </a:pP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Choose</a:t>
            </a:r>
            <a:r>
              <a:rPr sz="2000" spc="-2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the</a:t>
            </a:r>
            <a:r>
              <a:rPr sz="2000" spc="-20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best</a:t>
            </a:r>
            <a:r>
              <a:rPr sz="2000" spc="-20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282828"/>
                </a:solidFill>
                <a:latin typeface="Times New Roman"/>
                <a:cs typeface="Times New Roman"/>
              </a:rPr>
              <a:t>candidate</a:t>
            </a:r>
            <a:endParaRPr sz="2000">
              <a:latin typeface="Times New Roman"/>
              <a:cs typeface="Times New Roman"/>
            </a:endParaRPr>
          </a:p>
          <a:p>
            <a:pPr marL="469265" indent="-399415">
              <a:lnSpc>
                <a:spcPct val="100000"/>
              </a:lnSpc>
              <a:spcBef>
                <a:spcPts val="359"/>
              </a:spcBef>
              <a:buClr>
                <a:srgbClr val="000000"/>
              </a:buClr>
              <a:buSzPct val="90000"/>
              <a:buAutoNum type="arabicPeriod"/>
              <a:tabLst>
                <a:tab pos="469265" algn="l"/>
              </a:tabLst>
            </a:pP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Add</a:t>
            </a:r>
            <a:r>
              <a:rPr sz="2000" spc="-2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candidate</a:t>
            </a:r>
            <a:r>
              <a:rPr sz="2000" spc="-30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to</a:t>
            </a:r>
            <a:r>
              <a:rPr sz="2000" spc="-2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282828"/>
                </a:solidFill>
                <a:latin typeface="Times New Roman"/>
                <a:cs typeface="Times New Roman"/>
              </a:rPr>
              <a:t>solution</a:t>
            </a:r>
            <a:endParaRPr sz="2000">
              <a:latin typeface="Times New Roman"/>
              <a:cs typeface="Times New Roman"/>
            </a:endParaRPr>
          </a:p>
          <a:p>
            <a:pPr marL="469265" indent="-399415">
              <a:lnSpc>
                <a:spcPct val="100000"/>
              </a:lnSpc>
              <a:spcBef>
                <a:spcPts val="359"/>
              </a:spcBef>
              <a:buClr>
                <a:srgbClr val="000000"/>
              </a:buClr>
              <a:buSzPct val="90000"/>
              <a:buAutoNum type="arabicPeriod"/>
              <a:tabLst>
                <a:tab pos="469265" algn="l"/>
              </a:tabLst>
            </a:pP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Repeat</a:t>
            </a:r>
            <a:r>
              <a:rPr sz="2000" spc="-20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until</a:t>
            </a:r>
            <a:r>
              <a:rPr sz="2000" spc="-1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solution</a:t>
            </a:r>
            <a:r>
              <a:rPr sz="2000" spc="-1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is</a:t>
            </a:r>
            <a:r>
              <a:rPr sz="2000" spc="-1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282828"/>
                </a:solidFill>
                <a:latin typeface="Times New Roman"/>
                <a:cs typeface="Times New Roman"/>
              </a:rPr>
              <a:t>complete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380"/>
              </a:spcBef>
            </a:pPr>
            <a:endParaRPr sz="2000">
              <a:latin typeface="Times New Roman"/>
              <a:cs typeface="Times New Roman"/>
            </a:endParaRPr>
          </a:p>
          <a:p>
            <a:pPr marL="12700" marR="5080">
              <a:lnSpc>
                <a:spcPct val="114999"/>
              </a:lnSpc>
              <a:spcBef>
                <a:spcPts val="5"/>
              </a:spcBef>
            </a:pP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Instead</a:t>
            </a:r>
            <a:r>
              <a:rPr sz="2000" spc="-1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of</a:t>
            </a:r>
            <a:r>
              <a:rPr sz="2000" spc="-10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checking</a:t>
            </a:r>
            <a:r>
              <a:rPr sz="2000" spc="-10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all</a:t>
            </a:r>
            <a:r>
              <a:rPr sz="2000" spc="-20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possible</a:t>
            </a:r>
            <a:r>
              <a:rPr sz="2000" spc="-1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combinations,</a:t>
            </a:r>
            <a:r>
              <a:rPr sz="2000" spc="-10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the</a:t>
            </a:r>
            <a:r>
              <a:rPr sz="2000" spc="-1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algorithm</a:t>
            </a:r>
            <a:r>
              <a:rPr sz="2000" spc="-20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focuses</a:t>
            </a:r>
            <a:r>
              <a:rPr sz="2000" spc="-1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only</a:t>
            </a:r>
            <a:r>
              <a:rPr sz="2000" spc="-10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on</a:t>
            </a:r>
            <a:r>
              <a:rPr sz="2000" spc="-10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spc="-25" dirty="0">
                <a:solidFill>
                  <a:srgbClr val="282828"/>
                </a:solidFill>
                <a:latin typeface="Times New Roman"/>
                <a:cs typeface="Times New Roman"/>
              </a:rPr>
              <a:t>the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best</a:t>
            </a:r>
            <a:r>
              <a:rPr sz="2000" spc="-20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choice</a:t>
            </a:r>
            <a:r>
              <a:rPr sz="2000" spc="-1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at</a:t>
            </a:r>
            <a:r>
              <a:rPr sz="2000" spc="-1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each</a:t>
            </a:r>
            <a:r>
              <a:rPr sz="2000" spc="-10" dirty="0">
                <a:solidFill>
                  <a:srgbClr val="282828"/>
                </a:solidFill>
                <a:latin typeface="Times New Roman"/>
                <a:cs typeface="Times New Roman"/>
              </a:rPr>
              <a:t> step.</a:t>
            </a:r>
            <a:endParaRPr sz="2000">
              <a:latin typeface="Times New Roman"/>
              <a:cs typeface="Times New Roman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0"/>
            <a:ext cx="222885" cy="5143500"/>
            <a:chOff x="0" y="0"/>
            <a:chExt cx="222885" cy="514350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222880" cy="514350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0" y="0"/>
              <a:ext cx="182880" cy="5143500"/>
            </a:xfrm>
            <a:custGeom>
              <a:avLst/>
              <a:gdLst/>
              <a:ahLst/>
              <a:cxnLst/>
              <a:rect l="l" t="t" r="r" b="b"/>
              <a:pathLst>
                <a:path w="182880" h="5143500">
                  <a:moveTo>
                    <a:pt x="182879" y="5143499"/>
                  </a:moveTo>
                  <a:lnTo>
                    <a:pt x="0" y="5143499"/>
                  </a:lnTo>
                  <a:lnTo>
                    <a:pt x="0" y="0"/>
                  </a:lnTo>
                  <a:lnTo>
                    <a:pt x="182879" y="0"/>
                  </a:lnTo>
                  <a:lnTo>
                    <a:pt x="182879" y="5143499"/>
                  </a:lnTo>
                  <a:close/>
                </a:path>
              </a:pathLst>
            </a:custGeom>
            <a:solidFill>
              <a:srgbClr val="00B0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/>
              <a:t>Applications</a:t>
            </a:r>
            <a:r>
              <a:rPr spc="65" dirty="0"/>
              <a:t> </a:t>
            </a:r>
            <a:r>
              <a:rPr dirty="0"/>
              <a:t>of</a:t>
            </a:r>
            <a:r>
              <a:rPr spc="75" dirty="0"/>
              <a:t> </a:t>
            </a:r>
            <a:r>
              <a:rPr dirty="0"/>
              <a:t>Greedy</a:t>
            </a:r>
            <a:r>
              <a:rPr spc="-120" dirty="0"/>
              <a:t> </a:t>
            </a:r>
            <a:r>
              <a:rPr spc="-10" dirty="0"/>
              <a:t>Algorithms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1215340"/>
            <a:ext cx="6874509" cy="3439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Greedy</a:t>
            </a:r>
            <a:r>
              <a:rPr sz="2000" spc="-20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algorithms</a:t>
            </a:r>
            <a:r>
              <a:rPr sz="2000" spc="-20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are</a:t>
            </a:r>
            <a:r>
              <a:rPr sz="2000" spc="-20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used</a:t>
            </a:r>
            <a:r>
              <a:rPr sz="2000" spc="-1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in</a:t>
            </a:r>
            <a:r>
              <a:rPr sz="2000" spc="-20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many</a:t>
            </a:r>
            <a:r>
              <a:rPr sz="2000" spc="-1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well-known</a:t>
            </a:r>
            <a:r>
              <a:rPr sz="2000" spc="-1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282828"/>
                </a:solidFill>
                <a:latin typeface="Times New Roman"/>
                <a:cs typeface="Times New Roman"/>
              </a:rPr>
              <a:t>problems:</a:t>
            </a:r>
            <a:endParaRPr sz="2000">
              <a:latin typeface="Times New Roman"/>
              <a:cs typeface="Times New Roman"/>
            </a:endParaRPr>
          </a:p>
          <a:p>
            <a:pPr marL="469265" indent="-366395">
              <a:lnSpc>
                <a:spcPct val="100000"/>
              </a:lnSpc>
              <a:spcBef>
                <a:spcPts val="1560"/>
              </a:spcBef>
              <a:buClr>
                <a:srgbClr val="000000"/>
              </a:buClr>
              <a:buSzPct val="90000"/>
              <a:buFont typeface="Tahoma"/>
              <a:buChar char="●"/>
              <a:tabLst>
                <a:tab pos="469265" algn="l"/>
              </a:tabLst>
            </a:pP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Activity Selection </a:t>
            </a:r>
            <a:r>
              <a:rPr sz="2000" spc="-10" dirty="0">
                <a:solidFill>
                  <a:srgbClr val="282828"/>
                </a:solidFill>
                <a:latin typeface="Times New Roman"/>
                <a:cs typeface="Times New Roman"/>
              </a:rPr>
              <a:t>Problem</a:t>
            </a:r>
            <a:endParaRPr sz="2000">
              <a:latin typeface="Times New Roman"/>
              <a:cs typeface="Times New Roman"/>
            </a:endParaRPr>
          </a:p>
          <a:p>
            <a:pPr marL="469265" indent="-366395">
              <a:lnSpc>
                <a:spcPct val="100000"/>
              </a:lnSpc>
              <a:spcBef>
                <a:spcPts val="359"/>
              </a:spcBef>
              <a:buClr>
                <a:srgbClr val="000000"/>
              </a:buClr>
              <a:buSzPct val="90000"/>
              <a:buFont typeface="Tahoma"/>
              <a:buChar char="●"/>
              <a:tabLst>
                <a:tab pos="469265" algn="l"/>
              </a:tabLst>
            </a:pP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Fractional</a:t>
            </a:r>
            <a:r>
              <a:rPr sz="2000" spc="-50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282828"/>
                </a:solidFill>
                <a:latin typeface="Times New Roman"/>
                <a:cs typeface="Times New Roman"/>
              </a:rPr>
              <a:t>Knapsack</a:t>
            </a:r>
            <a:endParaRPr sz="2000">
              <a:latin typeface="Times New Roman"/>
              <a:cs typeface="Times New Roman"/>
            </a:endParaRPr>
          </a:p>
          <a:p>
            <a:pPr marL="469265" indent="-366395">
              <a:lnSpc>
                <a:spcPct val="100000"/>
              </a:lnSpc>
              <a:spcBef>
                <a:spcPts val="359"/>
              </a:spcBef>
              <a:buClr>
                <a:srgbClr val="000000"/>
              </a:buClr>
              <a:buSzPct val="90000"/>
              <a:buFont typeface="Tahoma"/>
              <a:buChar char="●"/>
              <a:tabLst>
                <a:tab pos="469265" algn="l"/>
              </a:tabLst>
            </a:pP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Minimum</a:t>
            </a:r>
            <a:r>
              <a:rPr sz="2000" spc="-2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Spanning</a:t>
            </a:r>
            <a:r>
              <a:rPr sz="2000" spc="-50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spc="-20" dirty="0">
                <a:solidFill>
                  <a:srgbClr val="282828"/>
                </a:solidFill>
                <a:latin typeface="Times New Roman"/>
                <a:cs typeface="Times New Roman"/>
              </a:rPr>
              <a:t>Tree</a:t>
            </a:r>
            <a:endParaRPr sz="2000">
              <a:latin typeface="Times New Roman"/>
              <a:cs typeface="Times New Roman"/>
            </a:endParaRPr>
          </a:p>
          <a:p>
            <a:pPr marL="926465" lvl="1" indent="-366395">
              <a:lnSpc>
                <a:spcPct val="100000"/>
              </a:lnSpc>
              <a:spcBef>
                <a:spcPts val="359"/>
              </a:spcBef>
              <a:buClr>
                <a:srgbClr val="000000"/>
              </a:buClr>
              <a:buSzPct val="90000"/>
              <a:buFont typeface="Tahoma"/>
              <a:buChar char="○"/>
              <a:tabLst>
                <a:tab pos="926465" algn="l"/>
              </a:tabLst>
            </a:pPr>
            <a:r>
              <a:rPr sz="2000" spc="-20" dirty="0">
                <a:solidFill>
                  <a:srgbClr val="282828"/>
                </a:solidFill>
                <a:latin typeface="Times New Roman"/>
                <a:cs typeface="Times New Roman"/>
              </a:rPr>
              <a:t>Kruskal’s</a:t>
            </a:r>
            <a:r>
              <a:rPr sz="2000" spc="-4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282828"/>
                </a:solidFill>
                <a:latin typeface="Times New Roman"/>
                <a:cs typeface="Times New Roman"/>
              </a:rPr>
              <a:t>Algorithm</a:t>
            </a:r>
            <a:endParaRPr sz="2000">
              <a:latin typeface="Times New Roman"/>
              <a:cs typeface="Times New Roman"/>
            </a:endParaRPr>
          </a:p>
          <a:p>
            <a:pPr marL="926465" lvl="1" indent="-366395">
              <a:lnSpc>
                <a:spcPct val="100000"/>
              </a:lnSpc>
              <a:spcBef>
                <a:spcPts val="359"/>
              </a:spcBef>
              <a:buClr>
                <a:srgbClr val="000000"/>
              </a:buClr>
              <a:buSzPct val="90000"/>
              <a:buFont typeface="Tahoma"/>
              <a:buChar char="○"/>
              <a:tabLst>
                <a:tab pos="926465" algn="l"/>
              </a:tabLst>
            </a:pPr>
            <a:r>
              <a:rPr sz="2000" spc="-25" dirty="0">
                <a:solidFill>
                  <a:srgbClr val="282828"/>
                </a:solidFill>
                <a:latin typeface="Times New Roman"/>
                <a:cs typeface="Times New Roman"/>
              </a:rPr>
              <a:t>Prim’s</a:t>
            </a:r>
            <a:r>
              <a:rPr sz="2000" spc="-7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282828"/>
                </a:solidFill>
                <a:latin typeface="Times New Roman"/>
                <a:cs typeface="Times New Roman"/>
              </a:rPr>
              <a:t>Algorithm</a:t>
            </a:r>
            <a:endParaRPr sz="2000">
              <a:latin typeface="Times New Roman"/>
              <a:cs typeface="Times New Roman"/>
            </a:endParaRPr>
          </a:p>
          <a:p>
            <a:pPr marL="469265" indent="-366395">
              <a:lnSpc>
                <a:spcPct val="100000"/>
              </a:lnSpc>
              <a:spcBef>
                <a:spcPts val="359"/>
              </a:spcBef>
              <a:buClr>
                <a:srgbClr val="000000"/>
              </a:buClr>
              <a:buSzPct val="90000"/>
              <a:buFont typeface="Tahoma"/>
              <a:buChar char="●"/>
              <a:tabLst>
                <a:tab pos="469265" algn="l"/>
              </a:tabLst>
            </a:pP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Huffman</a:t>
            </a:r>
            <a:r>
              <a:rPr sz="2000" spc="-7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282828"/>
                </a:solidFill>
                <a:latin typeface="Times New Roman"/>
                <a:cs typeface="Times New Roman"/>
              </a:rPr>
              <a:t>Coding</a:t>
            </a:r>
            <a:endParaRPr sz="2000">
              <a:latin typeface="Times New Roman"/>
              <a:cs typeface="Times New Roman"/>
            </a:endParaRPr>
          </a:p>
          <a:p>
            <a:pPr marL="469265" indent="-366395">
              <a:lnSpc>
                <a:spcPct val="100000"/>
              </a:lnSpc>
              <a:spcBef>
                <a:spcPts val="359"/>
              </a:spcBef>
              <a:buClr>
                <a:srgbClr val="000000"/>
              </a:buClr>
              <a:buSzPct val="90000"/>
              <a:buFont typeface="Tahoma"/>
              <a:buChar char="●"/>
              <a:tabLst>
                <a:tab pos="469265" algn="l"/>
              </a:tabLst>
            </a:pP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Dijkstra’s</a:t>
            </a:r>
            <a:r>
              <a:rPr sz="2000" spc="-80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Shortest</a:t>
            </a:r>
            <a:r>
              <a:rPr sz="2000" spc="-7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spc="-20" dirty="0">
                <a:solidFill>
                  <a:srgbClr val="282828"/>
                </a:solidFill>
                <a:latin typeface="Times New Roman"/>
                <a:cs typeface="Times New Roman"/>
              </a:rPr>
              <a:t>Path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560"/>
              </a:spcBef>
            </a:pP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They</a:t>
            </a:r>
            <a:r>
              <a:rPr sz="2000" spc="-10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are</a:t>
            </a:r>
            <a:r>
              <a:rPr sz="2000" spc="-10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commonly</a:t>
            </a:r>
            <a:r>
              <a:rPr sz="2000" spc="-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used</a:t>
            </a:r>
            <a:r>
              <a:rPr sz="2000" spc="-10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in</a:t>
            </a:r>
            <a:r>
              <a:rPr sz="2000" spc="-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optimization</a:t>
            </a:r>
            <a:r>
              <a:rPr sz="2000" spc="-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and</a:t>
            </a:r>
            <a:r>
              <a:rPr sz="2000" spc="-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scheduling</a:t>
            </a:r>
            <a:r>
              <a:rPr sz="2000" spc="-10" dirty="0">
                <a:solidFill>
                  <a:srgbClr val="282828"/>
                </a:solidFill>
                <a:latin typeface="Times New Roman"/>
                <a:cs typeface="Times New Roman"/>
              </a:rPr>
              <a:t> problems.</a:t>
            </a:r>
            <a:endParaRPr sz="2000">
              <a:latin typeface="Times New Roman"/>
              <a:cs typeface="Times New Roman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0"/>
            <a:ext cx="222885" cy="5143500"/>
            <a:chOff x="0" y="0"/>
            <a:chExt cx="222885" cy="514350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222880" cy="514350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0" y="0"/>
              <a:ext cx="182880" cy="5143500"/>
            </a:xfrm>
            <a:custGeom>
              <a:avLst/>
              <a:gdLst/>
              <a:ahLst/>
              <a:cxnLst/>
              <a:rect l="l" t="t" r="r" b="b"/>
              <a:pathLst>
                <a:path w="182880" h="5143500">
                  <a:moveTo>
                    <a:pt x="182879" y="5143499"/>
                  </a:moveTo>
                  <a:lnTo>
                    <a:pt x="0" y="5143499"/>
                  </a:lnTo>
                  <a:lnTo>
                    <a:pt x="0" y="0"/>
                  </a:lnTo>
                  <a:lnTo>
                    <a:pt x="182879" y="0"/>
                  </a:lnTo>
                  <a:lnTo>
                    <a:pt x="182879" y="5143499"/>
                  </a:lnTo>
                  <a:close/>
                </a:path>
              </a:pathLst>
            </a:custGeom>
            <a:solidFill>
              <a:srgbClr val="00B0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/>
              <a:t>Fractional</a:t>
            </a:r>
            <a:r>
              <a:rPr spc="100" dirty="0"/>
              <a:t> </a:t>
            </a:r>
            <a:r>
              <a:rPr dirty="0"/>
              <a:t>Knapsack</a:t>
            </a:r>
            <a:r>
              <a:rPr spc="105" dirty="0"/>
              <a:t> </a:t>
            </a:r>
            <a:r>
              <a:rPr spc="-10" dirty="0"/>
              <a:t>Problem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1215340"/>
            <a:ext cx="7969884" cy="3510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Problem</a:t>
            </a:r>
            <a:r>
              <a:rPr sz="2000" spc="-4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282828"/>
                </a:solidFill>
                <a:latin typeface="Times New Roman"/>
                <a:cs typeface="Times New Roman"/>
              </a:rPr>
              <a:t>statement: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560"/>
              </a:spcBef>
            </a:pPr>
            <a:r>
              <a:rPr sz="2000" spc="-10" dirty="0">
                <a:solidFill>
                  <a:srgbClr val="282828"/>
                </a:solidFill>
                <a:latin typeface="Times New Roman"/>
                <a:cs typeface="Times New Roman"/>
              </a:rPr>
              <a:t>Given:</a:t>
            </a:r>
            <a:endParaRPr sz="2000">
              <a:latin typeface="Times New Roman"/>
              <a:cs typeface="Times New Roman"/>
            </a:endParaRPr>
          </a:p>
          <a:p>
            <a:pPr marL="469265" indent="-366395">
              <a:lnSpc>
                <a:spcPct val="100000"/>
              </a:lnSpc>
              <a:spcBef>
                <a:spcPts val="1560"/>
              </a:spcBef>
              <a:buClr>
                <a:srgbClr val="000000"/>
              </a:buClr>
              <a:buSzPct val="90000"/>
              <a:buFont typeface="Tahoma"/>
              <a:buChar char="●"/>
              <a:tabLst>
                <a:tab pos="469265" algn="l"/>
              </a:tabLst>
            </a:pP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Items</a:t>
            </a:r>
            <a:r>
              <a:rPr sz="2000" spc="-1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with</a:t>
            </a:r>
            <a:r>
              <a:rPr sz="2000" spc="-10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value</a:t>
            </a:r>
            <a:r>
              <a:rPr sz="2000" spc="-1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and</a:t>
            </a:r>
            <a:r>
              <a:rPr sz="2000" spc="-10" dirty="0">
                <a:solidFill>
                  <a:srgbClr val="282828"/>
                </a:solidFill>
                <a:latin typeface="Times New Roman"/>
                <a:cs typeface="Times New Roman"/>
              </a:rPr>
              <a:t> weight</a:t>
            </a:r>
            <a:endParaRPr sz="2000">
              <a:latin typeface="Times New Roman"/>
              <a:cs typeface="Times New Roman"/>
            </a:endParaRPr>
          </a:p>
          <a:p>
            <a:pPr marL="469265" indent="-366395">
              <a:lnSpc>
                <a:spcPct val="100000"/>
              </a:lnSpc>
              <a:spcBef>
                <a:spcPts val="359"/>
              </a:spcBef>
              <a:buClr>
                <a:srgbClr val="000000"/>
              </a:buClr>
              <a:buSzPct val="90000"/>
              <a:buFont typeface="Tahoma"/>
              <a:buChar char="●"/>
              <a:tabLst>
                <a:tab pos="469265" algn="l"/>
              </a:tabLst>
            </a:pPr>
            <a:r>
              <a:rPr sz="2000" spc="-20" dirty="0">
                <a:solidFill>
                  <a:srgbClr val="282828"/>
                </a:solidFill>
                <a:latin typeface="Times New Roman"/>
                <a:cs typeface="Times New Roman"/>
              </a:rPr>
              <a:t>A</a:t>
            </a:r>
            <a:r>
              <a:rPr sz="2000" spc="-114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knapsack with limited</a:t>
            </a:r>
            <a:r>
              <a:rPr sz="2000" spc="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282828"/>
                </a:solidFill>
                <a:latin typeface="Times New Roman"/>
                <a:cs typeface="Times New Roman"/>
              </a:rPr>
              <a:t>capacity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739"/>
              </a:spcBef>
              <a:buFont typeface="Tahoma"/>
              <a:buChar char="●"/>
            </a:pP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000" spc="-10" dirty="0">
                <a:solidFill>
                  <a:srgbClr val="282828"/>
                </a:solidFill>
                <a:latin typeface="Times New Roman"/>
                <a:cs typeface="Times New Roman"/>
              </a:rPr>
              <a:t>Goal:</a:t>
            </a:r>
            <a:endParaRPr sz="2000">
              <a:latin typeface="Times New Roman"/>
              <a:cs typeface="Times New Roman"/>
            </a:endParaRPr>
          </a:p>
          <a:p>
            <a:pPr marL="469265" indent="-366395">
              <a:lnSpc>
                <a:spcPct val="100000"/>
              </a:lnSpc>
              <a:spcBef>
                <a:spcPts val="1560"/>
              </a:spcBef>
              <a:buClr>
                <a:srgbClr val="000000"/>
              </a:buClr>
              <a:buSzPct val="90000"/>
              <a:buFont typeface="Tahoma"/>
              <a:buChar char="●"/>
              <a:tabLst>
                <a:tab pos="469265" algn="l"/>
              </a:tabLst>
            </a:pP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Maximize</a:t>
            </a:r>
            <a:r>
              <a:rPr sz="2000" spc="-3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the</a:t>
            </a:r>
            <a:r>
              <a:rPr sz="2000" spc="-2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total</a:t>
            </a:r>
            <a:r>
              <a:rPr sz="2000" spc="-2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value</a:t>
            </a:r>
            <a:r>
              <a:rPr sz="2000" spc="-2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inside</a:t>
            </a:r>
            <a:r>
              <a:rPr sz="2000" spc="-2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the</a:t>
            </a:r>
            <a:r>
              <a:rPr sz="2000" spc="-2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282828"/>
                </a:solidFill>
                <a:latin typeface="Times New Roman"/>
                <a:cs typeface="Times New Roman"/>
              </a:rPr>
              <a:t>knapsack.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560"/>
              </a:spcBef>
            </a:pP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In</a:t>
            </a:r>
            <a:r>
              <a:rPr sz="2000" spc="-2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Fractional</a:t>
            </a:r>
            <a:r>
              <a:rPr sz="2000" spc="-2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Knapsack,</a:t>
            </a:r>
            <a:r>
              <a:rPr sz="2000" spc="-20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items</a:t>
            </a:r>
            <a:r>
              <a:rPr sz="2000" spc="-2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can</a:t>
            </a:r>
            <a:r>
              <a:rPr sz="2000" spc="-20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be</a:t>
            </a:r>
            <a:r>
              <a:rPr sz="2000" spc="-2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broken</a:t>
            </a:r>
            <a:r>
              <a:rPr sz="2000" spc="-2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into</a:t>
            </a:r>
            <a:r>
              <a:rPr sz="2000" spc="-20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fractions</a:t>
            </a:r>
            <a:r>
              <a:rPr sz="2000" spc="-2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to</a:t>
            </a:r>
            <a:r>
              <a:rPr sz="2000" spc="-20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maximize</a:t>
            </a:r>
            <a:r>
              <a:rPr sz="2000" spc="-2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282828"/>
                </a:solidFill>
                <a:latin typeface="Times New Roman"/>
                <a:cs typeface="Times New Roman"/>
              </a:rPr>
              <a:t>value.</a:t>
            </a:r>
            <a:endParaRPr sz="2000">
              <a:latin typeface="Times New Roman"/>
              <a:cs typeface="Times New Roman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0"/>
            <a:ext cx="222885" cy="5143500"/>
            <a:chOff x="0" y="0"/>
            <a:chExt cx="222885" cy="514350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222880" cy="514350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0" y="0"/>
              <a:ext cx="182880" cy="5143500"/>
            </a:xfrm>
            <a:custGeom>
              <a:avLst/>
              <a:gdLst/>
              <a:ahLst/>
              <a:cxnLst/>
              <a:rect l="l" t="t" r="r" b="b"/>
              <a:pathLst>
                <a:path w="182880" h="5143500">
                  <a:moveTo>
                    <a:pt x="182879" y="5143499"/>
                  </a:moveTo>
                  <a:lnTo>
                    <a:pt x="0" y="5143499"/>
                  </a:lnTo>
                  <a:lnTo>
                    <a:pt x="0" y="0"/>
                  </a:lnTo>
                  <a:lnTo>
                    <a:pt x="182879" y="0"/>
                  </a:lnTo>
                  <a:lnTo>
                    <a:pt x="182879" y="5143499"/>
                  </a:lnTo>
                  <a:close/>
                </a:path>
              </a:pathLst>
            </a:custGeom>
            <a:solidFill>
              <a:srgbClr val="00B0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406825" y="1628587"/>
            <a:ext cx="4425475" cy="188632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/>
              <a:t>Greedy</a:t>
            </a:r>
            <a:r>
              <a:rPr spc="-130" dirty="0"/>
              <a:t> </a:t>
            </a:r>
            <a:r>
              <a:rPr dirty="0"/>
              <a:t>Approach</a:t>
            </a:r>
            <a:r>
              <a:rPr spc="60" dirty="0"/>
              <a:t> </a:t>
            </a:r>
            <a:r>
              <a:rPr dirty="0"/>
              <a:t>for</a:t>
            </a:r>
            <a:r>
              <a:rPr spc="-5" dirty="0"/>
              <a:t> </a:t>
            </a:r>
            <a:r>
              <a:rPr dirty="0"/>
              <a:t>Fractional</a:t>
            </a:r>
            <a:r>
              <a:rPr spc="60" dirty="0"/>
              <a:t> </a:t>
            </a:r>
            <a:r>
              <a:rPr spc="-10" dirty="0"/>
              <a:t>Knapsack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1215340"/>
            <a:ext cx="6220460" cy="270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10" dirty="0">
                <a:solidFill>
                  <a:srgbClr val="282828"/>
                </a:solidFill>
                <a:latin typeface="Times New Roman"/>
                <a:cs typeface="Times New Roman"/>
              </a:rPr>
              <a:t>Steps:</a:t>
            </a:r>
            <a:endParaRPr sz="2000">
              <a:latin typeface="Times New Roman"/>
              <a:cs typeface="Times New Roman"/>
            </a:endParaRPr>
          </a:p>
          <a:p>
            <a:pPr marL="469265" indent="-399415">
              <a:lnSpc>
                <a:spcPct val="100000"/>
              </a:lnSpc>
              <a:spcBef>
                <a:spcPts val="1560"/>
              </a:spcBef>
              <a:buClr>
                <a:srgbClr val="000000"/>
              </a:buClr>
              <a:buSzPct val="90000"/>
              <a:buAutoNum type="arabicPeriod"/>
              <a:tabLst>
                <a:tab pos="469265" algn="l"/>
              </a:tabLst>
            </a:pP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Calculate</a:t>
            </a:r>
            <a:r>
              <a:rPr sz="2000" spc="-2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value/weight</a:t>
            </a:r>
            <a:r>
              <a:rPr sz="2000" spc="-2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ratio</a:t>
            </a:r>
            <a:r>
              <a:rPr sz="2000" spc="-20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for</a:t>
            </a:r>
            <a:r>
              <a:rPr sz="2000" spc="-20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each</a:t>
            </a:r>
            <a:r>
              <a:rPr sz="2000" spc="-1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282828"/>
                </a:solidFill>
                <a:latin typeface="Times New Roman"/>
                <a:cs typeface="Times New Roman"/>
              </a:rPr>
              <a:t>item.</a:t>
            </a:r>
            <a:endParaRPr sz="2000">
              <a:latin typeface="Times New Roman"/>
              <a:cs typeface="Times New Roman"/>
            </a:endParaRPr>
          </a:p>
          <a:p>
            <a:pPr marL="469265" indent="-399415">
              <a:lnSpc>
                <a:spcPct val="100000"/>
              </a:lnSpc>
              <a:spcBef>
                <a:spcPts val="359"/>
              </a:spcBef>
              <a:buClr>
                <a:srgbClr val="000000"/>
              </a:buClr>
              <a:buSzPct val="90000"/>
              <a:buAutoNum type="arabicPeriod"/>
              <a:tabLst>
                <a:tab pos="469265" algn="l"/>
              </a:tabLst>
            </a:pP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Sort</a:t>
            </a:r>
            <a:r>
              <a:rPr sz="2000" spc="-20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items</a:t>
            </a:r>
            <a:r>
              <a:rPr sz="2000" spc="-20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based</a:t>
            </a:r>
            <a:r>
              <a:rPr sz="2000" spc="-10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on</a:t>
            </a:r>
            <a:r>
              <a:rPr sz="2000" spc="-1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highest</a:t>
            </a:r>
            <a:r>
              <a:rPr sz="2000" spc="-1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282828"/>
                </a:solidFill>
                <a:latin typeface="Times New Roman"/>
                <a:cs typeface="Times New Roman"/>
              </a:rPr>
              <a:t>ratio.</a:t>
            </a:r>
            <a:endParaRPr sz="2000">
              <a:latin typeface="Times New Roman"/>
              <a:cs typeface="Times New Roman"/>
            </a:endParaRPr>
          </a:p>
          <a:p>
            <a:pPr marL="469265" indent="-399415">
              <a:lnSpc>
                <a:spcPct val="100000"/>
              </a:lnSpc>
              <a:spcBef>
                <a:spcPts val="359"/>
              </a:spcBef>
              <a:buClr>
                <a:srgbClr val="000000"/>
              </a:buClr>
              <a:buSzPct val="90000"/>
              <a:buAutoNum type="arabicPeriod"/>
              <a:tabLst>
                <a:tab pos="469265" algn="l"/>
              </a:tabLst>
            </a:pP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Pick</a:t>
            </a:r>
            <a:r>
              <a:rPr sz="2000" spc="-20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items</a:t>
            </a:r>
            <a:r>
              <a:rPr sz="2000" spc="-1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with</a:t>
            </a:r>
            <a:r>
              <a:rPr sz="2000" spc="-10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highest</a:t>
            </a:r>
            <a:r>
              <a:rPr sz="2000" spc="-1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ratio</a:t>
            </a:r>
            <a:r>
              <a:rPr sz="2000" spc="-10" dirty="0">
                <a:solidFill>
                  <a:srgbClr val="282828"/>
                </a:solidFill>
                <a:latin typeface="Times New Roman"/>
                <a:cs typeface="Times New Roman"/>
              </a:rPr>
              <a:t> first.</a:t>
            </a:r>
            <a:endParaRPr sz="2000">
              <a:latin typeface="Times New Roman"/>
              <a:cs typeface="Times New Roman"/>
            </a:endParaRPr>
          </a:p>
          <a:p>
            <a:pPr marL="469265" indent="-419100">
              <a:lnSpc>
                <a:spcPct val="100000"/>
              </a:lnSpc>
              <a:spcBef>
                <a:spcPts val="359"/>
              </a:spcBef>
              <a:buClr>
                <a:srgbClr val="000000"/>
              </a:buClr>
              <a:buSzPct val="90000"/>
              <a:buFont typeface="Tahoma"/>
              <a:buAutoNum type="arabicPeriod"/>
              <a:tabLst>
                <a:tab pos="469265" algn="l"/>
              </a:tabLst>
            </a:pP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If</a:t>
            </a:r>
            <a:r>
              <a:rPr sz="2000" spc="-1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the</a:t>
            </a:r>
            <a:r>
              <a:rPr sz="2000" spc="-1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next</a:t>
            </a:r>
            <a:r>
              <a:rPr sz="2000" spc="-1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item</a:t>
            </a:r>
            <a:r>
              <a:rPr sz="2000" spc="-20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doesn't</a:t>
            </a:r>
            <a:r>
              <a:rPr sz="2000" spc="-1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fit</a:t>
            </a:r>
            <a:r>
              <a:rPr sz="2000" spc="-1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282828"/>
                </a:solidFill>
                <a:latin typeface="Times New Roman"/>
                <a:cs typeface="Times New Roman"/>
              </a:rPr>
              <a:t>completely,</a:t>
            </a:r>
            <a:r>
              <a:rPr sz="2000" spc="-1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take</a:t>
            </a:r>
            <a:r>
              <a:rPr sz="2000" spc="-1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fraction</a:t>
            </a:r>
            <a:r>
              <a:rPr sz="2000" spc="-10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of</a:t>
            </a:r>
            <a:r>
              <a:rPr sz="2000" spc="-10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spc="-25" dirty="0">
                <a:solidFill>
                  <a:srgbClr val="282828"/>
                </a:solidFill>
                <a:latin typeface="Times New Roman"/>
                <a:cs typeface="Times New Roman"/>
              </a:rPr>
              <a:t>it.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739"/>
              </a:spcBef>
            </a:pP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This</a:t>
            </a:r>
            <a:r>
              <a:rPr sz="2000" spc="-3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ensures</a:t>
            </a:r>
            <a:r>
              <a:rPr sz="2000" spc="-2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maximum</a:t>
            </a:r>
            <a:r>
              <a:rPr sz="2000" spc="-20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profit</a:t>
            </a:r>
            <a:r>
              <a:rPr sz="2000" spc="-2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in</a:t>
            </a:r>
            <a:r>
              <a:rPr sz="2000" spc="-20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the</a:t>
            </a:r>
            <a:r>
              <a:rPr sz="2000" spc="-20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282828"/>
                </a:solidFill>
                <a:latin typeface="Times New Roman"/>
                <a:cs typeface="Times New Roman"/>
              </a:rPr>
              <a:t>knapsack.</a:t>
            </a:r>
            <a:endParaRPr sz="2000">
              <a:latin typeface="Times New Roman"/>
              <a:cs typeface="Times New Roman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0"/>
            <a:ext cx="222885" cy="5143500"/>
            <a:chOff x="0" y="0"/>
            <a:chExt cx="222885" cy="514350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222880" cy="514350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0" y="0"/>
              <a:ext cx="182880" cy="5143500"/>
            </a:xfrm>
            <a:custGeom>
              <a:avLst/>
              <a:gdLst/>
              <a:ahLst/>
              <a:cxnLst/>
              <a:rect l="l" t="t" r="r" b="b"/>
              <a:pathLst>
                <a:path w="182880" h="5143500">
                  <a:moveTo>
                    <a:pt x="182879" y="5143499"/>
                  </a:moveTo>
                  <a:lnTo>
                    <a:pt x="0" y="5143499"/>
                  </a:lnTo>
                  <a:lnTo>
                    <a:pt x="0" y="0"/>
                  </a:lnTo>
                  <a:lnTo>
                    <a:pt x="182879" y="0"/>
                  </a:lnTo>
                  <a:lnTo>
                    <a:pt x="182879" y="5143499"/>
                  </a:lnTo>
                  <a:close/>
                </a:path>
              </a:pathLst>
            </a:custGeom>
            <a:solidFill>
              <a:srgbClr val="00B0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/>
              <a:t>Example</a:t>
            </a:r>
            <a:r>
              <a:rPr spc="75" dirty="0"/>
              <a:t> </a:t>
            </a:r>
            <a:r>
              <a:rPr dirty="0"/>
              <a:t>of</a:t>
            </a:r>
            <a:r>
              <a:rPr spc="80" dirty="0"/>
              <a:t> </a:t>
            </a:r>
            <a:r>
              <a:rPr dirty="0"/>
              <a:t>Fractional</a:t>
            </a:r>
            <a:r>
              <a:rPr spc="75" dirty="0"/>
              <a:t> </a:t>
            </a:r>
            <a:r>
              <a:rPr spc="-10" dirty="0"/>
              <a:t>Knapsack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2861140"/>
            <a:ext cx="3992245" cy="19494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10" dirty="0">
                <a:solidFill>
                  <a:srgbClr val="282828"/>
                </a:solidFill>
                <a:latin typeface="Times New Roman"/>
                <a:cs typeface="Times New Roman"/>
              </a:rPr>
              <a:t>Steps:</a:t>
            </a:r>
            <a:endParaRPr sz="2000">
              <a:latin typeface="Times New Roman"/>
              <a:cs typeface="Times New Roman"/>
            </a:endParaRPr>
          </a:p>
          <a:p>
            <a:pPr marL="469265" indent="-343535">
              <a:lnSpc>
                <a:spcPct val="100000"/>
              </a:lnSpc>
              <a:spcBef>
                <a:spcPts val="1560"/>
              </a:spcBef>
              <a:buClr>
                <a:srgbClr val="000000"/>
              </a:buClr>
              <a:buSzPct val="75000"/>
              <a:buFont typeface="Tahoma"/>
              <a:buChar char="●"/>
              <a:tabLst>
                <a:tab pos="469265" algn="l"/>
              </a:tabLst>
            </a:pP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Select</a:t>
            </a:r>
            <a:r>
              <a:rPr sz="2000" spc="-30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item</a:t>
            </a:r>
            <a:r>
              <a:rPr sz="2000" spc="-20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with</a:t>
            </a:r>
            <a:r>
              <a:rPr sz="2000" spc="-1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highest</a:t>
            </a:r>
            <a:r>
              <a:rPr sz="2000" spc="-20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ratio</a:t>
            </a:r>
            <a:r>
              <a:rPr sz="2000" spc="-10" dirty="0">
                <a:solidFill>
                  <a:srgbClr val="282828"/>
                </a:solidFill>
                <a:latin typeface="Times New Roman"/>
                <a:cs typeface="Times New Roman"/>
              </a:rPr>
              <a:t> first.</a:t>
            </a:r>
            <a:endParaRPr sz="2000">
              <a:latin typeface="Times New Roman"/>
              <a:cs typeface="Times New Roman"/>
            </a:endParaRPr>
          </a:p>
          <a:p>
            <a:pPr marL="469265" indent="-343535">
              <a:lnSpc>
                <a:spcPct val="100000"/>
              </a:lnSpc>
              <a:spcBef>
                <a:spcPts val="359"/>
              </a:spcBef>
              <a:buClr>
                <a:srgbClr val="000000"/>
              </a:buClr>
              <a:buSzPct val="75000"/>
              <a:buFont typeface="Tahoma"/>
              <a:buChar char="●"/>
              <a:tabLst>
                <a:tab pos="469265" algn="l"/>
              </a:tabLst>
            </a:pP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Continue</a:t>
            </a:r>
            <a:r>
              <a:rPr sz="2000" spc="-20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until</a:t>
            </a:r>
            <a:r>
              <a:rPr sz="2000" spc="-20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capacity</a:t>
            </a:r>
            <a:r>
              <a:rPr sz="2000" spc="-1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is</a:t>
            </a:r>
            <a:r>
              <a:rPr sz="2000" spc="-20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282828"/>
                </a:solidFill>
                <a:latin typeface="Times New Roman"/>
                <a:cs typeface="Times New Roman"/>
              </a:rPr>
              <a:t>full.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330"/>
              </a:spcBef>
            </a:pP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Result</a:t>
            </a:r>
            <a:r>
              <a:rPr sz="2000" spc="-30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→</a:t>
            </a:r>
            <a:r>
              <a:rPr sz="2000" spc="-2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Maximum</a:t>
            </a:r>
            <a:r>
              <a:rPr sz="2000" spc="-2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possible</a:t>
            </a:r>
            <a:r>
              <a:rPr sz="2000" spc="-2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282828"/>
                </a:solidFill>
                <a:latin typeface="Times New Roman"/>
                <a:cs typeface="Times New Roman"/>
              </a:rPr>
              <a:t>value.</a:t>
            </a:r>
            <a:endParaRPr sz="2000">
              <a:latin typeface="Times New Roman"/>
              <a:cs typeface="Times New Roman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886187" y="1147712"/>
          <a:ext cx="7239000" cy="16433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09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084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1500" b="1" spc="-20" dirty="0">
                          <a:latin typeface="Times New Roman"/>
                          <a:cs typeface="Times New Roman"/>
                        </a:rPr>
                        <a:t>Item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8382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1500" b="1" spc="-10" dirty="0">
                          <a:latin typeface="Times New Roman"/>
                          <a:cs typeface="Times New Roman"/>
                        </a:rPr>
                        <a:t>Weight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8382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1500" b="1" spc="-10" dirty="0">
                          <a:latin typeface="Times New Roman"/>
                          <a:cs typeface="Times New Roman"/>
                        </a:rPr>
                        <a:t>Value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8382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1500" b="1" spc="-10" dirty="0">
                          <a:latin typeface="Times New Roman"/>
                          <a:cs typeface="Times New Roman"/>
                        </a:rPr>
                        <a:t>Ratio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8382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084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1500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8382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1500" spc="-25" dirty="0">
                          <a:latin typeface="Times New Roman"/>
                          <a:cs typeface="Times New Roman"/>
                        </a:rPr>
                        <a:t>10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8382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1500" spc="-25" dirty="0">
                          <a:latin typeface="Times New Roman"/>
                          <a:cs typeface="Times New Roman"/>
                        </a:rPr>
                        <a:t>60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8382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1500" spc="-50" dirty="0">
                          <a:latin typeface="Times New Roman"/>
                          <a:cs typeface="Times New Roman"/>
                        </a:rPr>
                        <a:t>6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8382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084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1500" spc="-50" dirty="0">
                          <a:latin typeface="Times New Roman"/>
                          <a:cs typeface="Times New Roman"/>
                        </a:rPr>
                        <a:t>2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8382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1500" spc="-25" dirty="0">
                          <a:latin typeface="Times New Roman"/>
                          <a:cs typeface="Times New Roman"/>
                        </a:rPr>
                        <a:t>20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8382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1500" spc="-25" dirty="0">
                          <a:latin typeface="Times New Roman"/>
                          <a:cs typeface="Times New Roman"/>
                        </a:rPr>
                        <a:t>100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8382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1500" spc="-50" dirty="0">
                          <a:latin typeface="Times New Roman"/>
                          <a:cs typeface="Times New Roman"/>
                        </a:rPr>
                        <a:t>5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8382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084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1500" spc="-50" dirty="0">
                          <a:latin typeface="Times New Roman"/>
                          <a:cs typeface="Times New Roman"/>
                        </a:rPr>
                        <a:t>3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8382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1500" spc="-25" dirty="0">
                          <a:latin typeface="Times New Roman"/>
                          <a:cs typeface="Times New Roman"/>
                        </a:rPr>
                        <a:t>30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8382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1500" spc="-25" dirty="0">
                          <a:latin typeface="Times New Roman"/>
                          <a:cs typeface="Times New Roman"/>
                        </a:rPr>
                        <a:t>120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8382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1500" spc="-50" dirty="0">
                          <a:latin typeface="Times New Roman"/>
                          <a:cs typeface="Times New Roman"/>
                        </a:rPr>
                        <a:t>4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8382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5" name="object 5"/>
          <p:cNvGrpSpPr/>
          <p:nvPr/>
        </p:nvGrpSpPr>
        <p:grpSpPr>
          <a:xfrm>
            <a:off x="0" y="0"/>
            <a:ext cx="222885" cy="5143500"/>
            <a:chOff x="0" y="0"/>
            <a:chExt cx="222885" cy="514350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222880" cy="514350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0" y="0"/>
              <a:ext cx="182880" cy="5143500"/>
            </a:xfrm>
            <a:custGeom>
              <a:avLst/>
              <a:gdLst/>
              <a:ahLst/>
              <a:cxnLst/>
              <a:rect l="l" t="t" r="r" b="b"/>
              <a:pathLst>
                <a:path w="182880" h="5143500">
                  <a:moveTo>
                    <a:pt x="182879" y="5143499"/>
                  </a:moveTo>
                  <a:lnTo>
                    <a:pt x="0" y="5143499"/>
                  </a:lnTo>
                  <a:lnTo>
                    <a:pt x="0" y="0"/>
                  </a:lnTo>
                  <a:lnTo>
                    <a:pt x="182879" y="0"/>
                  </a:lnTo>
                  <a:lnTo>
                    <a:pt x="182879" y="5143499"/>
                  </a:lnTo>
                  <a:close/>
                </a:path>
              </a:pathLst>
            </a:custGeom>
            <a:solidFill>
              <a:srgbClr val="00B0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/>
              <a:t>Advantages</a:t>
            </a:r>
            <a:r>
              <a:rPr spc="65" dirty="0"/>
              <a:t> </a:t>
            </a:r>
            <a:r>
              <a:rPr dirty="0"/>
              <a:t>of</a:t>
            </a:r>
            <a:r>
              <a:rPr spc="70" dirty="0"/>
              <a:t> </a:t>
            </a:r>
            <a:r>
              <a:rPr dirty="0"/>
              <a:t>Greedy</a:t>
            </a:r>
            <a:r>
              <a:rPr spc="-120" dirty="0"/>
              <a:t> </a:t>
            </a:r>
            <a:r>
              <a:rPr spc="-10" dirty="0"/>
              <a:t>Algorithm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1215340"/>
            <a:ext cx="4708525" cy="28314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10" dirty="0">
                <a:solidFill>
                  <a:srgbClr val="282828"/>
                </a:solidFill>
                <a:latin typeface="Times New Roman"/>
                <a:cs typeface="Times New Roman"/>
              </a:rPr>
              <a:t>Advantages:</a:t>
            </a:r>
            <a:endParaRPr sz="2000">
              <a:latin typeface="Times New Roman"/>
              <a:cs typeface="Times New Roman"/>
            </a:endParaRPr>
          </a:p>
          <a:p>
            <a:pPr marL="469265" indent="-366395">
              <a:lnSpc>
                <a:spcPct val="100000"/>
              </a:lnSpc>
              <a:spcBef>
                <a:spcPts val="1560"/>
              </a:spcBef>
              <a:buClr>
                <a:srgbClr val="000000"/>
              </a:buClr>
              <a:buSzPct val="90000"/>
              <a:buFont typeface="Tahoma"/>
              <a:buChar char="●"/>
              <a:tabLst>
                <a:tab pos="469265" algn="l"/>
              </a:tabLst>
            </a:pP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Simple</a:t>
            </a:r>
            <a:r>
              <a:rPr sz="2000" spc="-20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to</a:t>
            </a:r>
            <a:r>
              <a:rPr sz="2000" spc="-10" dirty="0">
                <a:solidFill>
                  <a:srgbClr val="282828"/>
                </a:solidFill>
                <a:latin typeface="Times New Roman"/>
                <a:cs typeface="Times New Roman"/>
              </a:rPr>
              <a:t> understand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40"/>
              </a:spcBef>
              <a:buFont typeface="Tahoma"/>
              <a:buChar char="●"/>
            </a:pPr>
            <a:endParaRPr sz="2000">
              <a:latin typeface="Times New Roman"/>
              <a:cs typeface="Times New Roman"/>
            </a:endParaRPr>
          </a:p>
          <a:p>
            <a:pPr marL="469265" indent="-366395">
              <a:lnSpc>
                <a:spcPct val="100000"/>
              </a:lnSpc>
              <a:spcBef>
                <a:spcPts val="5"/>
              </a:spcBef>
              <a:buClr>
                <a:srgbClr val="000000"/>
              </a:buClr>
              <a:buSzPct val="90000"/>
              <a:buFont typeface="Tahoma"/>
              <a:buChar char="●"/>
              <a:tabLst>
                <a:tab pos="469265" algn="l"/>
              </a:tabLst>
            </a:pP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Easy to </a:t>
            </a:r>
            <a:r>
              <a:rPr sz="2000" spc="-10" dirty="0">
                <a:solidFill>
                  <a:srgbClr val="282828"/>
                </a:solidFill>
                <a:latin typeface="Times New Roman"/>
                <a:cs typeface="Times New Roman"/>
              </a:rPr>
              <a:t>implement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40"/>
              </a:spcBef>
              <a:buFont typeface="Tahoma"/>
              <a:buChar char="●"/>
            </a:pPr>
            <a:endParaRPr sz="2000">
              <a:latin typeface="Times New Roman"/>
              <a:cs typeface="Times New Roman"/>
            </a:endParaRPr>
          </a:p>
          <a:p>
            <a:pPr marL="469265" indent="-366395">
              <a:lnSpc>
                <a:spcPct val="100000"/>
              </a:lnSpc>
              <a:buClr>
                <a:srgbClr val="000000"/>
              </a:buClr>
              <a:buSzPct val="90000"/>
              <a:buFont typeface="Tahoma"/>
              <a:buChar char="●"/>
              <a:tabLst>
                <a:tab pos="469265" algn="l"/>
              </a:tabLst>
            </a:pP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Efficient</a:t>
            </a:r>
            <a:r>
              <a:rPr sz="2000" spc="-2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for</a:t>
            </a:r>
            <a:r>
              <a:rPr sz="2000" spc="-1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many</a:t>
            </a:r>
            <a:r>
              <a:rPr sz="2000" spc="-20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optimization</a:t>
            </a:r>
            <a:r>
              <a:rPr sz="2000" spc="-1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282828"/>
                </a:solidFill>
                <a:latin typeface="Times New Roman"/>
                <a:cs typeface="Times New Roman"/>
              </a:rPr>
              <a:t>problems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45"/>
              </a:spcBef>
              <a:buFont typeface="Tahoma"/>
              <a:buChar char="●"/>
            </a:pPr>
            <a:endParaRPr sz="2000">
              <a:latin typeface="Times New Roman"/>
              <a:cs typeface="Times New Roman"/>
            </a:endParaRPr>
          </a:p>
          <a:p>
            <a:pPr marL="469265" indent="-366395">
              <a:lnSpc>
                <a:spcPct val="100000"/>
              </a:lnSpc>
              <a:buClr>
                <a:srgbClr val="000000"/>
              </a:buClr>
              <a:buSzPct val="90000"/>
              <a:buFont typeface="Tahoma"/>
              <a:buChar char="●"/>
              <a:tabLst>
                <a:tab pos="469265" algn="l"/>
              </a:tabLst>
            </a:pP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Often</a:t>
            </a:r>
            <a:r>
              <a:rPr sz="2000" spc="-20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faster</a:t>
            </a:r>
            <a:r>
              <a:rPr sz="2000" spc="-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than</a:t>
            </a:r>
            <a:r>
              <a:rPr sz="2000" spc="-10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dynamic</a:t>
            </a:r>
            <a:r>
              <a:rPr sz="2000" spc="-10" dirty="0">
                <a:solidFill>
                  <a:srgbClr val="282828"/>
                </a:solidFill>
                <a:latin typeface="Times New Roman"/>
                <a:cs typeface="Times New Roman"/>
              </a:rPr>
              <a:t> programming</a:t>
            </a:r>
            <a:endParaRPr sz="2000">
              <a:latin typeface="Times New Roman"/>
              <a:cs typeface="Times New Roman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0"/>
            <a:ext cx="222885" cy="5143500"/>
            <a:chOff x="0" y="0"/>
            <a:chExt cx="222885" cy="514350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222880" cy="514350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0" y="0"/>
              <a:ext cx="182880" cy="5143500"/>
            </a:xfrm>
            <a:custGeom>
              <a:avLst/>
              <a:gdLst/>
              <a:ahLst/>
              <a:cxnLst/>
              <a:rect l="l" t="t" r="r" b="b"/>
              <a:pathLst>
                <a:path w="182880" h="5143500">
                  <a:moveTo>
                    <a:pt x="182879" y="5143499"/>
                  </a:moveTo>
                  <a:lnTo>
                    <a:pt x="0" y="5143499"/>
                  </a:lnTo>
                  <a:lnTo>
                    <a:pt x="0" y="0"/>
                  </a:lnTo>
                  <a:lnTo>
                    <a:pt x="182879" y="0"/>
                  </a:lnTo>
                  <a:lnTo>
                    <a:pt x="182879" y="5143499"/>
                  </a:lnTo>
                  <a:close/>
                </a:path>
              </a:pathLst>
            </a:custGeom>
            <a:solidFill>
              <a:srgbClr val="00B0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/>
              <a:t>Disadvantages</a:t>
            </a:r>
            <a:r>
              <a:rPr spc="75" dirty="0"/>
              <a:t> </a:t>
            </a:r>
            <a:r>
              <a:rPr dirty="0"/>
              <a:t>of</a:t>
            </a:r>
            <a:r>
              <a:rPr spc="80" dirty="0"/>
              <a:t> </a:t>
            </a:r>
            <a:r>
              <a:rPr dirty="0"/>
              <a:t>Greedy</a:t>
            </a:r>
            <a:r>
              <a:rPr spc="-114" dirty="0"/>
              <a:t> </a:t>
            </a:r>
            <a:r>
              <a:rPr spc="-10" dirty="0"/>
              <a:t>Algorithm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1215340"/>
            <a:ext cx="5919470" cy="21653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10" dirty="0">
                <a:solidFill>
                  <a:srgbClr val="282828"/>
                </a:solidFill>
                <a:latin typeface="Times New Roman"/>
                <a:cs typeface="Times New Roman"/>
              </a:rPr>
              <a:t>Disadvantages:</a:t>
            </a:r>
            <a:endParaRPr sz="2000">
              <a:latin typeface="Times New Roman"/>
              <a:cs typeface="Times New Roman"/>
            </a:endParaRPr>
          </a:p>
          <a:p>
            <a:pPr marL="469265" indent="-366395">
              <a:lnSpc>
                <a:spcPct val="100000"/>
              </a:lnSpc>
              <a:spcBef>
                <a:spcPts val="1560"/>
              </a:spcBef>
              <a:buClr>
                <a:srgbClr val="000000"/>
              </a:buClr>
              <a:buSzPct val="90000"/>
              <a:buFont typeface="Tahoma"/>
              <a:buChar char="●"/>
              <a:tabLst>
                <a:tab pos="469265" algn="l"/>
              </a:tabLst>
            </a:pP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Does</a:t>
            </a:r>
            <a:r>
              <a:rPr sz="2000" spc="-30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not</a:t>
            </a:r>
            <a:r>
              <a:rPr sz="2000" spc="-2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guarantee</a:t>
            </a:r>
            <a:r>
              <a:rPr sz="2000" spc="-2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optimal</a:t>
            </a:r>
            <a:r>
              <a:rPr sz="2000" spc="-2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solution</a:t>
            </a:r>
            <a:r>
              <a:rPr sz="2000" spc="-20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for</a:t>
            </a:r>
            <a:r>
              <a:rPr sz="2000" spc="-2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all</a:t>
            </a:r>
            <a:r>
              <a:rPr sz="2000" spc="-2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282828"/>
                </a:solidFill>
                <a:latin typeface="Times New Roman"/>
                <a:cs typeface="Times New Roman"/>
              </a:rPr>
              <a:t>problems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40"/>
              </a:spcBef>
              <a:buFont typeface="Tahoma"/>
              <a:buChar char="●"/>
            </a:pPr>
            <a:endParaRPr sz="2000">
              <a:latin typeface="Times New Roman"/>
              <a:cs typeface="Times New Roman"/>
            </a:endParaRPr>
          </a:p>
          <a:p>
            <a:pPr marL="469265" indent="-366395">
              <a:lnSpc>
                <a:spcPct val="100000"/>
              </a:lnSpc>
              <a:spcBef>
                <a:spcPts val="5"/>
              </a:spcBef>
              <a:buClr>
                <a:srgbClr val="000000"/>
              </a:buClr>
              <a:buSzPct val="90000"/>
              <a:buFont typeface="Tahoma"/>
              <a:buChar char="●"/>
              <a:tabLst>
                <a:tab pos="469265" algn="l"/>
              </a:tabLst>
            </a:pPr>
            <a:r>
              <a:rPr sz="2000" spc="-20" dirty="0">
                <a:solidFill>
                  <a:srgbClr val="282828"/>
                </a:solidFill>
                <a:latin typeface="Times New Roman"/>
                <a:cs typeface="Times New Roman"/>
              </a:rPr>
              <a:t>Works</a:t>
            </a:r>
            <a:r>
              <a:rPr sz="2000" spc="-30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only</a:t>
            </a:r>
            <a:r>
              <a:rPr sz="2000" spc="-2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when</a:t>
            </a:r>
            <a:r>
              <a:rPr sz="2000" spc="-2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greedy</a:t>
            </a:r>
            <a:r>
              <a:rPr sz="2000" spc="-2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property</a:t>
            </a:r>
            <a:r>
              <a:rPr sz="2000" spc="-2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282828"/>
                </a:solidFill>
                <a:latin typeface="Times New Roman"/>
                <a:cs typeface="Times New Roman"/>
              </a:rPr>
              <a:t>exists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40"/>
              </a:spcBef>
              <a:buFont typeface="Tahoma"/>
              <a:buChar char="●"/>
            </a:pPr>
            <a:endParaRPr sz="2000">
              <a:latin typeface="Times New Roman"/>
              <a:cs typeface="Times New Roman"/>
            </a:endParaRPr>
          </a:p>
          <a:p>
            <a:pPr marL="469265" indent="-366395">
              <a:lnSpc>
                <a:spcPct val="100000"/>
              </a:lnSpc>
              <a:buClr>
                <a:srgbClr val="000000"/>
              </a:buClr>
              <a:buSzPct val="90000"/>
              <a:buFont typeface="Tahoma"/>
              <a:buChar char="●"/>
              <a:tabLst>
                <a:tab pos="469265" algn="l"/>
              </a:tabLst>
            </a:pP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Sometimes</a:t>
            </a:r>
            <a:r>
              <a:rPr sz="2000" spc="-30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dynamic</a:t>
            </a:r>
            <a:r>
              <a:rPr sz="2000" spc="-20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programming</a:t>
            </a:r>
            <a:r>
              <a:rPr sz="2000" spc="-1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is</a:t>
            </a:r>
            <a:r>
              <a:rPr sz="2000" spc="-20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required</a:t>
            </a:r>
            <a:r>
              <a:rPr sz="2000" spc="-1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282828"/>
                </a:solidFill>
                <a:latin typeface="Times New Roman"/>
                <a:cs typeface="Times New Roman"/>
              </a:rPr>
              <a:t>instead</a:t>
            </a:r>
            <a:endParaRPr sz="2000">
              <a:latin typeface="Times New Roman"/>
              <a:cs typeface="Times New Roman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0"/>
            <a:ext cx="222885" cy="5143500"/>
            <a:chOff x="0" y="0"/>
            <a:chExt cx="222885" cy="514350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222880" cy="514350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0" y="0"/>
              <a:ext cx="182880" cy="5143500"/>
            </a:xfrm>
            <a:custGeom>
              <a:avLst/>
              <a:gdLst/>
              <a:ahLst/>
              <a:cxnLst/>
              <a:rect l="l" t="t" r="r" b="b"/>
              <a:pathLst>
                <a:path w="182880" h="5143500">
                  <a:moveTo>
                    <a:pt x="182879" y="5143499"/>
                  </a:moveTo>
                  <a:lnTo>
                    <a:pt x="0" y="5143499"/>
                  </a:lnTo>
                  <a:lnTo>
                    <a:pt x="0" y="0"/>
                  </a:lnTo>
                  <a:lnTo>
                    <a:pt x="182879" y="0"/>
                  </a:lnTo>
                  <a:lnTo>
                    <a:pt x="182879" y="5143499"/>
                  </a:lnTo>
                  <a:close/>
                </a:path>
              </a:pathLst>
            </a:custGeom>
            <a:solidFill>
              <a:srgbClr val="00B0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/>
              <a:t>Real-</a:t>
            </a:r>
            <a:r>
              <a:rPr spc="-25" dirty="0"/>
              <a:t>World</a:t>
            </a:r>
            <a:r>
              <a:rPr spc="-80" dirty="0"/>
              <a:t> </a:t>
            </a:r>
            <a:r>
              <a:rPr spc="-10" dirty="0"/>
              <a:t>Applications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1215340"/>
            <a:ext cx="7409815" cy="33343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Greedy</a:t>
            </a:r>
            <a:r>
              <a:rPr sz="2000" spc="-30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algorithms</a:t>
            </a:r>
            <a:r>
              <a:rPr sz="2000" spc="-3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are</a:t>
            </a:r>
            <a:r>
              <a:rPr sz="2000" spc="-3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used</a:t>
            </a:r>
            <a:r>
              <a:rPr sz="2000" spc="-25" dirty="0">
                <a:solidFill>
                  <a:srgbClr val="282828"/>
                </a:solidFill>
                <a:latin typeface="Times New Roman"/>
                <a:cs typeface="Times New Roman"/>
              </a:rPr>
              <a:t> in:</a:t>
            </a:r>
            <a:endParaRPr sz="2000">
              <a:latin typeface="Times New Roman"/>
              <a:cs typeface="Times New Roman"/>
            </a:endParaRPr>
          </a:p>
          <a:p>
            <a:pPr marL="469265" indent="-366395">
              <a:lnSpc>
                <a:spcPct val="100000"/>
              </a:lnSpc>
              <a:spcBef>
                <a:spcPts val="1560"/>
              </a:spcBef>
              <a:buClr>
                <a:srgbClr val="000000"/>
              </a:buClr>
              <a:buSzPct val="90000"/>
              <a:buFont typeface="Tahoma"/>
              <a:buChar char="●"/>
              <a:tabLst>
                <a:tab pos="469265" algn="l"/>
              </a:tabLst>
            </a:pP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Network</a:t>
            </a:r>
            <a:r>
              <a:rPr sz="2000" spc="-70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282828"/>
                </a:solidFill>
                <a:latin typeface="Times New Roman"/>
                <a:cs typeface="Times New Roman"/>
              </a:rPr>
              <a:t>routing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40"/>
              </a:spcBef>
              <a:buFont typeface="Tahoma"/>
              <a:buChar char="●"/>
            </a:pPr>
            <a:endParaRPr sz="2000">
              <a:latin typeface="Times New Roman"/>
              <a:cs typeface="Times New Roman"/>
            </a:endParaRPr>
          </a:p>
          <a:p>
            <a:pPr marL="469265" indent="-366395">
              <a:lnSpc>
                <a:spcPct val="100000"/>
              </a:lnSpc>
              <a:spcBef>
                <a:spcPts val="5"/>
              </a:spcBef>
              <a:buClr>
                <a:srgbClr val="000000"/>
              </a:buClr>
              <a:buSzPct val="90000"/>
              <a:buFont typeface="Tahoma"/>
              <a:buChar char="●"/>
              <a:tabLst>
                <a:tab pos="469265" algn="l"/>
              </a:tabLst>
            </a:pP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Data</a:t>
            </a:r>
            <a:r>
              <a:rPr sz="2000" spc="-2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compression</a:t>
            </a:r>
            <a:r>
              <a:rPr sz="2000" spc="-20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(Huffman</a:t>
            </a:r>
            <a:r>
              <a:rPr sz="2000" spc="-1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282828"/>
                </a:solidFill>
                <a:latin typeface="Times New Roman"/>
                <a:cs typeface="Times New Roman"/>
              </a:rPr>
              <a:t>coding)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40"/>
              </a:spcBef>
              <a:buFont typeface="Tahoma"/>
              <a:buChar char="●"/>
            </a:pPr>
            <a:endParaRPr sz="2000">
              <a:latin typeface="Times New Roman"/>
              <a:cs typeface="Times New Roman"/>
            </a:endParaRPr>
          </a:p>
          <a:p>
            <a:pPr marL="469265" indent="-366395">
              <a:lnSpc>
                <a:spcPct val="100000"/>
              </a:lnSpc>
              <a:buClr>
                <a:srgbClr val="000000"/>
              </a:buClr>
              <a:buSzPct val="90000"/>
              <a:buFont typeface="Tahoma"/>
              <a:buChar char="●"/>
              <a:tabLst>
                <a:tab pos="469265" algn="l"/>
              </a:tabLst>
            </a:pP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Scheduling </a:t>
            </a:r>
            <a:r>
              <a:rPr sz="2000" spc="-10" dirty="0">
                <a:solidFill>
                  <a:srgbClr val="282828"/>
                </a:solidFill>
                <a:latin typeface="Times New Roman"/>
                <a:cs typeface="Times New Roman"/>
              </a:rPr>
              <a:t>tasks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45"/>
              </a:spcBef>
              <a:buFont typeface="Tahoma"/>
              <a:buChar char="●"/>
            </a:pPr>
            <a:endParaRPr sz="2000">
              <a:latin typeface="Times New Roman"/>
              <a:cs typeface="Times New Roman"/>
            </a:endParaRPr>
          </a:p>
          <a:p>
            <a:pPr marL="469265" indent="-366395">
              <a:lnSpc>
                <a:spcPct val="100000"/>
              </a:lnSpc>
              <a:buClr>
                <a:srgbClr val="000000"/>
              </a:buClr>
              <a:buSzPct val="90000"/>
              <a:buFont typeface="Tahoma"/>
              <a:buChar char="●"/>
              <a:tabLst>
                <a:tab pos="469265" algn="l"/>
              </a:tabLst>
            </a:pP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Resource</a:t>
            </a:r>
            <a:r>
              <a:rPr sz="2000" spc="-40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282828"/>
                </a:solidFill>
                <a:latin typeface="Times New Roman"/>
                <a:cs typeface="Times New Roman"/>
              </a:rPr>
              <a:t>allocation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560"/>
              </a:spcBef>
            </a:pP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These</a:t>
            </a:r>
            <a:r>
              <a:rPr sz="2000" spc="-3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algorithms</a:t>
            </a:r>
            <a:r>
              <a:rPr sz="2000" spc="-2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are</a:t>
            </a:r>
            <a:r>
              <a:rPr sz="2000" spc="-20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popular</a:t>
            </a:r>
            <a:r>
              <a:rPr sz="2000" spc="-20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because</a:t>
            </a:r>
            <a:r>
              <a:rPr sz="2000" spc="-2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they</a:t>
            </a:r>
            <a:r>
              <a:rPr sz="2000" spc="-1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produce</a:t>
            </a:r>
            <a:r>
              <a:rPr sz="2000" spc="-2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good</a:t>
            </a:r>
            <a:r>
              <a:rPr sz="2000" spc="-20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results</a:t>
            </a:r>
            <a:r>
              <a:rPr sz="2000" spc="-20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282828"/>
                </a:solidFill>
                <a:latin typeface="Times New Roman"/>
                <a:cs typeface="Times New Roman"/>
              </a:rPr>
              <a:t>quickly.</a:t>
            </a:r>
            <a:endParaRPr sz="2000">
              <a:latin typeface="Times New Roman"/>
              <a:cs typeface="Times New Roman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0"/>
            <a:ext cx="222885" cy="5143500"/>
            <a:chOff x="0" y="0"/>
            <a:chExt cx="222885" cy="514350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222880" cy="514350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0" y="0"/>
              <a:ext cx="182880" cy="5143500"/>
            </a:xfrm>
            <a:custGeom>
              <a:avLst/>
              <a:gdLst/>
              <a:ahLst/>
              <a:cxnLst/>
              <a:rect l="l" t="t" r="r" b="b"/>
              <a:pathLst>
                <a:path w="182880" h="5143500">
                  <a:moveTo>
                    <a:pt x="182879" y="5143499"/>
                  </a:moveTo>
                  <a:lnTo>
                    <a:pt x="0" y="5143499"/>
                  </a:lnTo>
                  <a:lnTo>
                    <a:pt x="0" y="0"/>
                  </a:lnTo>
                  <a:lnTo>
                    <a:pt x="182879" y="0"/>
                  </a:lnTo>
                  <a:lnTo>
                    <a:pt x="182879" y="5143499"/>
                  </a:lnTo>
                  <a:close/>
                </a:path>
              </a:pathLst>
            </a:custGeom>
            <a:solidFill>
              <a:srgbClr val="00B0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pc="-10" dirty="0"/>
              <a:t>Conclusion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215340"/>
            <a:ext cx="7724140" cy="26790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100"/>
              </a:spcBef>
              <a:buClr>
                <a:srgbClr val="000000"/>
              </a:buClr>
              <a:buSzPct val="90000"/>
              <a:buFont typeface="Tahoma"/>
              <a:buChar char="●"/>
              <a:tabLst>
                <a:tab pos="379095" algn="l"/>
              </a:tabLst>
            </a:pP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Greedy</a:t>
            </a:r>
            <a:r>
              <a:rPr sz="2000" spc="-2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algorithms</a:t>
            </a:r>
            <a:r>
              <a:rPr sz="2000" spc="-2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choose</a:t>
            </a:r>
            <a:r>
              <a:rPr sz="2000" spc="-30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the</a:t>
            </a:r>
            <a:r>
              <a:rPr sz="2000" spc="-2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best</a:t>
            </a:r>
            <a:r>
              <a:rPr sz="2000" spc="-30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immediate</a:t>
            </a:r>
            <a:r>
              <a:rPr sz="2000" spc="-2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solution</a:t>
            </a:r>
            <a:r>
              <a:rPr sz="2000" spc="-20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at</a:t>
            </a:r>
            <a:r>
              <a:rPr sz="2000" spc="-30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every</a:t>
            </a:r>
            <a:r>
              <a:rPr sz="2000" spc="-20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282828"/>
                </a:solidFill>
                <a:latin typeface="Times New Roman"/>
                <a:cs typeface="Times New Roman"/>
              </a:rPr>
              <a:t>step.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40"/>
              </a:spcBef>
              <a:buFont typeface="Tahoma"/>
              <a:buChar char="●"/>
            </a:pPr>
            <a:endParaRPr sz="2000">
              <a:latin typeface="Times New Roman"/>
              <a:cs typeface="Times New Roman"/>
            </a:endParaRPr>
          </a:p>
          <a:p>
            <a:pPr marL="379095" indent="-366395">
              <a:lnSpc>
                <a:spcPct val="100000"/>
              </a:lnSpc>
              <a:spcBef>
                <a:spcPts val="5"/>
              </a:spcBef>
              <a:buClr>
                <a:srgbClr val="000000"/>
              </a:buClr>
              <a:buSzPct val="90000"/>
              <a:buFont typeface="Tahoma"/>
              <a:buChar char="●"/>
              <a:tabLst>
                <a:tab pos="379095" algn="l"/>
              </a:tabLst>
            </a:pP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They</a:t>
            </a:r>
            <a:r>
              <a:rPr sz="2000" spc="-10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are</a:t>
            </a:r>
            <a:r>
              <a:rPr sz="2000" spc="-1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widely</a:t>
            </a:r>
            <a:r>
              <a:rPr sz="2000" spc="-10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used</a:t>
            </a:r>
            <a:r>
              <a:rPr sz="2000" spc="-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for</a:t>
            </a:r>
            <a:r>
              <a:rPr sz="2000" spc="-10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optimization</a:t>
            </a:r>
            <a:r>
              <a:rPr sz="2000" spc="-10" dirty="0">
                <a:solidFill>
                  <a:srgbClr val="282828"/>
                </a:solidFill>
                <a:latin typeface="Times New Roman"/>
                <a:cs typeface="Times New Roman"/>
              </a:rPr>
              <a:t> problems.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40"/>
              </a:spcBef>
              <a:buFont typeface="Tahoma"/>
              <a:buChar char="●"/>
            </a:pPr>
            <a:endParaRPr sz="2000">
              <a:latin typeface="Times New Roman"/>
              <a:cs typeface="Times New Roman"/>
            </a:endParaRPr>
          </a:p>
          <a:p>
            <a:pPr marL="379095" indent="-366395">
              <a:lnSpc>
                <a:spcPct val="100000"/>
              </a:lnSpc>
              <a:buClr>
                <a:srgbClr val="000000"/>
              </a:buClr>
              <a:buSzPct val="90000"/>
              <a:buFont typeface="Tahoma"/>
              <a:buChar char="●"/>
              <a:tabLst>
                <a:tab pos="379095" algn="l"/>
              </a:tabLst>
            </a:pP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Example:</a:t>
            </a:r>
            <a:r>
              <a:rPr sz="2000" spc="-3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Fractional</a:t>
            </a:r>
            <a:r>
              <a:rPr sz="2000" spc="-2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282828"/>
                </a:solidFill>
                <a:latin typeface="Times New Roman"/>
                <a:cs typeface="Times New Roman"/>
              </a:rPr>
              <a:t>Knapsack,</a:t>
            </a:r>
            <a:r>
              <a:rPr sz="2000" spc="-114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Activity</a:t>
            </a:r>
            <a:r>
              <a:rPr sz="2000" spc="-20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282828"/>
                </a:solidFill>
                <a:latin typeface="Times New Roman"/>
                <a:cs typeface="Times New Roman"/>
              </a:rPr>
              <a:t>Selection.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85"/>
              </a:spcBef>
              <a:buFont typeface="Tahoma"/>
              <a:buChar char="●"/>
            </a:pPr>
            <a:endParaRPr sz="2000">
              <a:latin typeface="Times New Roman"/>
              <a:cs typeface="Times New Roman"/>
            </a:endParaRPr>
          </a:p>
          <a:p>
            <a:pPr marL="379095" marR="5080" indent="-367030">
              <a:lnSpc>
                <a:spcPct val="114999"/>
              </a:lnSpc>
              <a:buClr>
                <a:srgbClr val="000000"/>
              </a:buClr>
              <a:buSzPct val="90000"/>
              <a:buFont typeface="Tahoma"/>
              <a:buChar char="●"/>
              <a:tabLst>
                <a:tab pos="379095" algn="l"/>
              </a:tabLst>
            </a:pP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Although</a:t>
            </a:r>
            <a:r>
              <a:rPr sz="2000" spc="-30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simple</a:t>
            </a:r>
            <a:r>
              <a:rPr sz="2000" spc="-1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and</a:t>
            </a:r>
            <a:r>
              <a:rPr sz="2000" spc="-20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efficient,</a:t>
            </a:r>
            <a:r>
              <a:rPr sz="2000" spc="-1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they</a:t>
            </a:r>
            <a:r>
              <a:rPr sz="2000" spc="-1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do</a:t>
            </a:r>
            <a:r>
              <a:rPr sz="2000" spc="-1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not</a:t>
            </a:r>
            <a:r>
              <a:rPr sz="2000" spc="-20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always</a:t>
            </a:r>
            <a:r>
              <a:rPr sz="2000" spc="-20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guarantee</a:t>
            </a:r>
            <a:r>
              <a:rPr sz="2000" spc="-20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the</a:t>
            </a:r>
            <a:r>
              <a:rPr sz="2000" spc="-1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282828"/>
                </a:solidFill>
                <a:latin typeface="Times New Roman"/>
                <a:cs typeface="Times New Roman"/>
              </a:rPr>
              <a:t>optimal solution.</a:t>
            </a:r>
            <a:endParaRPr sz="2000">
              <a:latin typeface="Times New Roman"/>
              <a:cs typeface="Times New Roman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0"/>
            <a:ext cx="222885" cy="5143500"/>
            <a:chOff x="0" y="0"/>
            <a:chExt cx="222885" cy="514350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222880" cy="514350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0" y="0"/>
              <a:ext cx="182880" cy="5143500"/>
            </a:xfrm>
            <a:custGeom>
              <a:avLst/>
              <a:gdLst/>
              <a:ahLst/>
              <a:cxnLst/>
              <a:rect l="l" t="t" r="r" b="b"/>
              <a:pathLst>
                <a:path w="182880" h="5143500">
                  <a:moveTo>
                    <a:pt x="182879" y="5143499"/>
                  </a:moveTo>
                  <a:lnTo>
                    <a:pt x="0" y="5143499"/>
                  </a:lnTo>
                  <a:lnTo>
                    <a:pt x="0" y="0"/>
                  </a:lnTo>
                  <a:lnTo>
                    <a:pt x="182879" y="0"/>
                  </a:lnTo>
                  <a:lnTo>
                    <a:pt x="182879" y="5143499"/>
                  </a:lnTo>
                  <a:close/>
                </a:path>
              </a:pathLst>
            </a:custGeom>
            <a:solidFill>
              <a:srgbClr val="00B0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2266442"/>
            <a:ext cx="214757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Thank</a:t>
            </a:r>
            <a:r>
              <a:rPr sz="3600" spc="-25" dirty="0"/>
              <a:t> you</a:t>
            </a:r>
            <a:endParaRPr sz="3600"/>
          </a:p>
        </p:txBody>
      </p:sp>
      <p:grpSp>
        <p:nvGrpSpPr>
          <p:cNvPr id="3" name="object 3"/>
          <p:cNvGrpSpPr/>
          <p:nvPr/>
        </p:nvGrpSpPr>
        <p:grpSpPr>
          <a:xfrm>
            <a:off x="0" y="0"/>
            <a:ext cx="222885" cy="5143500"/>
            <a:chOff x="0" y="0"/>
            <a:chExt cx="222885" cy="51435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222880" cy="514350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0" y="0"/>
              <a:ext cx="182880" cy="5143500"/>
            </a:xfrm>
            <a:custGeom>
              <a:avLst/>
              <a:gdLst/>
              <a:ahLst/>
              <a:cxnLst/>
              <a:rect l="l" t="t" r="r" b="b"/>
              <a:pathLst>
                <a:path w="182880" h="5143500">
                  <a:moveTo>
                    <a:pt x="182879" y="5143499"/>
                  </a:moveTo>
                  <a:lnTo>
                    <a:pt x="0" y="5143499"/>
                  </a:lnTo>
                  <a:lnTo>
                    <a:pt x="0" y="0"/>
                  </a:lnTo>
                  <a:lnTo>
                    <a:pt x="182879" y="0"/>
                  </a:lnTo>
                  <a:lnTo>
                    <a:pt x="182879" y="5143499"/>
                  </a:lnTo>
                  <a:close/>
                </a:path>
              </a:pathLst>
            </a:custGeom>
            <a:solidFill>
              <a:srgbClr val="00B0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</TotalTime>
  <Words>539</Words>
  <Application>Microsoft Office PowerPoint</Application>
  <PresentationFormat>On-screen Show (16:9)</PresentationFormat>
  <Paragraphs>130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Calibri</vt:lpstr>
      <vt:lpstr>Palatino Linotype</vt:lpstr>
      <vt:lpstr>Tahoma</vt:lpstr>
      <vt:lpstr>Times New Roman</vt:lpstr>
      <vt:lpstr>Office Theme</vt:lpstr>
      <vt:lpstr>SAL COLLEGE AND ENGINEERING Analysis and Design of Algorithms–(BE04000241) SEM – 4 B Branch – Computer Engineering</vt:lpstr>
      <vt:lpstr>Introduction to Greedy Algorithm</vt:lpstr>
      <vt:lpstr>Key Idea of Greedy Algorithms</vt:lpstr>
      <vt:lpstr>Characteristics of Greedy Algorithms</vt:lpstr>
      <vt:lpstr>General Structure of Greedy Algorithm</vt:lpstr>
      <vt:lpstr>Applications of Greedy Algorithms</vt:lpstr>
      <vt:lpstr>Fractional Knapsack Problem</vt:lpstr>
      <vt:lpstr>Greedy Approach for Fractional Knapsack</vt:lpstr>
      <vt:lpstr>Example of Fractional Knapsack</vt:lpstr>
      <vt:lpstr>Advantages of Greedy Algorithm</vt:lpstr>
      <vt:lpstr>Disadvantages of Greedy Algorithm</vt:lpstr>
      <vt:lpstr>Real-World Applications</vt:lpstr>
      <vt:lpstr>Conclusion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Greedy Algorithm</dc:title>
  <dc:creator>maheriya hardik</dc:creator>
  <cp:lastModifiedBy>maher_27tf</cp:lastModifiedBy>
  <cp:revision>2</cp:revision>
  <dcterms:created xsi:type="dcterms:W3CDTF">2026-03-21T10:15:51Z</dcterms:created>
  <dcterms:modified xsi:type="dcterms:W3CDTF">2026-03-21T10:29:25Z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2026-03-21T00:00:00Z</vt:filetime>
  </property>
  <property fmtid="{D5CDD505-2E9C-101B-9397-08002B2CF9AE}" pid="3" name="Creator">
    <vt:lpwstr>Google</vt:lpwstr>
  </property>
  <property fmtid="{D5CDD505-2E9C-101B-9397-08002B2CF9AE}" pid="4" name="LastSaved">
    <vt:filetime>2026-03-21T00:00:00Z</vt:filetime>
  </property>
</Properties>
</file>