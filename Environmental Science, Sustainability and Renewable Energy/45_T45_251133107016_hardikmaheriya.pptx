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286750"/>
  <p:notesSz cx="11430000" cy="8286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24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C3F4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C3F4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C3F4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87374" y="1443512"/>
            <a:ext cx="4860925" cy="449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A2E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20928" y="1443512"/>
            <a:ext cx="4909184" cy="449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A2E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C3F4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444500"/>
            <a:ext cx="10255250" cy="83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C3F4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4"/>
            <a:ext cx="4286250" cy="505752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009775"/>
            <a:ext cx="488442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80" dirty="0"/>
              <a:t>Sustainable</a:t>
            </a:r>
            <a:r>
              <a:rPr spc="-254" dirty="0"/>
              <a:t> </a:t>
            </a:r>
            <a:r>
              <a:rPr spc="70" dirty="0"/>
              <a:t>Development </a:t>
            </a:r>
            <a:r>
              <a:rPr spc="120" dirty="0"/>
              <a:t>Goals</a:t>
            </a:r>
            <a:r>
              <a:rPr spc="-265" dirty="0"/>
              <a:t> </a:t>
            </a:r>
            <a:r>
              <a:rPr dirty="0"/>
              <a:t>(SDGs)</a:t>
            </a:r>
            <a:r>
              <a:rPr spc="-260" dirty="0"/>
              <a:t> </a:t>
            </a:r>
            <a:r>
              <a:rPr spc="385" dirty="0"/>
              <a:t>–</a:t>
            </a:r>
            <a:r>
              <a:rPr spc="-265" dirty="0"/>
              <a:t> </a:t>
            </a:r>
            <a:r>
              <a:rPr spc="35" dirty="0"/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5" y="3387725"/>
            <a:ext cx="5298440" cy="23132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30" dirty="0">
                <a:solidFill>
                  <a:srgbClr val="2B2E3C"/>
                </a:solidFill>
                <a:latin typeface="Verdana"/>
                <a:cs typeface="Verdana"/>
              </a:rPr>
              <a:t>Subject:</a:t>
            </a:r>
            <a:r>
              <a:rPr sz="160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175" dirty="0">
                <a:solidFill>
                  <a:srgbClr val="2B2E3C"/>
                </a:solidFill>
                <a:latin typeface="Verdana"/>
                <a:cs typeface="Verdana"/>
              </a:rPr>
              <a:t>ESSR</a:t>
            </a:r>
            <a:r>
              <a:rPr sz="1600" spc="-145" dirty="0">
                <a:solidFill>
                  <a:srgbClr val="2B2E3C"/>
                </a:solidFill>
                <a:latin typeface="Verdana"/>
                <a:cs typeface="Verdana"/>
              </a:rPr>
              <a:t> (BE04000101)</a:t>
            </a:r>
            <a:r>
              <a:rPr sz="160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2B2E3C"/>
                </a:solidFill>
                <a:latin typeface="Verdana"/>
                <a:cs typeface="Verdana"/>
              </a:rPr>
              <a:t>|</a:t>
            </a:r>
            <a:r>
              <a:rPr sz="160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125" dirty="0">
                <a:solidFill>
                  <a:srgbClr val="2B2E3C"/>
                </a:solidFill>
                <a:latin typeface="Verdana"/>
                <a:cs typeface="Verdana"/>
              </a:rPr>
              <a:t>Semester:</a:t>
            </a:r>
            <a:r>
              <a:rPr sz="160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2B2E3C"/>
                </a:solidFill>
                <a:latin typeface="Verdana"/>
                <a:cs typeface="Verdana"/>
              </a:rPr>
              <a:t>4</a:t>
            </a:r>
            <a:r>
              <a:rPr sz="160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2B2E3C"/>
                </a:solidFill>
                <a:latin typeface="Verdana"/>
                <a:cs typeface="Verdana"/>
              </a:rPr>
              <a:t>|</a:t>
            </a:r>
            <a:endParaRPr lang="en-IN" sz="1600" spc="125" dirty="0">
              <a:solidFill>
                <a:srgbClr val="2B2E3C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1600" spc="125" dirty="0">
              <a:solidFill>
                <a:srgbClr val="2B2E3C"/>
              </a:solidFill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70" dirty="0">
                <a:solidFill>
                  <a:srgbClr val="2B2E3C"/>
                </a:solidFill>
                <a:latin typeface="Verdana"/>
                <a:cs typeface="Verdana"/>
              </a:rPr>
              <a:t>Guided</a:t>
            </a:r>
            <a:r>
              <a:rPr sz="160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165" dirty="0">
                <a:solidFill>
                  <a:srgbClr val="2B2E3C"/>
                </a:solidFill>
                <a:latin typeface="Verdana"/>
                <a:cs typeface="Verdana"/>
              </a:rPr>
              <a:t>by:</a:t>
            </a:r>
            <a:r>
              <a:rPr sz="160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2B2E3C"/>
                </a:solidFill>
                <a:latin typeface="Arial Black"/>
                <a:cs typeface="Arial Black"/>
              </a:rPr>
              <a:t>Hema</a:t>
            </a:r>
            <a:r>
              <a:rPr sz="1600" spc="-12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2B2E3C"/>
                </a:solidFill>
                <a:latin typeface="Arial Black"/>
                <a:cs typeface="Arial Black"/>
              </a:rPr>
              <a:t>Vanar</a:t>
            </a:r>
            <a:endParaRPr sz="1600" dirty="0">
              <a:latin typeface="Arial Black"/>
              <a:cs typeface="Arial Black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sz="1600" spc="-114" dirty="0">
                <a:solidFill>
                  <a:srgbClr val="2B2E3C"/>
                </a:solidFill>
                <a:latin typeface="Verdana"/>
                <a:cs typeface="Verdana"/>
              </a:rPr>
              <a:t>College:</a:t>
            </a:r>
            <a:r>
              <a:rPr sz="160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195" dirty="0">
                <a:solidFill>
                  <a:srgbClr val="2B2E3C"/>
                </a:solidFill>
                <a:latin typeface="Arial Black"/>
                <a:cs typeface="Arial Black"/>
              </a:rPr>
              <a:t>SAL</a:t>
            </a:r>
            <a:r>
              <a:rPr sz="1600" spc="-114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600" spc="-135" dirty="0">
                <a:solidFill>
                  <a:srgbClr val="2B2E3C"/>
                </a:solidFill>
                <a:latin typeface="Arial Black"/>
                <a:cs typeface="Arial Black"/>
              </a:rPr>
              <a:t>College</a:t>
            </a:r>
            <a:r>
              <a:rPr sz="1600" spc="-114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600" spc="-60" dirty="0">
                <a:solidFill>
                  <a:srgbClr val="2B2E3C"/>
                </a:solidFill>
                <a:latin typeface="Arial Black"/>
                <a:cs typeface="Arial Black"/>
              </a:rPr>
              <a:t>of</a:t>
            </a:r>
            <a:r>
              <a:rPr sz="1600" spc="-12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600" spc="-110" dirty="0">
                <a:solidFill>
                  <a:srgbClr val="2B2E3C"/>
                </a:solidFill>
                <a:latin typeface="Arial Black"/>
                <a:cs typeface="Arial Black"/>
              </a:rPr>
              <a:t>Engineering</a:t>
            </a:r>
            <a:r>
              <a:rPr sz="1600" spc="-114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600" spc="125" dirty="0">
                <a:solidFill>
                  <a:srgbClr val="2B2E3C"/>
                </a:solidFill>
                <a:latin typeface="Verdana"/>
                <a:cs typeface="Verdana"/>
              </a:rPr>
              <a:t>|</a:t>
            </a:r>
            <a:endParaRPr lang="en-IN" sz="1600" spc="125" dirty="0">
              <a:solidFill>
                <a:srgbClr val="2B2E3C"/>
              </a:solidFill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sz="1600" spc="-120" dirty="0">
                <a:solidFill>
                  <a:srgbClr val="2B2E3C"/>
                </a:solidFill>
                <a:latin typeface="Verdana"/>
                <a:cs typeface="Verdana"/>
              </a:rPr>
              <a:t>Name:</a:t>
            </a:r>
            <a:r>
              <a:rPr sz="160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2B2E3C"/>
                </a:solidFill>
                <a:latin typeface="Arial Black"/>
                <a:cs typeface="Arial Black"/>
              </a:rPr>
              <a:t>Maheriya</a:t>
            </a:r>
            <a:r>
              <a:rPr sz="1600" spc="-114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600" spc="-50" dirty="0">
                <a:solidFill>
                  <a:srgbClr val="2B2E3C"/>
                </a:solidFill>
                <a:latin typeface="Arial Black"/>
                <a:cs typeface="Arial Black"/>
              </a:rPr>
              <a:t>Hardikbhai </a:t>
            </a:r>
            <a:r>
              <a:rPr sz="1600" spc="-105" dirty="0">
                <a:solidFill>
                  <a:srgbClr val="2B2E3C"/>
                </a:solidFill>
                <a:latin typeface="Arial Black"/>
                <a:cs typeface="Arial Black"/>
              </a:rPr>
              <a:t>Sureshbhai</a:t>
            </a:r>
            <a:r>
              <a:rPr sz="1600" spc="-114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600" spc="125" dirty="0">
                <a:solidFill>
                  <a:srgbClr val="2B2E3C"/>
                </a:solidFill>
                <a:latin typeface="Verdana"/>
                <a:cs typeface="Verdana"/>
              </a:rPr>
              <a:t>|</a:t>
            </a:r>
            <a:r>
              <a:rPr sz="160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endParaRPr lang="en-IN" sz="1600" spc="-140" dirty="0">
              <a:solidFill>
                <a:srgbClr val="2B2E3C"/>
              </a:solidFill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sz="1600" spc="-80" dirty="0">
                <a:solidFill>
                  <a:srgbClr val="2B2E3C"/>
                </a:solidFill>
                <a:latin typeface="Verdana"/>
                <a:cs typeface="Verdana"/>
              </a:rPr>
              <a:t>Enrollment</a:t>
            </a:r>
            <a:r>
              <a:rPr sz="160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120" dirty="0">
                <a:solidFill>
                  <a:srgbClr val="2B2E3C"/>
                </a:solidFill>
                <a:latin typeface="Verdana"/>
                <a:cs typeface="Verdana"/>
              </a:rPr>
              <a:t>No:</a:t>
            </a:r>
            <a:r>
              <a:rPr sz="160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2B2E3C"/>
                </a:solidFill>
                <a:latin typeface="Arial Black"/>
                <a:cs typeface="Arial Black"/>
              </a:rPr>
              <a:t>251133107016</a:t>
            </a:r>
            <a:endParaRPr sz="1600" dirty="0">
              <a:latin typeface="Arial Black"/>
              <a:cs typeface="Arial Blac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6E7A4-2C9A-4E1A-B1AB-CBC83FCC8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449" y="5057775"/>
            <a:ext cx="4038600" cy="32287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Introduction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DA63257-2DF8-45F8-A9AE-5107743BF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4" name="object 4"/>
          <p:cNvGrpSpPr/>
          <p:nvPr/>
        </p:nvGrpSpPr>
        <p:grpSpPr>
          <a:xfrm>
            <a:off x="581025" y="1352549"/>
            <a:ext cx="5962650" cy="1581150"/>
            <a:chOff x="581025" y="1352549"/>
            <a:chExt cx="5962650" cy="1581150"/>
          </a:xfrm>
        </p:grpSpPr>
        <p:sp>
          <p:nvSpPr>
            <p:cNvPr id="5" name="object 5"/>
            <p:cNvSpPr/>
            <p:nvPr/>
          </p:nvSpPr>
          <p:spPr>
            <a:xfrm>
              <a:off x="600075" y="1362074"/>
              <a:ext cx="5934075" cy="1562100"/>
            </a:xfrm>
            <a:custGeom>
              <a:avLst/>
              <a:gdLst/>
              <a:ahLst/>
              <a:cxnLst/>
              <a:rect l="l" t="t" r="r" b="b"/>
              <a:pathLst>
                <a:path w="5934075" h="1562100">
                  <a:moveTo>
                    <a:pt x="588690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495425"/>
                  </a:lnTo>
                  <a:lnTo>
                    <a:pt x="0" y="1499806"/>
                  </a:lnTo>
                  <a:lnTo>
                    <a:pt x="15622" y="1536103"/>
                  </a:lnTo>
                  <a:lnTo>
                    <a:pt x="51663" y="1558696"/>
                  </a:lnTo>
                  <a:lnTo>
                    <a:pt x="71194" y="1562100"/>
                  </a:lnTo>
                  <a:lnTo>
                    <a:pt x="5886907" y="1562100"/>
                  </a:lnTo>
                  <a:lnTo>
                    <a:pt x="5921629" y="1544967"/>
                  </a:lnTo>
                  <a:lnTo>
                    <a:pt x="5933097" y="1521460"/>
                  </a:lnTo>
                  <a:lnTo>
                    <a:pt x="5933757" y="1518221"/>
                  </a:lnTo>
                  <a:lnTo>
                    <a:pt x="5934075" y="1514932"/>
                  </a:lnTo>
                  <a:lnTo>
                    <a:pt x="5934075" y="47167"/>
                  </a:lnTo>
                  <a:lnTo>
                    <a:pt x="5916942" y="12446"/>
                  </a:lnTo>
                  <a:lnTo>
                    <a:pt x="5890196" y="317"/>
                  </a:lnTo>
                  <a:lnTo>
                    <a:pt x="5886907" y="0"/>
                  </a:lnTo>
                  <a:close/>
                </a:path>
              </a:pathLst>
            </a:custGeom>
            <a:solidFill>
              <a:srgbClr val="FFF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913" y="1352562"/>
              <a:ext cx="5942965" cy="1581150"/>
            </a:xfrm>
            <a:custGeom>
              <a:avLst/>
              <a:gdLst/>
              <a:ahLst/>
              <a:cxnLst/>
              <a:rect l="l" t="t" r="r" b="b"/>
              <a:pathLst>
                <a:path w="5942965" h="1581150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1521142"/>
                  </a:lnTo>
                  <a:lnTo>
                    <a:pt x="5912142" y="1549577"/>
                  </a:lnTo>
                  <a:lnTo>
                    <a:pt x="5911710" y="1550098"/>
                  </a:lnTo>
                  <a:lnTo>
                    <a:pt x="588274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92" y="1519821"/>
                  </a:lnTo>
                  <a:lnTo>
                    <a:pt x="0" y="1515706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5890704" y="1581150"/>
                  </a:lnTo>
                  <a:lnTo>
                    <a:pt x="5897981" y="1579689"/>
                  </a:lnTo>
                  <a:lnTo>
                    <a:pt x="5898172" y="1579689"/>
                  </a:lnTo>
                  <a:lnTo>
                    <a:pt x="5913056" y="1573530"/>
                  </a:lnTo>
                  <a:lnTo>
                    <a:pt x="5919546" y="1569199"/>
                  </a:lnTo>
                  <a:lnTo>
                    <a:pt x="5925172" y="1563573"/>
                  </a:lnTo>
                  <a:lnTo>
                    <a:pt x="5925655" y="1563090"/>
                  </a:lnTo>
                  <a:lnTo>
                    <a:pt x="5930798" y="1557947"/>
                  </a:lnTo>
                  <a:lnTo>
                    <a:pt x="5935129" y="1551457"/>
                  </a:lnTo>
                  <a:lnTo>
                    <a:pt x="5941187" y="1536852"/>
                  </a:lnTo>
                  <a:lnTo>
                    <a:pt x="5942711" y="1529308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E2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1025" y="1352549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9" y="1560791"/>
                  </a:lnTo>
                  <a:lnTo>
                    <a:pt x="52163" y="1580769"/>
                  </a:lnTo>
                  <a:lnTo>
                    <a:pt x="56067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D25F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5025" y="1516062"/>
            <a:ext cx="5045710" cy="11982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60" dirty="0">
                <a:solidFill>
                  <a:srgbClr val="2B2E3C"/>
                </a:solidFill>
                <a:latin typeface="Cambria"/>
                <a:cs typeface="Cambria"/>
              </a:rPr>
              <a:t>Meeting</a:t>
            </a:r>
            <a:r>
              <a:rPr sz="1650" spc="-5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20" dirty="0">
                <a:solidFill>
                  <a:srgbClr val="2B2E3C"/>
                </a:solidFill>
                <a:latin typeface="Cambria"/>
                <a:cs typeface="Cambria"/>
              </a:rPr>
              <a:t>Present</a:t>
            </a:r>
            <a:r>
              <a:rPr sz="1650" spc="-5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55" dirty="0">
                <a:solidFill>
                  <a:srgbClr val="2B2E3C"/>
                </a:solidFill>
                <a:latin typeface="Cambria"/>
                <a:cs typeface="Cambria"/>
              </a:rPr>
              <a:t>Needs</a:t>
            </a:r>
            <a:endParaRPr sz="1650">
              <a:latin typeface="Cambria"/>
              <a:cs typeface="Cambria"/>
            </a:endParaRPr>
          </a:p>
          <a:p>
            <a:pPr marL="12700" marR="5080" algn="just">
              <a:lnSpc>
                <a:spcPct val="134300"/>
              </a:lnSpc>
              <a:spcBef>
                <a:spcPts val="690"/>
              </a:spcBef>
            </a:pPr>
            <a:r>
              <a:rPr sz="1350" spc="-105" dirty="0">
                <a:solidFill>
                  <a:srgbClr val="2B2E3C"/>
                </a:solidFill>
                <a:latin typeface="Verdana"/>
                <a:cs typeface="Verdana"/>
              </a:rPr>
              <a:t>Sustainable</a:t>
            </a:r>
            <a:r>
              <a:rPr sz="1350" spc="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development</a:t>
            </a:r>
            <a:r>
              <a:rPr sz="1350" spc="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meets</a:t>
            </a:r>
            <a:r>
              <a:rPr sz="1350" spc="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B2E3C"/>
                </a:solidFill>
                <a:latin typeface="Verdana"/>
                <a:cs typeface="Verdana"/>
              </a:rPr>
              <a:t>needs</a:t>
            </a:r>
            <a:r>
              <a:rPr sz="1350" spc="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of</a:t>
            </a:r>
            <a:r>
              <a:rPr sz="1350" spc="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present</a:t>
            </a:r>
            <a:r>
              <a:rPr sz="1350" spc="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without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compromising</a:t>
            </a:r>
            <a:r>
              <a:rPr sz="1350" spc="-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ability</a:t>
            </a:r>
            <a:r>
              <a:rPr sz="1350" spc="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of</a:t>
            </a:r>
            <a:r>
              <a:rPr sz="1350" spc="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future</a:t>
            </a:r>
            <a:r>
              <a:rPr sz="1350" spc="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generations</a:t>
            </a:r>
            <a:r>
              <a:rPr sz="1350" spc="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7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meet</a:t>
            </a:r>
            <a:r>
              <a:rPr sz="1350" spc="1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B2E3C"/>
                </a:solidFill>
                <a:latin typeface="Verdana"/>
                <a:cs typeface="Verdana"/>
              </a:rPr>
              <a:t>their</a:t>
            </a:r>
            <a:r>
              <a:rPr sz="1350" spc="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own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needs.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1025" y="3105149"/>
            <a:ext cx="5962650" cy="1295400"/>
            <a:chOff x="581025" y="3105149"/>
            <a:chExt cx="5962650" cy="1295400"/>
          </a:xfrm>
        </p:grpSpPr>
        <p:sp>
          <p:nvSpPr>
            <p:cNvPr id="10" name="object 10"/>
            <p:cNvSpPr/>
            <p:nvPr/>
          </p:nvSpPr>
          <p:spPr>
            <a:xfrm>
              <a:off x="600075" y="3114674"/>
              <a:ext cx="5934075" cy="1276350"/>
            </a:xfrm>
            <a:custGeom>
              <a:avLst/>
              <a:gdLst/>
              <a:ahLst/>
              <a:cxnLst/>
              <a:rect l="l" t="t" r="r" b="b"/>
              <a:pathLst>
                <a:path w="5934075" h="1276350">
                  <a:moveTo>
                    <a:pt x="588690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09675"/>
                  </a:lnTo>
                  <a:lnTo>
                    <a:pt x="0" y="1214056"/>
                  </a:lnTo>
                  <a:lnTo>
                    <a:pt x="15622" y="1250353"/>
                  </a:lnTo>
                  <a:lnTo>
                    <a:pt x="51663" y="1272946"/>
                  </a:lnTo>
                  <a:lnTo>
                    <a:pt x="71194" y="1276350"/>
                  </a:lnTo>
                  <a:lnTo>
                    <a:pt x="5886907" y="1276350"/>
                  </a:lnTo>
                  <a:lnTo>
                    <a:pt x="5921629" y="1259217"/>
                  </a:lnTo>
                  <a:lnTo>
                    <a:pt x="5933097" y="1235710"/>
                  </a:lnTo>
                  <a:lnTo>
                    <a:pt x="5933757" y="1232471"/>
                  </a:lnTo>
                  <a:lnTo>
                    <a:pt x="5934075" y="1229182"/>
                  </a:lnTo>
                  <a:lnTo>
                    <a:pt x="5934075" y="47167"/>
                  </a:lnTo>
                  <a:lnTo>
                    <a:pt x="5916942" y="12446"/>
                  </a:lnTo>
                  <a:lnTo>
                    <a:pt x="5890196" y="317"/>
                  </a:lnTo>
                  <a:lnTo>
                    <a:pt x="5886907" y="0"/>
                  </a:lnTo>
                  <a:close/>
                </a:path>
              </a:pathLst>
            </a:custGeom>
            <a:solidFill>
              <a:srgbClr val="FFF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913" y="3105162"/>
              <a:ext cx="5942965" cy="1295400"/>
            </a:xfrm>
            <a:custGeom>
              <a:avLst/>
              <a:gdLst/>
              <a:ahLst/>
              <a:cxnLst/>
              <a:rect l="l" t="t" r="r" b="b"/>
              <a:pathLst>
                <a:path w="5942965" h="1295400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1235392"/>
                  </a:lnTo>
                  <a:lnTo>
                    <a:pt x="5912142" y="1263827"/>
                  </a:lnTo>
                  <a:lnTo>
                    <a:pt x="5911710" y="1264348"/>
                  </a:lnTo>
                  <a:lnTo>
                    <a:pt x="5882741" y="1276350"/>
                  </a:lnTo>
                  <a:lnTo>
                    <a:pt x="75349" y="1276350"/>
                  </a:lnTo>
                  <a:lnTo>
                    <a:pt x="33007" y="1266723"/>
                  </a:lnTo>
                  <a:lnTo>
                    <a:pt x="1092" y="1234071"/>
                  </a:lnTo>
                  <a:lnTo>
                    <a:pt x="0" y="1229956"/>
                  </a:lnTo>
                  <a:lnTo>
                    <a:pt x="609" y="1234071"/>
                  </a:lnTo>
                  <a:lnTo>
                    <a:pt x="2413" y="1241272"/>
                  </a:lnTo>
                  <a:lnTo>
                    <a:pt x="4851" y="1248067"/>
                  </a:lnTo>
                  <a:lnTo>
                    <a:pt x="4953" y="1248359"/>
                  </a:lnTo>
                  <a:lnTo>
                    <a:pt x="33007" y="1282560"/>
                  </a:lnTo>
                  <a:lnTo>
                    <a:pt x="75349" y="1295400"/>
                  </a:lnTo>
                  <a:lnTo>
                    <a:pt x="5890704" y="1295400"/>
                  </a:lnTo>
                  <a:lnTo>
                    <a:pt x="5897981" y="1293939"/>
                  </a:lnTo>
                  <a:lnTo>
                    <a:pt x="5898172" y="1293939"/>
                  </a:lnTo>
                  <a:lnTo>
                    <a:pt x="5913056" y="1287780"/>
                  </a:lnTo>
                  <a:lnTo>
                    <a:pt x="5919546" y="1283449"/>
                  </a:lnTo>
                  <a:lnTo>
                    <a:pt x="5925172" y="1277823"/>
                  </a:lnTo>
                  <a:lnTo>
                    <a:pt x="5925655" y="1277340"/>
                  </a:lnTo>
                  <a:lnTo>
                    <a:pt x="5930798" y="1272197"/>
                  </a:lnTo>
                  <a:lnTo>
                    <a:pt x="5935129" y="1265707"/>
                  </a:lnTo>
                  <a:lnTo>
                    <a:pt x="5941187" y="1251102"/>
                  </a:lnTo>
                  <a:lnTo>
                    <a:pt x="5942711" y="1243558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E2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1025" y="3105149"/>
              <a:ext cx="76200" cy="1295400"/>
            </a:xfrm>
            <a:custGeom>
              <a:avLst/>
              <a:gdLst/>
              <a:ahLst/>
              <a:cxnLst/>
              <a:rect l="l" t="t" r="r" b="b"/>
              <a:pathLst>
                <a:path w="76200" h="1295400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235392"/>
                  </a:lnTo>
                  <a:lnTo>
                    <a:pt x="0" y="1239329"/>
                  </a:lnTo>
                  <a:lnTo>
                    <a:pt x="14789" y="1275041"/>
                  </a:lnTo>
                  <a:lnTo>
                    <a:pt x="52163" y="1295019"/>
                  </a:lnTo>
                  <a:lnTo>
                    <a:pt x="56067" y="1295400"/>
                  </a:lnTo>
                  <a:lnTo>
                    <a:pt x="76200" y="12954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D25F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35023" y="3268662"/>
            <a:ext cx="5233670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Three</a:t>
            </a:r>
            <a:r>
              <a:rPr sz="1650" spc="-3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Pillars</a:t>
            </a:r>
            <a:r>
              <a:rPr sz="1650" spc="-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2B2E3C"/>
                </a:solidFill>
                <a:latin typeface="Cambria"/>
                <a:cs typeface="Cambria"/>
              </a:rPr>
              <a:t>of</a:t>
            </a:r>
            <a:r>
              <a:rPr sz="1650" spc="-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40" dirty="0">
                <a:solidFill>
                  <a:srgbClr val="2B2E3C"/>
                </a:solidFill>
                <a:latin typeface="Cambria"/>
                <a:cs typeface="Cambria"/>
              </a:rPr>
              <a:t>Balance</a:t>
            </a:r>
            <a:endParaRPr sz="16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A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careful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balance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between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30" dirty="0">
                <a:solidFill>
                  <a:srgbClr val="2B2E3C"/>
                </a:solidFill>
                <a:latin typeface="Arial Black"/>
                <a:cs typeface="Arial Black"/>
              </a:rPr>
              <a:t>economic</a:t>
            </a:r>
            <a:r>
              <a:rPr sz="1350" spc="-10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105" dirty="0">
                <a:solidFill>
                  <a:srgbClr val="2B2E3C"/>
                </a:solidFill>
                <a:latin typeface="Arial Black"/>
                <a:cs typeface="Arial Black"/>
              </a:rPr>
              <a:t>growth</a:t>
            </a:r>
            <a:r>
              <a:rPr sz="1350" spc="-105" dirty="0">
                <a:solidFill>
                  <a:srgbClr val="2B2E3C"/>
                </a:solidFill>
                <a:latin typeface="Verdana"/>
                <a:cs typeface="Verdana"/>
              </a:rPr>
              <a:t>,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2B2E3C"/>
                </a:solidFill>
                <a:latin typeface="Arial Black"/>
                <a:cs typeface="Arial Black"/>
              </a:rPr>
              <a:t>social</a:t>
            </a:r>
            <a:r>
              <a:rPr sz="1350" spc="-10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110" dirty="0">
                <a:solidFill>
                  <a:srgbClr val="2B2E3C"/>
                </a:solidFill>
                <a:latin typeface="Arial Black"/>
                <a:cs typeface="Arial Black"/>
              </a:rPr>
              <a:t>inclusion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,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endParaRPr sz="13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-80" dirty="0">
                <a:solidFill>
                  <a:srgbClr val="2B2E3C"/>
                </a:solidFill>
                <a:latin typeface="Arial Black"/>
                <a:cs typeface="Arial Black"/>
              </a:rPr>
              <a:t>environmental</a:t>
            </a:r>
            <a:r>
              <a:rPr sz="1350" spc="-12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Arial Black"/>
                <a:cs typeface="Arial Black"/>
              </a:rPr>
              <a:t>protection</a:t>
            </a:r>
            <a:r>
              <a:rPr sz="1350" spc="-12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is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at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heart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B2E3C"/>
                </a:solidFill>
                <a:latin typeface="Verdana"/>
                <a:cs typeface="Verdana"/>
              </a:rPr>
              <a:t>of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sustainability.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1500" y="4571986"/>
            <a:ext cx="5962650" cy="1704989"/>
            <a:chOff x="581025" y="4572000"/>
            <a:chExt cx="5962650" cy="1304925"/>
          </a:xfrm>
        </p:grpSpPr>
        <p:sp>
          <p:nvSpPr>
            <p:cNvPr id="15" name="object 15"/>
            <p:cNvSpPr/>
            <p:nvPr/>
          </p:nvSpPr>
          <p:spPr>
            <a:xfrm>
              <a:off x="600075" y="4581525"/>
              <a:ext cx="5934075" cy="1285875"/>
            </a:xfrm>
            <a:custGeom>
              <a:avLst/>
              <a:gdLst/>
              <a:ahLst/>
              <a:cxnLst/>
              <a:rect l="l" t="t" r="r" b="b"/>
              <a:pathLst>
                <a:path w="5934075" h="1285875">
                  <a:moveTo>
                    <a:pt x="588690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219201"/>
                  </a:lnTo>
                  <a:lnTo>
                    <a:pt x="0" y="1223576"/>
                  </a:lnTo>
                  <a:lnTo>
                    <a:pt x="15622" y="1259880"/>
                  </a:lnTo>
                  <a:lnTo>
                    <a:pt x="51663" y="1282472"/>
                  </a:lnTo>
                  <a:lnTo>
                    <a:pt x="71194" y="1285876"/>
                  </a:lnTo>
                  <a:lnTo>
                    <a:pt x="5886907" y="1285876"/>
                  </a:lnTo>
                  <a:lnTo>
                    <a:pt x="5921629" y="1268745"/>
                  </a:lnTo>
                  <a:lnTo>
                    <a:pt x="5934075" y="1238707"/>
                  </a:lnTo>
                  <a:lnTo>
                    <a:pt x="5934075" y="47167"/>
                  </a:lnTo>
                  <a:lnTo>
                    <a:pt x="5916942" y="12446"/>
                  </a:lnTo>
                  <a:lnTo>
                    <a:pt x="5890196" y="317"/>
                  </a:lnTo>
                  <a:lnTo>
                    <a:pt x="5886907" y="0"/>
                  </a:lnTo>
                  <a:close/>
                </a:path>
              </a:pathLst>
            </a:custGeom>
            <a:solidFill>
              <a:srgbClr val="FFF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0913" y="4572012"/>
              <a:ext cx="5942965" cy="1304925"/>
            </a:xfrm>
            <a:custGeom>
              <a:avLst/>
              <a:gdLst/>
              <a:ahLst/>
              <a:cxnLst/>
              <a:rect l="l" t="t" r="r" b="b"/>
              <a:pathLst>
                <a:path w="5942965" h="1304925">
                  <a:moveTo>
                    <a:pt x="5942711" y="51828"/>
                  </a:moveTo>
                  <a:lnTo>
                    <a:pt x="5941225" y="44399"/>
                  </a:lnTo>
                  <a:lnTo>
                    <a:pt x="5935129" y="29692"/>
                  </a:lnTo>
                  <a:lnTo>
                    <a:pt x="5930798" y="23202"/>
                  </a:lnTo>
                  <a:lnTo>
                    <a:pt x="5925642" y="18059"/>
                  </a:lnTo>
                  <a:lnTo>
                    <a:pt x="5925401" y="17805"/>
                  </a:lnTo>
                  <a:lnTo>
                    <a:pt x="5925185" y="17576"/>
                  </a:lnTo>
                  <a:lnTo>
                    <a:pt x="5919546" y="11950"/>
                  </a:lnTo>
                  <a:lnTo>
                    <a:pt x="5913056" y="7607"/>
                  </a:lnTo>
                  <a:lnTo>
                    <a:pt x="5898477" y="1562"/>
                  </a:lnTo>
                  <a:lnTo>
                    <a:pt x="5898604" y="1562"/>
                  </a:lnTo>
                  <a:lnTo>
                    <a:pt x="589070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882741" y="19050"/>
                  </a:lnTo>
                  <a:lnTo>
                    <a:pt x="5911951" y="31356"/>
                  </a:lnTo>
                  <a:lnTo>
                    <a:pt x="5916955" y="37350"/>
                  </a:lnTo>
                  <a:lnTo>
                    <a:pt x="5920740" y="44399"/>
                  </a:lnTo>
                  <a:lnTo>
                    <a:pt x="5922950" y="51828"/>
                  </a:lnTo>
                  <a:lnTo>
                    <a:pt x="5923699" y="60007"/>
                  </a:lnTo>
                  <a:lnTo>
                    <a:pt x="5923699" y="1244917"/>
                  </a:lnTo>
                  <a:lnTo>
                    <a:pt x="5911774" y="1273784"/>
                  </a:lnTo>
                  <a:lnTo>
                    <a:pt x="5882741" y="1285875"/>
                  </a:lnTo>
                  <a:lnTo>
                    <a:pt x="75349" y="1285875"/>
                  </a:lnTo>
                  <a:lnTo>
                    <a:pt x="33007" y="1276248"/>
                  </a:lnTo>
                  <a:lnTo>
                    <a:pt x="1092" y="1243584"/>
                  </a:lnTo>
                  <a:lnTo>
                    <a:pt x="0" y="1239469"/>
                  </a:lnTo>
                  <a:lnTo>
                    <a:pt x="609" y="1243584"/>
                  </a:lnTo>
                  <a:lnTo>
                    <a:pt x="2413" y="1250810"/>
                  </a:lnTo>
                  <a:lnTo>
                    <a:pt x="4851" y="1257592"/>
                  </a:lnTo>
                  <a:lnTo>
                    <a:pt x="4953" y="1257884"/>
                  </a:lnTo>
                  <a:lnTo>
                    <a:pt x="33007" y="1292085"/>
                  </a:lnTo>
                  <a:lnTo>
                    <a:pt x="75349" y="1304925"/>
                  </a:lnTo>
                  <a:lnTo>
                    <a:pt x="5890704" y="1304925"/>
                  </a:lnTo>
                  <a:lnTo>
                    <a:pt x="5897994" y="1303464"/>
                  </a:lnTo>
                  <a:lnTo>
                    <a:pt x="5898185" y="1303464"/>
                  </a:lnTo>
                  <a:lnTo>
                    <a:pt x="5913056" y="1297305"/>
                  </a:lnTo>
                  <a:lnTo>
                    <a:pt x="5919546" y="1292974"/>
                  </a:lnTo>
                  <a:lnTo>
                    <a:pt x="5925655" y="1286865"/>
                  </a:lnTo>
                  <a:lnTo>
                    <a:pt x="5930798" y="1281709"/>
                  </a:lnTo>
                  <a:lnTo>
                    <a:pt x="5935129" y="1275219"/>
                  </a:lnTo>
                  <a:lnTo>
                    <a:pt x="5941187" y="1260627"/>
                  </a:lnTo>
                  <a:lnTo>
                    <a:pt x="5942711" y="1253083"/>
                  </a:lnTo>
                  <a:lnTo>
                    <a:pt x="5942711" y="51828"/>
                  </a:lnTo>
                  <a:close/>
                </a:path>
              </a:pathLst>
            </a:custGeom>
            <a:solidFill>
              <a:srgbClr val="E2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025" y="4572000"/>
              <a:ext cx="76200" cy="1304925"/>
            </a:xfrm>
            <a:custGeom>
              <a:avLst/>
              <a:gdLst/>
              <a:ahLst/>
              <a:cxnLst/>
              <a:rect l="l" t="t" r="r" b="b"/>
              <a:pathLst>
                <a:path w="76200" h="1304925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244918"/>
                  </a:lnTo>
                  <a:lnTo>
                    <a:pt x="0" y="1248857"/>
                  </a:lnTo>
                  <a:lnTo>
                    <a:pt x="14789" y="1284561"/>
                  </a:lnTo>
                  <a:lnTo>
                    <a:pt x="52163" y="1304538"/>
                  </a:lnTo>
                  <a:lnTo>
                    <a:pt x="56067" y="1304926"/>
                  </a:lnTo>
                  <a:lnTo>
                    <a:pt x="76200" y="130492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D25F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8175" y="5017135"/>
            <a:ext cx="5392420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60" dirty="0">
                <a:solidFill>
                  <a:srgbClr val="2B2E3C"/>
                </a:solidFill>
                <a:latin typeface="Cambria"/>
                <a:cs typeface="Cambria"/>
              </a:rPr>
              <a:t>A</a:t>
            </a:r>
            <a:r>
              <a:rPr sz="1650" spc="-1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2B2E3C"/>
                </a:solidFill>
                <a:latin typeface="Cambria"/>
                <a:cs typeface="Cambria"/>
              </a:rPr>
              <a:t>Global</a:t>
            </a:r>
            <a:r>
              <a:rPr sz="1650" spc="-1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-10" dirty="0">
                <a:solidFill>
                  <a:srgbClr val="2B2E3C"/>
                </a:solidFill>
                <a:latin typeface="Cambria"/>
                <a:cs typeface="Cambria"/>
              </a:rPr>
              <a:t>Framework</a:t>
            </a:r>
            <a:endParaRPr sz="1650" dirty="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SDGs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provide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universally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agreed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framework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that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guides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B2E3C"/>
                </a:solidFill>
                <a:latin typeface="Verdana"/>
                <a:cs typeface="Verdana"/>
              </a:rPr>
              <a:t>nations,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organisations,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individuals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towards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meaningful,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lasting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progress.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"/>
            <a:ext cx="11430000" cy="8286751"/>
          </a:xfrm>
          <a:custGeom>
            <a:avLst/>
            <a:gdLst/>
            <a:ahLst/>
            <a:cxnLst/>
            <a:rect l="l" t="t" r="r" b="b"/>
            <a:pathLst>
              <a:path w="11430000" h="7315200">
                <a:moveTo>
                  <a:pt x="11430000" y="0"/>
                </a:moveTo>
                <a:lnTo>
                  <a:pt x="0" y="0"/>
                </a:lnTo>
                <a:lnTo>
                  <a:pt x="0" y="7315200"/>
                </a:lnTo>
                <a:lnTo>
                  <a:pt x="11430000" y="7315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What</a:t>
            </a:r>
            <a:r>
              <a:rPr spc="-280" dirty="0"/>
              <a:t> </a:t>
            </a:r>
            <a:r>
              <a:rPr spc="80" dirty="0"/>
              <a:t>are</a:t>
            </a:r>
            <a:r>
              <a:rPr spc="-280" dirty="0"/>
              <a:t> </a:t>
            </a:r>
            <a:r>
              <a:rPr spc="120" dirty="0"/>
              <a:t>SDGs?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666875"/>
            <a:ext cx="6505574" cy="47815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534275" y="1457324"/>
            <a:ext cx="1066800" cy="323850"/>
          </a:xfrm>
          <a:custGeom>
            <a:avLst/>
            <a:gdLst/>
            <a:ahLst/>
            <a:cxnLst/>
            <a:rect l="l" t="t" r="r" b="b"/>
            <a:pathLst>
              <a:path w="1066800" h="323850">
                <a:moveTo>
                  <a:pt x="1025156" y="0"/>
                </a:moveTo>
                <a:lnTo>
                  <a:pt x="41643" y="0"/>
                </a:lnTo>
                <a:lnTo>
                  <a:pt x="35509" y="1219"/>
                </a:lnTo>
                <a:lnTo>
                  <a:pt x="1219" y="35509"/>
                </a:lnTo>
                <a:lnTo>
                  <a:pt x="0" y="41643"/>
                </a:lnTo>
                <a:lnTo>
                  <a:pt x="0" y="275844"/>
                </a:lnTo>
                <a:lnTo>
                  <a:pt x="0" y="282206"/>
                </a:lnTo>
                <a:lnTo>
                  <a:pt x="23749" y="317754"/>
                </a:lnTo>
                <a:lnTo>
                  <a:pt x="41643" y="323850"/>
                </a:lnTo>
                <a:lnTo>
                  <a:pt x="1025156" y="323850"/>
                </a:lnTo>
                <a:lnTo>
                  <a:pt x="1060704" y="300101"/>
                </a:lnTo>
                <a:lnTo>
                  <a:pt x="1066800" y="282206"/>
                </a:lnTo>
                <a:lnTo>
                  <a:pt x="1066800" y="41643"/>
                </a:lnTo>
                <a:lnTo>
                  <a:pt x="1043051" y="6096"/>
                </a:lnTo>
                <a:lnTo>
                  <a:pt x="1031290" y="1219"/>
                </a:lnTo>
                <a:lnTo>
                  <a:pt x="1025156" y="0"/>
                </a:lnTo>
                <a:close/>
              </a:path>
            </a:pathLst>
          </a:custGeom>
          <a:solidFill>
            <a:srgbClr val="FC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534275" y="5381625"/>
            <a:ext cx="3305175" cy="1276350"/>
            <a:chOff x="7534275" y="5381625"/>
            <a:chExt cx="3305175" cy="1276350"/>
          </a:xfrm>
        </p:grpSpPr>
        <p:sp>
          <p:nvSpPr>
            <p:cNvPr id="7" name="object 7"/>
            <p:cNvSpPr/>
            <p:nvPr/>
          </p:nvSpPr>
          <p:spPr>
            <a:xfrm>
              <a:off x="7534275" y="5381625"/>
              <a:ext cx="3305175" cy="1276350"/>
            </a:xfrm>
            <a:custGeom>
              <a:avLst/>
              <a:gdLst/>
              <a:ahLst/>
              <a:cxnLst/>
              <a:rect l="l" t="t" r="r" b="b"/>
              <a:pathLst>
                <a:path w="3305175" h="1276350">
                  <a:moveTo>
                    <a:pt x="3249104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216342"/>
                  </a:lnTo>
                  <a:lnTo>
                    <a:pt x="0" y="1220282"/>
                  </a:lnTo>
                  <a:lnTo>
                    <a:pt x="14782" y="1255985"/>
                  </a:lnTo>
                  <a:lnTo>
                    <a:pt x="52158" y="1275962"/>
                  </a:lnTo>
                  <a:lnTo>
                    <a:pt x="56070" y="1276350"/>
                  </a:lnTo>
                  <a:lnTo>
                    <a:pt x="3249104" y="1276350"/>
                  </a:lnTo>
                  <a:lnTo>
                    <a:pt x="3284804" y="1261560"/>
                  </a:lnTo>
                  <a:lnTo>
                    <a:pt x="3304794" y="1224186"/>
                  </a:lnTo>
                  <a:lnTo>
                    <a:pt x="3305175" y="1220282"/>
                  </a:lnTo>
                  <a:lnTo>
                    <a:pt x="3305175" y="56070"/>
                  </a:lnTo>
                  <a:lnTo>
                    <a:pt x="3290392" y="20358"/>
                  </a:lnTo>
                  <a:lnTo>
                    <a:pt x="3253016" y="381"/>
                  </a:lnTo>
                  <a:lnTo>
                    <a:pt x="3249104" y="0"/>
                  </a:lnTo>
                  <a:close/>
                </a:path>
              </a:pathLst>
            </a:custGeom>
            <a:solidFill>
              <a:srgbClr val="B5D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7162" y="5638799"/>
              <a:ext cx="171450" cy="1714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518001" y="1427891"/>
            <a:ext cx="3324225" cy="496316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830"/>
              </a:spcBef>
            </a:pPr>
            <a:r>
              <a:rPr sz="1050" spc="-75" dirty="0">
                <a:solidFill>
                  <a:srgbClr val="2B2E3C"/>
                </a:solidFill>
                <a:latin typeface="Verdana"/>
                <a:cs typeface="Verdana"/>
              </a:rPr>
              <a:t>2030</a:t>
            </a:r>
            <a:r>
              <a:rPr sz="10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2B2E3C"/>
                </a:solidFill>
                <a:latin typeface="Verdana"/>
                <a:cs typeface="Verdana"/>
              </a:rPr>
              <a:t>AGENDA</a:t>
            </a:r>
            <a:endParaRPr sz="1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50" spc="-175" dirty="0">
                <a:solidFill>
                  <a:srgbClr val="2C3F41"/>
                </a:solidFill>
                <a:latin typeface="Cambria"/>
                <a:cs typeface="Cambria"/>
              </a:rPr>
              <a:t>17</a:t>
            </a:r>
            <a:r>
              <a:rPr sz="1650" spc="-70" dirty="0">
                <a:solidFill>
                  <a:srgbClr val="2C3F41"/>
                </a:solidFill>
                <a:latin typeface="Cambria"/>
                <a:cs typeface="Cambria"/>
              </a:rPr>
              <a:t> </a:t>
            </a:r>
            <a:r>
              <a:rPr sz="1650" spc="70" dirty="0">
                <a:solidFill>
                  <a:srgbClr val="2C3F41"/>
                </a:solidFill>
                <a:latin typeface="Cambria"/>
                <a:cs typeface="Cambria"/>
              </a:rPr>
              <a:t>Goals</a:t>
            </a:r>
            <a:r>
              <a:rPr sz="1650" spc="-70" dirty="0">
                <a:solidFill>
                  <a:srgbClr val="2C3F41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C3F41"/>
                </a:solidFill>
                <a:latin typeface="Cambria"/>
                <a:cs typeface="Cambria"/>
              </a:rPr>
              <a:t>for</a:t>
            </a:r>
            <a:r>
              <a:rPr sz="1650" spc="-70" dirty="0">
                <a:solidFill>
                  <a:srgbClr val="2C3F41"/>
                </a:solidFill>
                <a:latin typeface="Cambria"/>
                <a:cs typeface="Cambria"/>
              </a:rPr>
              <a:t> </a:t>
            </a:r>
            <a:r>
              <a:rPr sz="1650" spc="125" dirty="0">
                <a:solidFill>
                  <a:srgbClr val="2C3F41"/>
                </a:solidFill>
                <a:latin typeface="Cambria"/>
                <a:cs typeface="Cambria"/>
              </a:rPr>
              <a:t>a</a:t>
            </a:r>
            <a:r>
              <a:rPr sz="1650" spc="-65" dirty="0">
                <a:solidFill>
                  <a:srgbClr val="2C3F41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C3F41"/>
                </a:solidFill>
                <a:latin typeface="Cambria"/>
                <a:cs typeface="Cambria"/>
              </a:rPr>
              <a:t>Better</a:t>
            </a:r>
            <a:r>
              <a:rPr sz="1650" spc="-70" dirty="0">
                <a:solidFill>
                  <a:srgbClr val="2C3F41"/>
                </a:solidFill>
                <a:latin typeface="Cambria"/>
                <a:cs typeface="Cambria"/>
              </a:rPr>
              <a:t> </a:t>
            </a:r>
            <a:r>
              <a:rPr sz="1650" spc="-20" dirty="0">
                <a:solidFill>
                  <a:srgbClr val="2C3F41"/>
                </a:solidFill>
                <a:latin typeface="Cambria"/>
                <a:cs typeface="Cambria"/>
              </a:rPr>
              <a:t>World</a:t>
            </a:r>
            <a:endParaRPr sz="1650">
              <a:latin typeface="Cambria"/>
              <a:cs typeface="Cambria"/>
            </a:endParaRPr>
          </a:p>
          <a:p>
            <a:pPr marL="12700" marR="12065">
              <a:lnSpc>
                <a:spcPct val="133100"/>
              </a:lnSpc>
              <a:spcBef>
                <a:spcPts val="1235"/>
              </a:spcBef>
            </a:pP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Sustainable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Development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Goals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are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Arial Black"/>
                <a:cs typeface="Arial Black"/>
              </a:rPr>
              <a:t>17 </a:t>
            </a:r>
            <a:r>
              <a:rPr sz="1350" spc="-105" dirty="0">
                <a:solidFill>
                  <a:srgbClr val="2B2E3C"/>
                </a:solidFill>
                <a:latin typeface="Arial Black"/>
                <a:cs typeface="Arial Black"/>
              </a:rPr>
              <a:t>global</a:t>
            </a:r>
            <a:r>
              <a:rPr sz="1350" spc="-125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130" dirty="0">
                <a:solidFill>
                  <a:srgbClr val="2B2E3C"/>
                </a:solidFill>
                <a:latin typeface="Arial Black"/>
                <a:cs typeface="Arial Black"/>
              </a:rPr>
              <a:t>goals</a:t>
            </a:r>
            <a:r>
              <a:rPr sz="1350" spc="-125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adopted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by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all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United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B2E3C"/>
                </a:solidFill>
                <a:latin typeface="Verdana"/>
                <a:cs typeface="Verdana"/>
              </a:rPr>
              <a:t>Nations </a:t>
            </a:r>
            <a:r>
              <a:rPr sz="1350" spc="-55" dirty="0">
                <a:solidFill>
                  <a:srgbClr val="2B2E3C"/>
                </a:solidFill>
                <a:latin typeface="Verdana"/>
                <a:cs typeface="Verdana"/>
              </a:rPr>
              <a:t>Member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States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B2E3C"/>
                </a:solidFill>
                <a:latin typeface="Verdana"/>
                <a:cs typeface="Verdana"/>
              </a:rPr>
              <a:t>in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65" dirty="0">
                <a:solidFill>
                  <a:srgbClr val="2B2E3C"/>
                </a:solidFill>
                <a:latin typeface="Arial Black"/>
                <a:cs typeface="Arial Black"/>
              </a:rPr>
              <a:t>2015</a:t>
            </a:r>
            <a:r>
              <a:rPr sz="1350" spc="-165" dirty="0">
                <a:solidFill>
                  <a:srgbClr val="2B2E3C"/>
                </a:solidFill>
                <a:latin typeface="Verdana"/>
                <a:cs typeface="Verdana"/>
              </a:rPr>
              <a:t>.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B2E3C"/>
                </a:solidFill>
                <a:latin typeface="Verdana"/>
                <a:cs typeface="Verdana"/>
              </a:rPr>
              <a:t>They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form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50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core</a:t>
            </a:r>
            <a:r>
              <a:rPr sz="1350" spc="-16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B2E3C"/>
                </a:solidFill>
                <a:latin typeface="Verdana"/>
                <a:cs typeface="Verdana"/>
              </a:rPr>
              <a:t>of</a:t>
            </a:r>
            <a:r>
              <a:rPr sz="1350" spc="-16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65" dirty="0">
                <a:solidFill>
                  <a:srgbClr val="2B2E3C"/>
                </a:solidFill>
                <a:latin typeface="Arial Black"/>
                <a:cs typeface="Arial Black"/>
              </a:rPr>
              <a:t>2030</a:t>
            </a:r>
            <a:r>
              <a:rPr sz="1350" spc="-135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114" dirty="0">
                <a:solidFill>
                  <a:srgbClr val="2B2E3C"/>
                </a:solidFill>
                <a:latin typeface="Arial Black"/>
                <a:cs typeface="Arial Black"/>
              </a:rPr>
              <a:t>Agenda</a:t>
            </a:r>
            <a:r>
              <a:rPr sz="1350" spc="-14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Arial Black"/>
                <a:cs typeface="Arial Black"/>
              </a:rPr>
              <a:t>for</a:t>
            </a:r>
            <a:r>
              <a:rPr sz="1350" spc="-135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Arial Black"/>
                <a:cs typeface="Arial Black"/>
              </a:rPr>
              <a:t>Sustainable </a:t>
            </a:r>
            <a:r>
              <a:rPr sz="1350" spc="-20" dirty="0">
                <a:solidFill>
                  <a:srgbClr val="2B2E3C"/>
                </a:solidFill>
                <a:latin typeface="Arial Black"/>
                <a:cs typeface="Arial Black"/>
              </a:rPr>
              <a:t>Development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200"/>
              </a:spcBef>
            </a:pP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Their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overarching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aim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is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achieve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2B2E3C"/>
                </a:solidFill>
                <a:latin typeface="Verdana"/>
                <a:cs typeface="Verdana"/>
              </a:rPr>
              <a:t>better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more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sustainable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future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all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people </a:t>
            </a:r>
            <a:r>
              <a:rPr sz="1350" spc="-45" dirty="0">
                <a:solidFill>
                  <a:srgbClr val="2B2E3C"/>
                </a:solidFill>
                <a:latin typeface="Verdana"/>
                <a:cs typeface="Verdana"/>
              </a:rPr>
              <a:t>on</a:t>
            </a:r>
            <a:r>
              <a:rPr sz="1350" spc="-16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planet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by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year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65" dirty="0">
                <a:solidFill>
                  <a:srgbClr val="2B2E3C"/>
                </a:solidFill>
                <a:latin typeface="Arial Black"/>
                <a:cs typeface="Arial Black"/>
              </a:rPr>
              <a:t>2030</a:t>
            </a:r>
            <a:r>
              <a:rPr sz="1350" spc="-13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—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addressing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root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causes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B2E3C"/>
                </a:solidFill>
                <a:latin typeface="Verdana"/>
                <a:cs typeface="Verdana"/>
              </a:rPr>
              <a:t>of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poverty,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inequality,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climate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change.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350">
              <a:latin typeface="Verdana"/>
              <a:cs typeface="Verdana"/>
            </a:endParaRPr>
          </a:p>
          <a:p>
            <a:pPr marL="569595" marR="209550">
              <a:lnSpc>
                <a:spcPct val="134300"/>
              </a:lnSpc>
            </a:pPr>
            <a:r>
              <a:rPr sz="1350" spc="-70" dirty="0">
                <a:latin typeface="Verdana"/>
                <a:cs typeface="Verdana"/>
              </a:rPr>
              <a:t>Adopted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80" dirty="0">
                <a:latin typeface="Verdana"/>
                <a:cs typeface="Verdana"/>
              </a:rPr>
              <a:t>unanimously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95" dirty="0">
                <a:latin typeface="Verdana"/>
                <a:cs typeface="Verdana"/>
              </a:rPr>
              <a:t>by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120" dirty="0">
                <a:latin typeface="Verdana"/>
                <a:cs typeface="Verdana"/>
              </a:rPr>
              <a:t>193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25" dirty="0">
                <a:latin typeface="Verdana"/>
                <a:cs typeface="Verdana"/>
              </a:rPr>
              <a:t>UN </a:t>
            </a:r>
            <a:r>
              <a:rPr sz="1350" spc="-55" dirty="0">
                <a:latin typeface="Verdana"/>
                <a:cs typeface="Verdana"/>
              </a:rPr>
              <a:t>Member</a:t>
            </a:r>
            <a:r>
              <a:rPr sz="1350" spc="-155" dirty="0">
                <a:latin typeface="Verdana"/>
                <a:cs typeface="Verdana"/>
              </a:rPr>
              <a:t> </a:t>
            </a:r>
            <a:r>
              <a:rPr sz="1350" spc="-110" dirty="0">
                <a:latin typeface="Verdana"/>
                <a:cs typeface="Verdana"/>
              </a:rPr>
              <a:t>States</a:t>
            </a:r>
            <a:r>
              <a:rPr sz="1350" spc="-150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in</a:t>
            </a:r>
            <a:r>
              <a:rPr sz="1350" spc="-15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September 2015.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28675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FFF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>
                <a:solidFill>
                  <a:srgbClr val="2B3F41"/>
                </a:solidFill>
              </a:rPr>
              <a:t>Key</a:t>
            </a:r>
            <a:r>
              <a:rPr spc="-280" dirty="0">
                <a:solidFill>
                  <a:srgbClr val="2B3F41"/>
                </a:solidFill>
              </a:rPr>
              <a:t> </a:t>
            </a:r>
            <a:r>
              <a:rPr spc="45" dirty="0">
                <a:solidFill>
                  <a:srgbClr val="2B3F41"/>
                </a:solidFill>
              </a:rPr>
              <a:t>Features</a:t>
            </a:r>
            <a:r>
              <a:rPr spc="-275" dirty="0">
                <a:solidFill>
                  <a:srgbClr val="2B3F41"/>
                </a:solidFill>
              </a:rPr>
              <a:t> </a:t>
            </a:r>
            <a:r>
              <a:rPr spc="120" dirty="0">
                <a:solidFill>
                  <a:srgbClr val="2B3F41"/>
                </a:solidFill>
              </a:rPr>
              <a:t>of</a:t>
            </a:r>
            <a:r>
              <a:rPr spc="-280" dirty="0">
                <a:solidFill>
                  <a:srgbClr val="2B3F41"/>
                </a:solidFill>
              </a:rPr>
              <a:t> </a:t>
            </a:r>
            <a:r>
              <a:rPr spc="110" dirty="0">
                <a:solidFill>
                  <a:srgbClr val="2B3F41"/>
                </a:solidFill>
              </a:rPr>
              <a:t>the</a:t>
            </a:r>
            <a:r>
              <a:rPr spc="-275" dirty="0">
                <a:solidFill>
                  <a:srgbClr val="2B3F41"/>
                </a:solidFill>
              </a:rPr>
              <a:t> </a:t>
            </a:r>
            <a:r>
              <a:rPr spc="160" dirty="0">
                <a:solidFill>
                  <a:srgbClr val="2B3F41"/>
                </a:solidFill>
              </a:rPr>
              <a:t>SDGs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4" y="1609724"/>
            <a:ext cx="5029200" cy="1962150"/>
            <a:chOff x="600074" y="1609724"/>
            <a:chExt cx="5029200" cy="1962150"/>
          </a:xfrm>
        </p:grpSpPr>
        <p:sp>
          <p:nvSpPr>
            <p:cNvPr id="5" name="object 5"/>
            <p:cNvSpPr/>
            <p:nvPr/>
          </p:nvSpPr>
          <p:spPr>
            <a:xfrm>
              <a:off x="604837" y="1614487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4968056" y="1952624"/>
                  </a:moveTo>
                  <a:lnTo>
                    <a:pt x="51617" y="1952624"/>
                  </a:lnTo>
                  <a:lnTo>
                    <a:pt x="48025" y="1952271"/>
                  </a:lnTo>
                  <a:lnTo>
                    <a:pt x="13615" y="1933878"/>
                  </a:lnTo>
                  <a:lnTo>
                    <a:pt x="0" y="1901007"/>
                  </a:lnTo>
                  <a:lnTo>
                    <a:pt x="0" y="18973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4968056" y="0"/>
                  </a:lnTo>
                  <a:lnTo>
                    <a:pt x="5006058" y="18745"/>
                  </a:lnTo>
                  <a:lnTo>
                    <a:pt x="5019674" y="51617"/>
                  </a:lnTo>
                  <a:lnTo>
                    <a:pt x="5019674" y="1901007"/>
                  </a:lnTo>
                  <a:lnTo>
                    <a:pt x="5000928" y="1939008"/>
                  </a:lnTo>
                  <a:lnTo>
                    <a:pt x="4971649" y="1952271"/>
                  </a:lnTo>
                  <a:lnTo>
                    <a:pt x="4968056" y="1952624"/>
                  </a:lnTo>
                  <a:close/>
                </a:path>
              </a:pathLst>
            </a:custGeom>
            <a:solidFill>
              <a:srgbClr val="FB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37" y="1614487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0" y="18973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27568" y="7294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5006058" y="18745"/>
                  </a:lnTo>
                  <a:lnTo>
                    <a:pt x="5010363" y="24552"/>
                  </a:lnTo>
                  <a:lnTo>
                    <a:pt x="5012379" y="27568"/>
                  </a:lnTo>
                  <a:lnTo>
                    <a:pt x="5014080" y="30752"/>
                  </a:lnTo>
                  <a:lnTo>
                    <a:pt x="5015468" y="34103"/>
                  </a:lnTo>
                  <a:lnTo>
                    <a:pt x="5016856" y="37454"/>
                  </a:lnTo>
                  <a:lnTo>
                    <a:pt x="5019674" y="55244"/>
                  </a:lnTo>
                  <a:lnTo>
                    <a:pt x="5019674" y="1897379"/>
                  </a:lnTo>
                  <a:lnTo>
                    <a:pt x="5019674" y="1901007"/>
                  </a:lnTo>
                  <a:lnTo>
                    <a:pt x="5019320" y="1904599"/>
                  </a:lnTo>
                  <a:lnTo>
                    <a:pt x="5018612" y="1908157"/>
                  </a:lnTo>
                  <a:lnTo>
                    <a:pt x="5017904" y="1911715"/>
                  </a:lnTo>
                  <a:lnTo>
                    <a:pt x="5016856" y="1915169"/>
                  </a:lnTo>
                  <a:lnTo>
                    <a:pt x="5015468" y="1918521"/>
                  </a:lnTo>
                  <a:lnTo>
                    <a:pt x="5014080" y="1921872"/>
                  </a:lnTo>
                  <a:lnTo>
                    <a:pt x="5003493" y="1936443"/>
                  </a:lnTo>
                  <a:lnTo>
                    <a:pt x="5000928" y="1939008"/>
                  </a:lnTo>
                  <a:lnTo>
                    <a:pt x="4968056" y="1952624"/>
                  </a:lnTo>
                  <a:lnTo>
                    <a:pt x="4964429" y="1952624"/>
                  </a:lnTo>
                  <a:lnTo>
                    <a:pt x="55245" y="1952624"/>
                  </a:lnTo>
                  <a:lnTo>
                    <a:pt x="51617" y="1952624"/>
                  </a:lnTo>
                  <a:lnTo>
                    <a:pt x="48025" y="1952271"/>
                  </a:lnTo>
                  <a:lnTo>
                    <a:pt x="24552" y="1943314"/>
                  </a:lnTo>
                  <a:lnTo>
                    <a:pt x="21536" y="1941299"/>
                  </a:lnTo>
                  <a:lnTo>
                    <a:pt x="18745" y="1939008"/>
                  </a:lnTo>
                  <a:lnTo>
                    <a:pt x="16180" y="1936443"/>
                  </a:lnTo>
                  <a:lnTo>
                    <a:pt x="13615" y="1933878"/>
                  </a:lnTo>
                  <a:lnTo>
                    <a:pt x="11325" y="1931088"/>
                  </a:lnTo>
                  <a:lnTo>
                    <a:pt x="9310" y="1928071"/>
                  </a:lnTo>
                  <a:lnTo>
                    <a:pt x="7295" y="1925055"/>
                  </a:lnTo>
                  <a:lnTo>
                    <a:pt x="5593" y="1921872"/>
                  </a:lnTo>
                  <a:lnTo>
                    <a:pt x="4205" y="1918520"/>
                  </a:lnTo>
                  <a:lnTo>
                    <a:pt x="2817" y="1915169"/>
                  </a:lnTo>
                  <a:lnTo>
                    <a:pt x="1769" y="1911714"/>
                  </a:lnTo>
                  <a:lnTo>
                    <a:pt x="1061" y="1908157"/>
                  </a:lnTo>
                  <a:lnTo>
                    <a:pt x="353" y="1904599"/>
                  </a:lnTo>
                  <a:lnTo>
                    <a:pt x="0" y="1901007"/>
                  </a:lnTo>
                  <a:lnTo>
                    <a:pt x="0" y="1897379"/>
                  </a:lnTo>
                  <a:close/>
                </a:path>
              </a:pathLst>
            </a:custGeom>
            <a:ln w="9524">
              <a:solidFill>
                <a:srgbClr val="E2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049" y="17906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8" y="433069"/>
                  </a:lnTo>
                  <a:lnTo>
                    <a:pt x="38662" y="393050"/>
                  </a:lnTo>
                  <a:lnTo>
                    <a:pt x="16352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0" y="69368"/>
                  </a:lnTo>
                  <a:lnTo>
                    <a:pt x="121299" y="38661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7"/>
                  </a:lnTo>
                  <a:lnTo>
                    <a:pt x="507765" y="315607"/>
                  </a:lnTo>
                  <a:lnTo>
                    <a:pt x="491550" y="363372"/>
                  </a:lnTo>
                  <a:lnTo>
                    <a:pt x="466328" y="407056"/>
                  </a:lnTo>
                  <a:lnTo>
                    <a:pt x="433069" y="444980"/>
                  </a:lnTo>
                  <a:lnTo>
                    <a:pt x="393050" y="475687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D160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153" y="1918924"/>
              <a:ext cx="238925" cy="24167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68349" y="2449512"/>
            <a:ext cx="435419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2A2E3C"/>
                </a:solidFill>
                <a:latin typeface="Cambria"/>
                <a:cs typeface="Cambria"/>
              </a:rPr>
              <a:t>Universal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765"/>
              </a:spcBef>
            </a:pPr>
            <a:r>
              <a:rPr sz="1350" spc="-75" dirty="0">
                <a:solidFill>
                  <a:srgbClr val="2A2E3C"/>
                </a:solidFill>
                <a:latin typeface="Verdana"/>
                <a:cs typeface="Verdana"/>
              </a:rPr>
              <a:t>Applicable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A2E3C"/>
                </a:solidFill>
                <a:latin typeface="Verdana"/>
                <a:cs typeface="Verdana"/>
              </a:rPr>
              <a:t>to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A2E3C"/>
                </a:solidFill>
                <a:latin typeface="Arial Black"/>
                <a:cs typeface="Arial Black"/>
              </a:rPr>
              <a:t>all</a:t>
            </a:r>
            <a:r>
              <a:rPr sz="1350" spc="-114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105" dirty="0">
                <a:solidFill>
                  <a:srgbClr val="2A2E3C"/>
                </a:solidFill>
                <a:latin typeface="Arial Black"/>
                <a:cs typeface="Arial Black"/>
              </a:rPr>
              <a:t>countries</a:t>
            </a:r>
            <a:r>
              <a:rPr sz="1350" spc="-114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dirty="0">
                <a:solidFill>
                  <a:srgbClr val="2A2E3C"/>
                </a:solidFill>
                <a:latin typeface="Verdana"/>
                <a:cs typeface="Verdana"/>
              </a:rPr>
              <a:t>—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A2E3C"/>
                </a:solidFill>
                <a:latin typeface="Verdana"/>
                <a:cs typeface="Verdana"/>
              </a:rPr>
              <a:t>developed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A2E3C"/>
                </a:solidFill>
                <a:latin typeface="Verdana"/>
                <a:cs typeface="Verdana"/>
              </a:rPr>
              <a:t>and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A2E3C"/>
                </a:solidFill>
                <a:latin typeface="Verdana"/>
                <a:cs typeface="Verdana"/>
              </a:rPr>
              <a:t>developing </a:t>
            </a:r>
            <a:r>
              <a:rPr sz="1350" spc="-105" dirty="0">
                <a:solidFill>
                  <a:srgbClr val="2A2E3C"/>
                </a:solidFill>
                <a:latin typeface="Verdana"/>
                <a:cs typeface="Verdana"/>
              </a:rPr>
              <a:t>alike.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2A2E3C"/>
                </a:solidFill>
                <a:latin typeface="Verdana"/>
                <a:cs typeface="Verdana"/>
              </a:rPr>
              <a:t>No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A2E3C"/>
                </a:solidFill>
                <a:latin typeface="Verdana"/>
                <a:cs typeface="Verdana"/>
              </a:rPr>
              <a:t>nation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A2E3C"/>
                </a:solidFill>
                <a:latin typeface="Verdana"/>
                <a:cs typeface="Verdana"/>
              </a:rPr>
              <a:t>is</a:t>
            </a:r>
            <a:r>
              <a:rPr sz="1350" spc="-13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A2E3C"/>
                </a:solidFill>
                <a:latin typeface="Verdana"/>
                <a:cs typeface="Verdana"/>
              </a:rPr>
              <a:t>exempt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A2E3C"/>
                </a:solidFill>
                <a:latin typeface="Verdana"/>
                <a:cs typeface="Verdana"/>
              </a:rPr>
              <a:t>from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A2E3C"/>
                </a:solidFill>
                <a:latin typeface="Verdana"/>
                <a:cs typeface="Verdana"/>
              </a:rPr>
              <a:t>the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A2E3C"/>
                </a:solidFill>
                <a:latin typeface="Verdana"/>
                <a:cs typeface="Verdana"/>
              </a:rPr>
              <a:t>responsibility</a:t>
            </a:r>
            <a:r>
              <a:rPr sz="1350" spc="-13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A2E3C"/>
                </a:solidFill>
                <a:latin typeface="Verdana"/>
                <a:cs typeface="Verdana"/>
              </a:rPr>
              <a:t>to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A2E3C"/>
                </a:solidFill>
                <a:latin typeface="Verdana"/>
                <a:cs typeface="Verdana"/>
              </a:rPr>
              <a:t>act.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00723" y="1609724"/>
            <a:ext cx="5029200" cy="1962150"/>
            <a:chOff x="5800723" y="1609724"/>
            <a:chExt cx="5029200" cy="1962150"/>
          </a:xfrm>
        </p:grpSpPr>
        <p:sp>
          <p:nvSpPr>
            <p:cNvPr id="11" name="object 11"/>
            <p:cNvSpPr/>
            <p:nvPr/>
          </p:nvSpPr>
          <p:spPr>
            <a:xfrm>
              <a:off x="5805486" y="1614487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4968056" y="1952624"/>
                  </a:moveTo>
                  <a:lnTo>
                    <a:pt x="51617" y="1952624"/>
                  </a:lnTo>
                  <a:lnTo>
                    <a:pt x="48024" y="1952271"/>
                  </a:lnTo>
                  <a:lnTo>
                    <a:pt x="13615" y="1933878"/>
                  </a:lnTo>
                  <a:lnTo>
                    <a:pt x="0" y="1901007"/>
                  </a:lnTo>
                  <a:lnTo>
                    <a:pt x="0" y="189737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4968056" y="0"/>
                  </a:lnTo>
                  <a:lnTo>
                    <a:pt x="5006057" y="18745"/>
                  </a:lnTo>
                  <a:lnTo>
                    <a:pt x="5019674" y="51617"/>
                  </a:lnTo>
                  <a:lnTo>
                    <a:pt x="5019674" y="1901007"/>
                  </a:lnTo>
                  <a:lnTo>
                    <a:pt x="5000928" y="1939008"/>
                  </a:lnTo>
                  <a:lnTo>
                    <a:pt x="4971649" y="1952271"/>
                  </a:lnTo>
                  <a:lnTo>
                    <a:pt x="4968056" y="1952624"/>
                  </a:lnTo>
                  <a:close/>
                </a:path>
              </a:pathLst>
            </a:custGeom>
            <a:solidFill>
              <a:srgbClr val="FB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05486" y="1614487"/>
              <a:ext cx="5019675" cy="1952625"/>
            </a:xfrm>
            <a:custGeom>
              <a:avLst/>
              <a:gdLst/>
              <a:ahLst/>
              <a:cxnLst/>
              <a:rect l="l" t="t" r="r" b="b"/>
              <a:pathLst>
                <a:path w="5019675" h="1952625">
                  <a:moveTo>
                    <a:pt x="0" y="189737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9" y="40909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2" y="30752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75206" y="1061"/>
                  </a:lnTo>
                  <a:lnTo>
                    <a:pt x="4978764" y="1769"/>
                  </a:lnTo>
                  <a:lnTo>
                    <a:pt x="4982219" y="2817"/>
                  </a:lnTo>
                  <a:lnTo>
                    <a:pt x="4985570" y="4205"/>
                  </a:lnTo>
                  <a:lnTo>
                    <a:pt x="4988922" y="5593"/>
                  </a:lnTo>
                  <a:lnTo>
                    <a:pt x="4992105" y="7294"/>
                  </a:lnTo>
                  <a:lnTo>
                    <a:pt x="4995120" y="9310"/>
                  </a:lnTo>
                  <a:lnTo>
                    <a:pt x="4998138" y="11325"/>
                  </a:lnTo>
                  <a:lnTo>
                    <a:pt x="5018612" y="44467"/>
                  </a:lnTo>
                  <a:lnTo>
                    <a:pt x="5019320" y="48024"/>
                  </a:lnTo>
                  <a:lnTo>
                    <a:pt x="5019674" y="51617"/>
                  </a:lnTo>
                  <a:lnTo>
                    <a:pt x="5019675" y="55244"/>
                  </a:lnTo>
                  <a:lnTo>
                    <a:pt x="5019675" y="1897379"/>
                  </a:lnTo>
                  <a:lnTo>
                    <a:pt x="5019674" y="1901007"/>
                  </a:lnTo>
                  <a:lnTo>
                    <a:pt x="5019320" y="1904599"/>
                  </a:lnTo>
                  <a:lnTo>
                    <a:pt x="5018612" y="1908157"/>
                  </a:lnTo>
                  <a:lnTo>
                    <a:pt x="5017904" y="1911715"/>
                  </a:lnTo>
                  <a:lnTo>
                    <a:pt x="4995120" y="1943314"/>
                  </a:lnTo>
                  <a:lnTo>
                    <a:pt x="4992105" y="1945329"/>
                  </a:lnTo>
                  <a:lnTo>
                    <a:pt x="4988922" y="1947031"/>
                  </a:lnTo>
                  <a:lnTo>
                    <a:pt x="4985570" y="1948419"/>
                  </a:lnTo>
                  <a:lnTo>
                    <a:pt x="4982219" y="1949807"/>
                  </a:lnTo>
                  <a:lnTo>
                    <a:pt x="4978764" y="1950855"/>
                  </a:lnTo>
                  <a:lnTo>
                    <a:pt x="4975206" y="1951563"/>
                  </a:lnTo>
                  <a:lnTo>
                    <a:pt x="4971649" y="1952271"/>
                  </a:lnTo>
                  <a:lnTo>
                    <a:pt x="4968056" y="1952624"/>
                  </a:lnTo>
                  <a:lnTo>
                    <a:pt x="4964429" y="1952624"/>
                  </a:lnTo>
                  <a:lnTo>
                    <a:pt x="55245" y="1952624"/>
                  </a:lnTo>
                  <a:lnTo>
                    <a:pt x="51617" y="1952624"/>
                  </a:lnTo>
                  <a:lnTo>
                    <a:pt x="48024" y="1952271"/>
                  </a:lnTo>
                  <a:lnTo>
                    <a:pt x="44467" y="1951563"/>
                  </a:lnTo>
                  <a:lnTo>
                    <a:pt x="40909" y="1950855"/>
                  </a:lnTo>
                  <a:lnTo>
                    <a:pt x="24552" y="1943314"/>
                  </a:lnTo>
                  <a:lnTo>
                    <a:pt x="21535" y="1941299"/>
                  </a:lnTo>
                  <a:lnTo>
                    <a:pt x="18745" y="1939008"/>
                  </a:lnTo>
                  <a:lnTo>
                    <a:pt x="16180" y="1936443"/>
                  </a:lnTo>
                  <a:lnTo>
                    <a:pt x="13615" y="1933878"/>
                  </a:lnTo>
                  <a:lnTo>
                    <a:pt x="11325" y="1931088"/>
                  </a:lnTo>
                  <a:lnTo>
                    <a:pt x="9309" y="1928071"/>
                  </a:lnTo>
                  <a:lnTo>
                    <a:pt x="7294" y="1925055"/>
                  </a:lnTo>
                  <a:lnTo>
                    <a:pt x="5592" y="1921872"/>
                  </a:lnTo>
                  <a:lnTo>
                    <a:pt x="4205" y="1918520"/>
                  </a:lnTo>
                  <a:lnTo>
                    <a:pt x="2816" y="1915169"/>
                  </a:lnTo>
                  <a:lnTo>
                    <a:pt x="1769" y="1911714"/>
                  </a:lnTo>
                  <a:lnTo>
                    <a:pt x="1061" y="1908157"/>
                  </a:lnTo>
                  <a:lnTo>
                    <a:pt x="354" y="1904599"/>
                  </a:lnTo>
                  <a:lnTo>
                    <a:pt x="0" y="1901007"/>
                  </a:lnTo>
                  <a:lnTo>
                    <a:pt x="0" y="1897379"/>
                  </a:lnTo>
                  <a:close/>
                </a:path>
              </a:pathLst>
            </a:custGeom>
            <a:ln w="9524">
              <a:solidFill>
                <a:srgbClr val="E2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1699" y="17906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5" y="491550"/>
                  </a:lnTo>
                  <a:lnTo>
                    <a:pt x="107291" y="466328"/>
                  </a:lnTo>
                  <a:lnTo>
                    <a:pt x="69367" y="433069"/>
                  </a:lnTo>
                  <a:lnTo>
                    <a:pt x="38661" y="393050"/>
                  </a:lnTo>
                  <a:lnTo>
                    <a:pt x="16352" y="347809"/>
                  </a:lnTo>
                  <a:lnTo>
                    <a:pt x="3297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2"/>
                  </a:lnTo>
                  <a:lnTo>
                    <a:pt x="6584" y="198741"/>
                  </a:lnTo>
                  <a:lnTo>
                    <a:pt x="22798" y="150976"/>
                  </a:lnTo>
                  <a:lnTo>
                    <a:pt x="48019" y="107292"/>
                  </a:lnTo>
                  <a:lnTo>
                    <a:pt x="81279" y="69368"/>
                  </a:lnTo>
                  <a:lnTo>
                    <a:pt x="121298" y="38661"/>
                  </a:lnTo>
                  <a:lnTo>
                    <a:pt x="166538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2"/>
                  </a:lnTo>
                  <a:lnTo>
                    <a:pt x="514349" y="265597"/>
                  </a:lnTo>
                  <a:lnTo>
                    <a:pt x="507764" y="315607"/>
                  </a:lnTo>
                  <a:lnTo>
                    <a:pt x="491549" y="363372"/>
                  </a:lnTo>
                  <a:lnTo>
                    <a:pt x="466327" y="407056"/>
                  </a:lnTo>
                  <a:lnTo>
                    <a:pt x="433068" y="444980"/>
                  </a:lnTo>
                  <a:lnTo>
                    <a:pt x="393050" y="475687"/>
                  </a:lnTo>
                  <a:lnTo>
                    <a:pt x="347808" y="497996"/>
                  </a:lnTo>
                  <a:lnTo>
                    <a:pt x="299085" y="511051"/>
                  </a:lnTo>
                  <a:lnTo>
                    <a:pt x="274000" y="513937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D160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0167" y="1918514"/>
              <a:ext cx="240167" cy="24229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968999" y="2449512"/>
            <a:ext cx="468566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0" dirty="0">
                <a:solidFill>
                  <a:srgbClr val="2A2E3C"/>
                </a:solidFill>
                <a:latin typeface="Cambria"/>
                <a:cs typeface="Cambria"/>
              </a:rPr>
              <a:t>Integrated</a:t>
            </a:r>
            <a:r>
              <a:rPr sz="1650" spc="-45" dirty="0">
                <a:solidFill>
                  <a:srgbClr val="2A2E3C"/>
                </a:solidFill>
                <a:latin typeface="Cambria"/>
                <a:cs typeface="Cambria"/>
              </a:rPr>
              <a:t> </a:t>
            </a:r>
            <a:r>
              <a:rPr sz="1650" spc="10" dirty="0">
                <a:solidFill>
                  <a:srgbClr val="2A2E3C"/>
                </a:solidFill>
                <a:latin typeface="Cambria"/>
                <a:cs typeface="Cambria"/>
              </a:rPr>
              <a:t>&amp;</a:t>
            </a:r>
            <a:r>
              <a:rPr sz="1650" spc="-40" dirty="0">
                <a:solidFill>
                  <a:srgbClr val="2A2E3C"/>
                </a:solidFill>
                <a:latin typeface="Cambria"/>
                <a:cs typeface="Cambria"/>
              </a:rPr>
              <a:t> </a:t>
            </a:r>
            <a:r>
              <a:rPr sz="1650" spc="35" dirty="0">
                <a:solidFill>
                  <a:srgbClr val="2A2E3C"/>
                </a:solidFill>
                <a:latin typeface="Cambria"/>
                <a:cs typeface="Cambria"/>
              </a:rPr>
              <a:t>Interconnected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765"/>
              </a:spcBef>
            </a:pPr>
            <a:r>
              <a:rPr sz="1350" spc="-80" dirty="0">
                <a:solidFill>
                  <a:srgbClr val="2A2E3C"/>
                </a:solidFill>
                <a:latin typeface="Verdana"/>
                <a:cs typeface="Verdana"/>
              </a:rPr>
              <a:t>Progress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A2E3C"/>
                </a:solidFill>
                <a:latin typeface="Verdana"/>
                <a:cs typeface="Verdana"/>
              </a:rPr>
              <a:t>in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A2E3C"/>
                </a:solidFill>
                <a:latin typeface="Verdana"/>
                <a:cs typeface="Verdana"/>
              </a:rPr>
              <a:t>one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A2E3C"/>
                </a:solidFill>
                <a:latin typeface="Verdana"/>
                <a:cs typeface="Verdana"/>
              </a:rPr>
              <a:t>goal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A2E3C"/>
                </a:solidFill>
                <a:latin typeface="Verdana"/>
                <a:cs typeface="Verdana"/>
              </a:rPr>
              <a:t>supports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A2E3C"/>
                </a:solidFill>
                <a:latin typeface="Verdana"/>
                <a:cs typeface="Verdana"/>
              </a:rPr>
              <a:t>others.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A2E3C"/>
                </a:solidFill>
                <a:latin typeface="Verdana"/>
                <a:cs typeface="Verdana"/>
              </a:rPr>
              <a:t>The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A2E3C"/>
                </a:solidFill>
                <a:latin typeface="Verdana"/>
                <a:cs typeface="Verdana"/>
              </a:rPr>
              <a:t>goals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A2E3C"/>
                </a:solidFill>
                <a:latin typeface="Verdana"/>
                <a:cs typeface="Verdana"/>
              </a:rPr>
              <a:t>are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2A2E3C"/>
                </a:solidFill>
                <a:latin typeface="Verdana"/>
                <a:cs typeface="Verdana"/>
              </a:rPr>
              <a:t>designed </a:t>
            </a:r>
            <a:r>
              <a:rPr sz="1350" spc="-60" dirty="0">
                <a:solidFill>
                  <a:srgbClr val="2A2E3C"/>
                </a:solidFill>
                <a:latin typeface="Verdana"/>
                <a:cs typeface="Verdana"/>
              </a:rPr>
              <a:t>to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A2E3C"/>
                </a:solidFill>
                <a:latin typeface="Verdana"/>
                <a:cs typeface="Verdana"/>
              </a:rPr>
              <a:t>work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A2E3C"/>
                </a:solidFill>
                <a:latin typeface="Verdana"/>
                <a:cs typeface="Verdana"/>
              </a:rPr>
              <a:t>together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A2E3C"/>
                </a:solidFill>
                <a:latin typeface="Verdana"/>
                <a:cs typeface="Verdana"/>
              </a:rPr>
              <a:t>as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A2E3C"/>
                </a:solidFill>
                <a:latin typeface="Verdana"/>
                <a:cs typeface="Verdana"/>
              </a:rPr>
              <a:t>a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A2E3C"/>
                </a:solidFill>
                <a:latin typeface="Arial Black"/>
                <a:cs typeface="Arial Black"/>
              </a:rPr>
              <a:t>unified</a:t>
            </a:r>
            <a:r>
              <a:rPr sz="1350" spc="-120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10" dirty="0">
                <a:solidFill>
                  <a:srgbClr val="2A2E3C"/>
                </a:solidFill>
                <a:latin typeface="Arial Black"/>
                <a:cs typeface="Arial Black"/>
              </a:rPr>
              <a:t>system</a:t>
            </a:r>
            <a:r>
              <a:rPr sz="1350" spc="-10" dirty="0">
                <a:solidFill>
                  <a:srgbClr val="2A2E3C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0074" y="3743324"/>
            <a:ext cx="5029200" cy="1971675"/>
            <a:chOff x="600074" y="3743324"/>
            <a:chExt cx="5029200" cy="1971675"/>
          </a:xfrm>
        </p:grpSpPr>
        <p:sp>
          <p:nvSpPr>
            <p:cNvPr id="17" name="object 17"/>
            <p:cNvSpPr/>
            <p:nvPr/>
          </p:nvSpPr>
          <p:spPr>
            <a:xfrm>
              <a:off x="604837" y="37480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4968056" y="1962149"/>
                  </a:moveTo>
                  <a:lnTo>
                    <a:pt x="51617" y="1962149"/>
                  </a:lnTo>
                  <a:lnTo>
                    <a:pt x="48025" y="1961795"/>
                  </a:lnTo>
                  <a:lnTo>
                    <a:pt x="13615" y="1943403"/>
                  </a:lnTo>
                  <a:lnTo>
                    <a:pt x="0" y="1910532"/>
                  </a:lnTo>
                  <a:lnTo>
                    <a:pt x="0" y="19069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4968056" y="0"/>
                  </a:lnTo>
                  <a:lnTo>
                    <a:pt x="5006058" y="18745"/>
                  </a:lnTo>
                  <a:lnTo>
                    <a:pt x="5019674" y="51617"/>
                  </a:lnTo>
                  <a:lnTo>
                    <a:pt x="5019674" y="1910532"/>
                  </a:lnTo>
                  <a:lnTo>
                    <a:pt x="5000928" y="1948532"/>
                  </a:lnTo>
                  <a:lnTo>
                    <a:pt x="4971649" y="1961795"/>
                  </a:lnTo>
                  <a:lnTo>
                    <a:pt x="4968056" y="1962149"/>
                  </a:lnTo>
                  <a:close/>
                </a:path>
              </a:pathLst>
            </a:custGeom>
            <a:solidFill>
              <a:srgbClr val="FB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4837" y="37480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4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3" y="48024"/>
                  </a:lnTo>
                  <a:lnTo>
                    <a:pt x="1061" y="44466"/>
                  </a:lnTo>
                  <a:lnTo>
                    <a:pt x="1769" y="40908"/>
                  </a:lnTo>
                  <a:lnTo>
                    <a:pt x="2817" y="37454"/>
                  </a:lnTo>
                  <a:lnTo>
                    <a:pt x="4205" y="34103"/>
                  </a:lnTo>
                  <a:lnTo>
                    <a:pt x="5593" y="30751"/>
                  </a:lnTo>
                  <a:lnTo>
                    <a:pt x="7295" y="27568"/>
                  </a:lnTo>
                  <a:lnTo>
                    <a:pt x="9310" y="24552"/>
                  </a:lnTo>
                  <a:lnTo>
                    <a:pt x="11325" y="2153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44467" y="1061"/>
                  </a:lnTo>
                  <a:lnTo>
                    <a:pt x="48025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75207" y="1061"/>
                  </a:lnTo>
                  <a:lnTo>
                    <a:pt x="4978764" y="1769"/>
                  </a:lnTo>
                  <a:lnTo>
                    <a:pt x="5010363" y="24552"/>
                  </a:lnTo>
                  <a:lnTo>
                    <a:pt x="5012379" y="27568"/>
                  </a:lnTo>
                  <a:lnTo>
                    <a:pt x="5014080" y="30751"/>
                  </a:lnTo>
                  <a:lnTo>
                    <a:pt x="5015468" y="34103"/>
                  </a:lnTo>
                  <a:lnTo>
                    <a:pt x="5016856" y="37454"/>
                  </a:lnTo>
                  <a:lnTo>
                    <a:pt x="5017904" y="40909"/>
                  </a:lnTo>
                  <a:lnTo>
                    <a:pt x="5018612" y="44466"/>
                  </a:lnTo>
                  <a:lnTo>
                    <a:pt x="5019320" y="48024"/>
                  </a:lnTo>
                  <a:lnTo>
                    <a:pt x="5019674" y="51617"/>
                  </a:lnTo>
                  <a:lnTo>
                    <a:pt x="5019674" y="55244"/>
                  </a:lnTo>
                  <a:lnTo>
                    <a:pt x="5019674" y="1906904"/>
                  </a:lnTo>
                  <a:lnTo>
                    <a:pt x="5019674" y="1910532"/>
                  </a:lnTo>
                  <a:lnTo>
                    <a:pt x="5019320" y="1914124"/>
                  </a:lnTo>
                  <a:lnTo>
                    <a:pt x="5018612" y="1917681"/>
                  </a:lnTo>
                  <a:lnTo>
                    <a:pt x="5017904" y="1921240"/>
                  </a:lnTo>
                  <a:lnTo>
                    <a:pt x="5016856" y="1924694"/>
                  </a:lnTo>
                  <a:lnTo>
                    <a:pt x="5015468" y="1928046"/>
                  </a:lnTo>
                  <a:lnTo>
                    <a:pt x="5014080" y="1931397"/>
                  </a:lnTo>
                  <a:lnTo>
                    <a:pt x="4995121" y="1952838"/>
                  </a:lnTo>
                  <a:lnTo>
                    <a:pt x="4992105" y="1954853"/>
                  </a:lnTo>
                  <a:lnTo>
                    <a:pt x="4964429" y="1962149"/>
                  </a:lnTo>
                  <a:lnTo>
                    <a:pt x="55245" y="1962149"/>
                  </a:lnTo>
                  <a:lnTo>
                    <a:pt x="24552" y="1952838"/>
                  </a:lnTo>
                  <a:lnTo>
                    <a:pt x="21536" y="1950822"/>
                  </a:lnTo>
                  <a:lnTo>
                    <a:pt x="4205" y="1928045"/>
                  </a:lnTo>
                  <a:lnTo>
                    <a:pt x="2817" y="1924694"/>
                  </a:lnTo>
                  <a:lnTo>
                    <a:pt x="1769" y="1921240"/>
                  </a:lnTo>
                  <a:lnTo>
                    <a:pt x="1061" y="1917681"/>
                  </a:lnTo>
                  <a:lnTo>
                    <a:pt x="353" y="1914124"/>
                  </a:lnTo>
                  <a:lnTo>
                    <a:pt x="0" y="1910532"/>
                  </a:lnTo>
                  <a:lnTo>
                    <a:pt x="0" y="1906904"/>
                  </a:lnTo>
                  <a:close/>
                </a:path>
              </a:pathLst>
            </a:custGeom>
            <a:ln w="9524">
              <a:solidFill>
                <a:srgbClr val="E2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1049" y="39242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7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6" y="491549"/>
                  </a:lnTo>
                  <a:lnTo>
                    <a:pt x="107292" y="466327"/>
                  </a:lnTo>
                  <a:lnTo>
                    <a:pt x="69368" y="433068"/>
                  </a:lnTo>
                  <a:lnTo>
                    <a:pt x="38662" y="393049"/>
                  </a:lnTo>
                  <a:lnTo>
                    <a:pt x="16352" y="347808"/>
                  </a:lnTo>
                  <a:lnTo>
                    <a:pt x="3298" y="299085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9" y="150975"/>
                  </a:lnTo>
                  <a:lnTo>
                    <a:pt x="48021" y="107292"/>
                  </a:lnTo>
                  <a:lnTo>
                    <a:pt x="81280" y="69369"/>
                  </a:lnTo>
                  <a:lnTo>
                    <a:pt x="121299" y="38662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7" y="0"/>
                  </a:lnTo>
                  <a:lnTo>
                    <a:pt x="315608" y="6584"/>
                  </a:lnTo>
                  <a:lnTo>
                    <a:pt x="363373" y="22798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1"/>
                  </a:lnTo>
                  <a:lnTo>
                    <a:pt x="514349" y="265597"/>
                  </a:lnTo>
                  <a:lnTo>
                    <a:pt x="507765" y="315607"/>
                  </a:lnTo>
                  <a:lnTo>
                    <a:pt x="491550" y="363372"/>
                  </a:lnTo>
                  <a:lnTo>
                    <a:pt x="466328" y="407055"/>
                  </a:lnTo>
                  <a:lnTo>
                    <a:pt x="433069" y="444980"/>
                  </a:lnTo>
                  <a:lnTo>
                    <a:pt x="393050" y="475686"/>
                  </a:lnTo>
                  <a:lnTo>
                    <a:pt x="347809" y="497996"/>
                  </a:lnTo>
                  <a:lnTo>
                    <a:pt x="299086" y="511051"/>
                  </a:lnTo>
                  <a:lnTo>
                    <a:pt x="274000" y="513936"/>
                  </a:lnTo>
                  <a:lnTo>
                    <a:pt x="265597" y="514349"/>
                  </a:lnTo>
                  <a:close/>
                </a:path>
              </a:pathLst>
            </a:custGeom>
            <a:solidFill>
              <a:srgbClr val="D160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8836" y="4070707"/>
              <a:ext cx="241605" cy="22436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68349" y="4583112"/>
            <a:ext cx="4392930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2A2E3C"/>
                </a:solidFill>
                <a:latin typeface="Cambria"/>
                <a:cs typeface="Cambria"/>
              </a:rPr>
              <a:t>Inclusive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spc="-75" dirty="0">
                <a:solidFill>
                  <a:srgbClr val="2A2E3C"/>
                </a:solidFill>
                <a:latin typeface="Verdana"/>
                <a:cs typeface="Verdana"/>
              </a:rPr>
              <a:t>Built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A2E3C"/>
                </a:solidFill>
                <a:latin typeface="Verdana"/>
                <a:cs typeface="Verdana"/>
              </a:rPr>
              <a:t>on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A2E3C"/>
                </a:solidFill>
                <a:latin typeface="Verdana"/>
                <a:cs typeface="Verdana"/>
              </a:rPr>
              <a:t>the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A2E3C"/>
                </a:solidFill>
                <a:latin typeface="Verdana"/>
                <a:cs typeface="Verdana"/>
              </a:rPr>
              <a:t>principle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A2E3C"/>
                </a:solidFill>
                <a:latin typeface="Verdana"/>
                <a:cs typeface="Verdana"/>
              </a:rPr>
              <a:t>of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A2E3C"/>
                </a:solidFill>
                <a:latin typeface="Arial Black"/>
                <a:cs typeface="Arial Black"/>
              </a:rPr>
              <a:t>"leaving</a:t>
            </a:r>
            <a:r>
              <a:rPr sz="1350" spc="-120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60" dirty="0">
                <a:solidFill>
                  <a:srgbClr val="2A2E3C"/>
                </a:solidFill>
                <a:latin typeface="Arial Black"/>
                <a:cs typeface="Arial Black"/>
              </a:rPr>
              <a:t>no</a:t>
            </a:r>
            <a:r>
              <a:rPr sz="1350" spc="-120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95" dirty="0">
                <a:solidFill>
                  <a:srgbClr val="2A2E3C"/>
                </a:solidFill>
                <a:latin typeface="Arial Black"/>
                <a:cs typeface="Arial Black"/>
              </a:rPr>
              <a:t>one</a:t>
            </a:r>
            <a:r>
              <a:rPr sz="1350" spc="-120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80" dirty="0">
                <a:solidFill>
                  <a:srgbClr val="2A2E3C"/>
                </a:solidFill>
                <a:latin typeface="Arial Black"/>
                <a:cs typeface="Arial Black"/>
              </a:rPr>
              <a:t>behind"</a:t>
            </a:r>
            <a:r>
              <a:rPr sz="1350" spc="-120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50" dirty="0">
                <a:solidFill>
                  <a:srgbClr val="2A2E3C"/>
                </a:solidFill>
                <a:latin typeface="Verdana"/>
                <a:cs typeface="Verdana"/>
              </a:rPr>
              <a:t>— </a:t>
            </a:r>
            <a:r>
              <a:rPr sz="1350" spc="-80" dirty="0">
                <a:solidFill>
                  <a:srgbClr val="2A2E3C"/>
                </a:solidFill>
                <a:latin typeface="Verdana"/>
                <a:cs typeface="Verdana"/>
              </a:rPr>
              <a:t>ensuring</a:t>
            </a:r>
            <a:r>
              <a:rPr sz="1350" spc="-13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A2E3C"/>
                </a:solidFill>
                <a:latin typeface="Verdana"/>
                <a:cs typeface="Verdana"/>
              </a:rPr>
              <a:t>the</a:t>
            </a:r>
            <a:r>
              <a:rPr sz="1350" spc="-13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A2E3C"/>
                </a:solidFill>
                <a:latin typeface="Verdana"/>
                <a:cs typeface="Verdana"/>
              </a:rPr>
              <a:t>most</a:t>
            </a:r>
            <a:r>
              <a:rPr sz="1350" spc="-13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A2E3C"/>
                </a:solidFill>
                <a:latin typeface="Verdana"/>
                <a:cs typeface="Verdana"/>
              </a:rPr>
              <a:t>vulnerable</a:t>
            </a:r>
            <a:r>
              <a:rPr sz="1350" spc="-13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A2E3C"/>
                </a:solidFill>
                <a:latin typeface="Verdana"/>
                <a:cs typeface="Verdana"/>
              </a:rPr>
              <a:t>populations</a:t>
            </a:r>
            <a:r>
              <a:rPr sz="1350" spc="-13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A2E3C"/>
                </a:solidFill>
                <a:latin typeface="Verdana"/>
                <a:cs typeface="Verdana"/>
              </a:rPr>
              <a:t>are</a:t>
            </a:r>
            <a:r>
              <a:rPr sz="1350" spc="-13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A2E3C"/>
                </a:solidFill>
                <a:latin typeface="Verdana"/>
                <a:cs typeface="Verdana"/>
              </a:rPr>
              <a:t>prioritised.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800723" y="3743324"/>
            <a:ext cx="5029200" cy="1971675"/>
            <a:chOff x="5800723" y="3743324"/>
            <a:chExt cx="5029200" cy="1971675"/>
          </a:xfrm>
        </p:grpSpPr>
        <p:sp>
          <p:nvSpPr>
            <p:cNvPr id="23" name="object 23"/>
            <p:cNvSpPr/>
            <p:nvPr/>
          </p:nvSpPr>
          <p:spPr>
            <a:xfrm>
              <a:off x="5805486" y="37480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4968056" y="1962149"/>
                  </a:moveTo>
                  <a:lnTo>
                    <a:pt x="51617" y="1962149"/>
                  </a:lnTo>
                  <a:lnTo>
                    <a:pt x="48024" y="1961795"/>
                  </a:lnTo>
                  <a:lnTo>
                    <a:pt x="13615" y="1943403"/>
                  </a:lnTo>
                  <a:lnTo>
                    <a:pt x="0" y="1910532"/>
                  </a:lnTo>
                  <a:lnTo>
                    <a:pt x="0" y="19069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4968056" y="0"/>
                  </a:lnTo>
                  <a:lnTo>
                    <a:pt x="5006057" y="18745"/>
                  </a:lnTo>
                  <a:lnTo>
                    <a:pt x="5019674" y="51617"/>
                  </a:lnTo>
                  <a:lnTo>
                    <a:pt x="5019674" y="1910532"/>
                  </a:lnTo>
                  <a:lnTo>
                    <a:pt x="5000928" y="1948532"/>
                  </a:lnTo>
                  <a:lnTo>
                    <a:pt x="4971649" y="1961795"/>
                  </a:lnTo>
                  <a:lnTo>
                    <a:pt x="4968056" y="1962149"/>
                  </a:lnTo>
                  <a:close/>
                </a:path>
              </a:pathLst>
            </a:custGeom>
            <a:solidFill>
              <a:srgbClr val="FB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05486" y="3748087"/>
              <a:ext cx="5019675" cy="1962150"/>
            </a:xfrm>
            <a:custGeom>
              <a:avLst/>
              <a:gdLst/>
              <a:ahLst/>
              <a:cxnLst/>
              <a:rect l="l" t="t" r="r" b="b"/>
              <a:pathLst>
                <a:path w="5019675" h="1962150">
                  <a:moveTo>
                    <a:pt x="0" y="1906904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6"/>
                  </a:lnTo>
                  <a:lnTo>
                    <a:pt x="1769" y="40908"/>
                  </a:lnTo>
                  <a:lnTo>
                    <a:pt x="2816" y="37454"/>
                  </a:lnTo>
                  <a:lnTo>
                    <a:pt x="4205" y="34103"/>
                  </a:lnTo>
                  <a:lnTo>
                    <a:pt x="5592" y="30751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964429" y="0"/>
                  </a:lnTo>
                  <a:lnTo>
                    <a:pt x="4968056" y="0"/>
                  </a:lnTo>
                  <a:lnTo>
                    <a:pt x="4971649" y="353"/>
                  </a:lnTo>
                  <a:lnTo>
                    <a:pt x="4975206" y="1061"/>
                  </a:lnTo>
                  <a:lnTo>
                    <a:pt x="4978764" y="1769"/>
                  </a:lnTo>
                  <a:lnTo>
                    <a:pt x="4982219" y="2817"/>
                  </a:lnTo>
                  <a:lnTo>
                    <a:pt x="4985570" y="4205"/>
                  </a:lnTo>
                  <a:lnTo>
                    <a:pt x="4988922" y="5592"/>
                  </a:lnTo>
                  <a:lnTo>
                    <a:pt x="4992105" y="7294"/>
                  </a:lnTo>
                  <a:lnTo>
                    <a:pt x="4995120" y="9310"/>
                  </a:lnTo>
                  <a:lnTo>
                    <a:pt x="4998138" y="11325"/>
                  </a:lnTo>
                  <a:lnTo>
                    <a:pt x="5010362" y="24552"/>
                  </a:lnTo>
                  <a:lnTo>
                    <a:pt x="5012377" y="27568"/>
                  </a:lnTo>
                  <a:lnTo>
                    <a:pt x="5018612" y="44466"/>
                  </a:lnTo>
                  <a:lnTo>
                    <a:pt x="5019320" y="48024"/>
                  </a:lnTo>
                  <a:lnTo>
                    <a:pt x="5019674" y="51617"/>
                  </a:lnTo>
                  <a:lnTo>
                    <a:pt x="5019675" y="55244"/>
                  </a:lnTo>
                  <a:lnTo>
                    <a:pt x="5019675" y="1906904"/>
                  </a:lnTo>
                  <a:lnTo>
                    <a:pt x="5019674" y="1910532"/>
                  </a:lnTo>
                  <a:lnTo>
                    <a:pt x="5019320" y="1914124"/>
                  </a:lnTo>
                  <a:lnTo>
                    <a:pt x="5018612" y="1917681"/>
                  </a:lnTo>
                  <a:lnTo>
                    <a:pt x="5017904" y="1921240"/>
                  </a:lnTo>
                  <a:lnTo>
                    <a:pt x="4995120" y="1952838"/>
                  </a:lnTo>
                  <a:lnTo>
                    <a:pt x="4992105" y="1954853"/>
                  </a:lnTo>
                  <a:lnTo>
                    <a:pt x="4964429" y="1962149"/>
                  </a:lnTo>
                  <a:lnTo>
                    <a:pt x="55245" y="1962149"/>
                  </a:lnTo>
                  <a:lnTo>
                    <a:pt x="24552" y="1952838"/>
                  </a:lnTo>
                  <a:lnTo>
                    <a:pt x="21535" y="1950822"/>
                  </a:lnTo>
                  <a:lnTo>
                    <a:pt x="18745" y="1948532"/>
                  </a:lnTo>
                  <a:lnTo>
                    <a:pt x="16180" y="1945968"/>
                  </a:lnTo>
                  <a:lnTo>
                    <a:pt x="13615" y="1943403"/>
                  </a:lnTo>
                  <a:lnTo>
                    <a:pt x="4205" y="1928045"/>
                  </a:lnTo>
                  <a:lnTo>
                    <a:pt x="2816" y="1924694"/>
                  </a:lnTo>
                  <a:lnTo>
                    <a:pt x="1769" y="1921240"/>
                  </a:lnTo>
                  <a:lnTo>
                    <a:pt x="1061" y="1917681"/>
                  </a:lnTo>
                  <a:lnTo>
                    <a:pt x="354" y="1914124"/>
                  </a:lnTo>
                  <a:lnTo>
                    <a:pt x="0" y="1910532"/>
                  </a:lnTo>
                  <a:lnTo>
                    <a:pt x="0" y="1906904"/>
                  </a:lnTo>
                  <a:close/>
                </a:path>
              </a:pathLst>
            </a:custGeom>
            <a:ln w="9524">
              <a:solidFill>
                <a:srgbClr val="E2C7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81699" y="39242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5" y="491549"/>
                  </a:lnTo>
                  <a:lnTo>
                    <a:pt x="107291" y="466327"/>
                  </a:lnTo>
                  <a:lnTo>
                    <a:pt x="69367" y="433068"/>
                  </a:lnTo>
                  <a:lnTo>
                    <a:pt x="38661" y="393049"/>
                  </a:lnTo>
                  <a:lnTo>
                    <a:pt x="16352" y="347808"/>
                  </a:lnTo>
                  <a:lnTo>
                    <a:pt x="3297" y="299085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8" y="150975"/>
                  </a:lnTo>
                  <a:lnTo>
                    <a:pt x="48019" y="107292"/>
                  </a:lnTo>
                  <a:lnTo>
                    <a:pt x="81279" y="69369"/>
                  </a:lnTo>
                  <a:lnTo>
                    <a:pt x="121298" y="38662"/>
                  </a:lnTo>
                  <a:lnTo>
                    <a:pt x="166538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8"/>
                  </a:lnTo>
                  <a:lnTo>
                    <a:pt x="407056" y="48020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49" y="248751"/>
                  </a:lnTo>
                  <a:lnTo>
                    <a:pt x="514349" y="265597"/>
                  </a:lnTo>
                  <a:lnTo>
                    <a:pt x="507764" y="315607"/>
                  </a:lnTo>
                  <a:lnTo>
                    <a:pt x="491549" y="363372"/>
                  </a:lnTo>
                  <a:lnTo>
                    <a:pt x="466327" y="407055"/>
                  </a:lnTo>
                  <a:lnTo>
                    <a:pt x="433068" y="444980"/>
                  </a:lnTo>
                  <a:lnTo>
                    <a:pt x="393050" y="475686"/>
                  </a:lnTo>
                  <a:lnTo>
                    <a:pt x="347808" y="497996"/>
                  </a:lnTo>
                  <a:lnTo>
                    <a:pt x="299085" y="511051"/>
                  </a:lnTo>
                  <a:lnTo>
                    <a:pt x="274000" y="513936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D160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1393" y="4061991"/>
              <a:ext cx="237791" cy="24179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68999" y="4583112"/>
            <a:ext cx="4539615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70" dirty="0">
                <a:solidFill>
                  <a:srgbClr val="2A2E3C"/>
                </a:solidFill>
                <a:latin typeface="Cambria"/>
                <a:cs typeface="Cambria"/>
              </a:rPr>
              <a:t>169</a:t>
            </a:r>
            <a:r>
              <a:rPr sz="1650" spc="-110" dirty="0">
                <a:solidFill>
                  <a:srgbClr val="2A2E3C"/>
                </a:solidFill>
                <a:latin typeface="Cambria"/>
                <a:cs typeface="Cambria"/>
              </a:rPr>
              <a:t> </a:t>
            </a:r>
            <a:r>
              <a:rPr sz="1650" spc="45" dirty="0">
                <a:solidFill>
                  <a:srgbClr val="2A2E3C"/>
                </a:solidFill>
                <a:latin typeface="Cambria"/>
                <a:cs typeface="Cambria"/>
              </a:rPr>
              <a:t>Measurable</a:t>
            </a:r>
            <a:r>
              <a:rPr sz="1650" spc="-105" dirty="0">
                <a:solidFill>
                  <a:srgbClr val="2A2E3C"/>
                </a:solidFill>
                <a:latin typeface="Cambria"/>
                <a:cs typeface="Cambria"/>
              </a:rPr>
              <a:t> </a:t>
            </a:r>
            <a:r>
              <a:rPr sz="1650" spc="-10" dirty="0">
                <a:solidFill>
                  <a:srgbClr val="2A2E3C"/>
                </a:solidFill>
                <a:latin typeface="Cambria"/>
                <a:cs typeface="Cambria"/>
              </a:rPr>
              <a:t>Targets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spc="-90" dirty="0">
                <a:solidFill>
                  <a:srgbClr val="2A2E3C"/>
                </a:solidFill>
                <a:latin typeface="Verdana"/>
                <a:cs typeface="Verdana"/>
              </a:rPr>
              <a:t>Backed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A2E3C"/>
                </a:solidFill>
                <a:latin typeface="Verdana"/>
                <a:cs typeface="Verdana"/>
              </a:rPr>
              <a:t>by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2A2E3C"/>
                </a:solidFill>
                <a:latin typeface="Arial Black"/>
                <a:cs typeface="Arial Black"/>
              </a:rPr>
              <a:t>169</a:t>
            </a:r>
            <a:r>
              <a:rPr sz="1350" spc="-114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135" dirty="0">
                <a:solidFill>
                  <a:srgbClr val="2A2E3C"/>
                </a:solidFill>
                <a:latin typeface="Arial Black"/>
                <a:cs typeface="Arial Black"/>
              </a:rPr>
              <a:t>specific</a:t>
            </a:r>
            <a:r>
              <a:rPr sz="1350" spc="-120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110" dirty="0">
                <a:solidFill>
                  <a:srgbClr val="2A2E3C"/>
                </a:solidFill>
                <a:latin typeface="Arial Black"/>
                <a:cs typeface="Arial Black"/>
              </a:rPr>
              <a:t>targets</a:t>
            </a:r>
            <a:r>
              <a:rPr sz="1350" spc="-120" dirty="0">
                <a:solidFill>
                  <a:srgbClr val="2A2E3C"/>
                </a:solidFill>
                <a:latin typeface="Arial Black"/>
                <a:cs typeface="Arial Black"/>
              </a:rPr>
              <a:t> </a:t>
            </a:r>
            <a:r>
              <a:rPr sz="1350" spc="-65" dirty="0">
                <a:solidFill>
                  <a:srgbClr val="2A2E3C"/>
                </a:solidFill>
                <a:latin typeface="Verdana"/>
                <a:cs typeface="Verdana"/>
              </a:rPr>
              <a:t>and</a:t>
            </a:r>
            <a:r>
              <a:rPr sz="1350" spc="-14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A2E3C"/>
                </a:solidFill>
                <a:latin typeface="Verdana"/>
                <a:cs typeface="Verdana"/>
              </a:rPr>
              <a:t>hundreds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A2E3C"/>
                </a:solidFill>
                <a:latin typeface="Verdana"/>
                <a:cs typeface="Verdana"/>
              </a:rPr>
              <a:t>of</a:t>
            </a:r>
            <a:r>
              <a:rPr sz="1350" spc="-14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A2E3C"/>
                </a:solidFill>
                <a:latin typeface="Verdana"/>
                <a:cs typeface="Verdana"/>
              </a:rPr>
              <a:t>indicators </a:t>
            </a:r>
            <a:r>
              <a:rPr sz="1350" spc="-60" dirty="0">
                <a:solidFill>
                  <a:srgbClr val="2A2E3C"/>
                </a:solidFill>
                <a:latin typeface="Verdana"/>
                <a:cs typeface="Verdana"/>
              </a:rPr>
              <a:t>to</a:t>
            </a:r>
            <a:r>
              <a:rPr sz="1350" spc="-15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A2E3C"/>
                </a:solidFill>
                <a:latin typeface="Verdana"/>
                <a:cs typeface="Verdana"/>
              </a:rPr>
              <a:t>track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A2E3C"/>
                </a:solidFill>
                <a:latin typeface="Verdana"/>
                <a:cs typeface="Verdana"/>
              </a:rPr>
              <a:t>and</a:t>
            </a:r>
            <a:r>
              <a:rPr sz="1350" spc="-155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A2E3C"/>
                </a:solidFill>
                <a:latin typeface="Verdana"/>
                <a:cs typeface="Verdana"/>
              </a:rPr>
              <a:t>measure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2A2E3C"/>
                </a:solidFill>
                <a:latin typeface="Verdana"/>
                <a:cs typeface="Verdana"/>
              </a:rPr>
              <a:t>real-</a:t>
            </a:r>
            <a:r>
              <a:rPr sz="1350" spc="-60" dirty="0">
                <a:solidFill>
                  <a:srgbClr val="2A2E3C"/>
                </a:solidFill>
                <a:latin typeface="Verdana"/>
                <a:cs typeface="Verdana"/>
              </a:rPr>
              <a:t>world</a:t>
            </a:r>
            <a:r>
              <a:rPr sz="1350" spc="-150" dirty="0">
                <a:solidFill>
                  <a:srgbClr val="2A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A2E3C"/>
                </a:solidFill>
                <a:latin typeface="Verdana"/>
                <a:cs typeface="Verdana"/>
              </a:rPr>
              <a:t>progress.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277225"/>
          </a:xfrm>
          <a:custGeom>
            <a:avLst/>
            <a:gdLst/>
            <a:ahLst/>
            <a:cxnLst/>
            <a:rect l="l" t="t" r="r" b="b"/>
            <a:pathLst>
              <a:path w="11430000" h="8277225">
                <a:moveTo>
                  <a:pt x="11430000" y="0"/>
                </a:moveTo>
                <a:lnTo>
                  <a:pt x="0" y="0"/>
                </a:lnTo>
                <a:lnTo>
                  <a:pt x="0" y="8277225"/>
                </a:lnTo>
                <a:lnTo>
                  <a:pt x="11430000" y="82772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70" dirty="0"/>
              <a:t>All</a:t>
            </a:r>
            <a:r>
              <a:rPr spc="-285" dirty="0"/>
              <a:t> </a:t>
            </a:r>
            <a:r>
              <a:rPr spc="-365" dirty="0"/>
              <a:t>17</a:t>
            </a:r>
            <a:r>
              <a:rPr spc="-285" dirty="0"/>
              <a:t> </a:t>
            </a:r>
            <a:r>
              <a:rPr spc="180" dirty="0"/>
              <a:t>SDGs</a:t>
            </a:r>
            <a:r>
              <a:rPr spc="-285" dirty="0"/>
              <a:t> </a:t>
            </a:r>
            <a:r>
              <a:rPr spc="385" dirty="0"/>
              <a:t>–</a:t>
            </a:r>
            <a:r>
              <a:rPr spc="-280" dirty="0"/>
              <a:t> </a:t>
            </a:r>
            <a:r>
              <a:rPr spc="35" dirty="0"/>
              <a:t>Overview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352550"/>
            <a:ext cx="10229849" cy="57054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7375" y="7212963"/>
            <a:ext cx="91979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17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SDGs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span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three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dimensions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B2E3C"/>
                </a:solidFill>
                <a:latin typeface="Verdana"/>
                <a:cs typeface="Verdana"/>
              </a:rPr>
              <a:t>of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sustainable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development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2B2E3C"/>
                </a:solidFill>
                <a:latin typeface="Verdana"/>
                <a:cs typeface="Verdana"/>
              </a:rPr>
              <a:t>—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40" dirty="0">
                <a:solidFill>
                  <a:srgbClr val="2B2E3C"/>
                </a:solidFill>
                <a:latin typeface="Arial Black"/>
                <a:cs typeface="Arial Black"/>
              </a:rPr>
              <a:t>social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, </a:t>
            </a:r>
            <a:r>
              <a:rPr sz="1350" spc="-135" dirty="0">
                <a:solidFill>
                  <a:srgbClr val="2B2E3C"/>
                </a:solidFill>
                <a:latin typeface="Arial Black"/>
                <a:cs typeface="Arial Black"/>
              </a:rPr>
              <a:t>economic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,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Arial Black"/>
                <a:cs typeface="Arial Black"/>
              </a:rPr>
              <a:t>environmental</a:t>
            </a:r>
            <a:r>
              <a:rPr sz="1350" spc="-114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dirty="0">
                <a:solidFill>
                  <a:srgbClr val="2B2E3C"/>
                </a:solidFill>
                <a:latin typeface="Verdana"/>
                <a:cs typeface="Verdana"/>
              </a:rPr>
              <a:t>—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forming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a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comprehensive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blueprint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prosperous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equitable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world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by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2030.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1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20" dirty="0"/>
              <a:t>Goals</a:t>
            </a:r>
            <a:r>
              <a:rPr spc="-275" dirty="0"/>
              <a:t> </a:t>
            </a:r>
            <a:r>
              <a:rPr spc="-145" dirty="0"/>
              <a:t>1–3:</a:t>
            </a:r>
            <a:r>
              <a:rPr spc="-270" dirty="0"/>
              <a:t> </a:t>
            </a:r>
            <a:r>
              <a:rPr spc="50" dirty="0"/>
              <a:t>People</a:t>
            </a:r>
            <a:r>
              <a:rPr spc="-275" dirty="0"/>
              <a:t> </a:t>
            </a:r>
            <a:r>
              <a:rPr dirty="0"/>
              <a:t>&amp;</a:t>
            </a:r>
            <a:r>
              <a:rPr spc="-270" dirty="0"/>
              <a:t> </a:t>
            </a:r>
            <a:r>
              <a:rPr spc="95" dirty="0"/>
              <a:t>Health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0075" y="1552574"/>
            <a:ext cx="2886075" cy="2390775"/>
            <a:chOff x="600075" y="1552574"/>
            <a:chExt cx="2886075" cy="2390775"/>
          </a:xfrm>
        </p:grpSpPr>
        <p:sp>
          <p:nvSpPr>
            <p:cNvPr id="5" name="object 5"/>
            <p:cNvSpPr/>
            <p:nvPr/>
          </p:nvSpPr>
          <p:spPr>
            <a:xfrm>
              <a:off x="604837" y="1557337"/>
              <a:ext cx="2876550" cy="2381250"/>
            </a:xfrm>
            <a:custGeom>
              <a:avLst/>
              <a:gdLst/>
              <a:ahLst/>
              <a:cxnLst/>
              <a:rect l="l" t="t" r="r" b="b"/>
              <a:pathLst>
                <a:path w="2876550" h="2381250">
                  <a:moveTo>
                    <a:pt x="2824937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2326005"/>
                  </a:lnTo>
                  <a:lnTo>
                    <a:pt x="0" y="2329637"/>
                  </a:lnTo>
                  <a:lnTo>
                    <a:pt x="18747" y="2367635"/>
                  </a:lnTo>
                  <a:lnTo>
                    <a:pt x="51619" y="2381250"/>
                  </a:lnTo>
                  <a:lnTo>
                    <a:pt x="2824937" y="2381250"/>
                  </a:lnTo>
                  <a:lnTo>
                    <a:pt x="2862935" y="2362504"/>
                  </a:lnTo>
                  <a:lnTo>
                    <a:pt x="2876550" y="232963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FC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4837" y="1557337"/>
              <a:ext cx="2876550" cy="2381250"/>
            </a:xfrm>
            <a:custGeom>
              <a:avLst/>
              <a:gdLst/>
              <a:ahLst/>
              <a:cxnLst/>
              <a:rect l="l" t="t" r="r" b="b"/>
              <a:pathLst>
                <a:path w="2876550" h="2381250">
                  <a:moveTo>
                    <a:pt x="0" y="23260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72346" y="34099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326005"/>
                  </a:lnTo>
                  <a:lnTo>
                    <a:pt x="2876550" y="2329637"/>
                  </a:lnTo>
                  <a:lnTo>
                    <a:pt x="2876194" y="2333218"/>
                  </a:lnTo>
                  <a:lnTo>
                    <a:pt x="2875483" y="2336787"/>
                  </a:lnTo>
                  <a:lnTo>
                    <a:pt x="2874784" y="2340343"/>
                  </a:lnTo>
                  <a:lnTo>
                    <a:pt x="2852000" y="2371940"/>
                  </a:lnTo>
                  <a:lnTo>
                    <a:pt x="2832074" y="2380183"/>
                  </a:lnTo>
                  <a:lnTo>
                    <a:pt x="2828518" y="2380894"/>
                  </a:lnTo>
                  <a:lnTo>
                    <a:pt x="2824937" y="2381250"/>
                  </a:lnTo>
                  <a:lnTo>
                    <a:pt x="2821305" y="2381250"/>
                  </a:lnTo>
                  <a:lnTo>
                    <a:pt x="55245" y="2381250"/>
                  </a:lnTo>
                  <a:lnTo>
                    <a:pt x="51619" y="2381250"/>
                  </a:lnTo>
                  <a:lnTo>
                    <a:pt x="48026" y="2380894"/>
                  </a:lnTo>
                  <a:lnTo>
                    <a:pt x="44465" y="2380183"/>
                  </a:lnTo>
                  <a:lnTo>
                    <a:pt x="40907" y="2379484"/>
                  </a:lnTo>
                  <a:lnTo>
                    <a:pt x="9311" y="2356688"/>
                  </a:lnTo>
                  <a:lnTo>
                    <a:pt x="7292" y="2353678"/>
                  </a:lnTo>
                  <a:lnTo>
                    <a:pt x="5590" y="2350503"/>
                  </a:lnTo>
                  <a:lnTo>
                    <a:pt x="4207" y="2347150"/>
                  </a:lnTo>
                  <a:lnTo>
                    <a:pt x="2818" y="2343797"/>
                  </a:lnTo>
                  <a:lnTo>
                    <a:pt x="1771" y="2340343"/>
                  </a:lnTo>
                  <a:lnTo>
                    <a:pt x="1061" y="2336787"/>
                  </a:lnTo>
                  <a:lnTo>
                    <a:pt x="351" y="2333218"/>
                  </a:lnTo>
                  <a:lnTo>
                    <a:pt x="0" y="2329637"/>
                  </a:lnTo>
                  <a:lnTo>
                    <a:pt x="0" y="2326005"/>
                  </a:lnTo>
                  <a:close/>
                </a:path>
              </a:pathLst>
            </a:custGeom>
            <a:ln w="9525">
              <a:solidFill>
                <a:srgbClr val="E2C8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8350" y="1695995"/>
            <a:ext cx="2237105" cy="20377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7975" algn="l"/>
              </a:tabLst>
            </a:pPr>
            <a:r>
              <a:rPr sz="1850" spc="-925" dirty="0">
                <a:latin typeface="Times New Roman"/>
                <a:cs typeface="Times New Roman"/>
              </a:rPr>
              <a:t>n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650" spc="75" dirty="0">
                <a:solidFill>
                  <a:srgbClr val="2B2E3C"/>
                </a:solidFill>
                <a:latin typeface="Cambria"/>
                <a:cs typeface="Cambria"/>
              </a:rPr>
              <a:t>Goal</a:t>
            </a:r>
            <a:r>
              <a:rPr sz="1650" spc="-13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-225" dirty="0">
                <a:solidFill>
                  <a:srgbClr val="2B2E3C"/>
                </a:solidFill>
                <a:latin typeface="Cambria"/>
                <a:cs typeface="Cambria"/>
              </a:rPr>
              <a:t>1</a:t>
            </a:r>
            <a:r>
              <a:rPr sz="1650" spc="-13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204" dirty="0">
                <a:solidFill>
                  <a:srgbClr val="2B2E3C"/>
                </a:solidFill>
                <a:latin typeface="Cambria"/>
                <a:cs typeface="Cambria"/>
              </a:rPr>
              <a:t>–</a:t>
            </a:r>
            <a:r>
              <a:rPr sz="1650" spc="-1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105" dirty="0">
                <a:solidFill>
                  <a:srgbClr val="2B2E3C"/>
                </a:solidFill>
                <a:latin typeface="Cambria"/>
                <a:cs typeface="Cambria"/>
              </a:rPr>
              <a:t>No</a:t>
            </a:r>
            <a:r>
              <a:rPr sz="1650" spc="-13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-10" dirty="0">
                <a:solidFill>
                  <a:srgbClr val="2B2E3C"/>
                </a:solidFill>
                <a:latin typeface="Cambria"/>
                <a:cs typeface="Cambria"/>
              </a:rPr>
              <a:t>Poverty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300"/>
              </a:lnSpc>
              <a:spcBef>
                <a:spcPts val="665"/>
              </a:spcBef>
            </a:pP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End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poverty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B2E3C"/>
                </a:solidFill>
                <a:latin typeface="Verdana"/>
                <a:cs typeface="Verdana"/>
              </a:rPr>
              <a:t>in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all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its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forms </a:t>
            </a:r>
            <a:r>
              <a:rPr sz="1350" spc="-100" dirty="0">
                <a:solidFill>
                  <a:srgbClr val="2B2E3C"/>
                </a:solidFill>
                <a:latin typeface="Verdana"/>
                <a:cs typeface="Verdana"/>
              </a:rPr>
              <a:t>everywhere.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2B2E3C"/>
                </a:solidFill>
                <a:latin typeface="Verdana"/>
                <a:cs typeface="Verdana"/>
              </a:rPr>
              <a:t>Improve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living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standards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ensure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social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protection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most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vulnerable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people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across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the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globe.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57600" y="1552574"/>
            <a:ext cx="2886075" cy="2390775"/>
            <a:chOff x="3657600" y="1552574"/>
            <a:chExt cx="2886075" cy="2390775"/>
          </a:xfrm>
        </p:grpSpPr>
        <p:sp>
          <p:nvSpPr>
            <p:cNvPr id="9" name="object 9"/>
            <p:cNvSpPr/>
            <p:nvPr/>
          </p:nvSpPr>
          <p:spPr>
            <a:xfrm>
              <a:off x="3662362" y="1557337"/>
              <a:ext cx="2876550" cy="2381250"/>
            </a:xfrm>
            <a:custGeom>
              <a:avLst/>
              <a:gdLst/>
              <a:ahLst/>
              <a:cxnLst/>
              <a:rect l="l" t="t" r="r" b="b"/>
              <a:pathLst>
                <a:path w="2876550" h="2381250">
                  <a:moveTo>
                    <a:pt x="282493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2326005"/>
                  </a:lnTo>
                  <a:lnTo>
                    <a:pt x="0" y="2329637"/>
                  </a:lnTo>
                  <a:lnTo>
                    <a:pt x="18745" y="2367635"/>
                  </a:lnTo>
                  <a:lnTo>
                    <a:pt x="51612" y="2381250"/>
                  </a:lnTo>
                  <a:lnTo>
                    <a:pt x="2824937" y="2381250"/>
                  </a:lnTo>
                  <a:lnTo>
                    <a:pt x="2862935" y="2362504"/>
                  </a:lnTo>
                  <a:lnTo>
                    <a:pt x="2876550" y="2329637"/>
                  </a:lnTo>
                  <a:lnTo>
                    <a:pt x="2876550" y="51612"/>
                  </a:lnTo>
                  <a:lnTo>
                    <a:pt x="2857804" y="13614"/>
                  </a:lnTo>
                  <a:lnTo>
                    <a:pt x="2828518" y="355"/>
                  </a:lnTo>
                  <a:lnTo>
                    <a:pt x="2824937" y="0"/>
                  </a:lnTo>
                  <a:close/>
                </a:path>
              </a:pathLst>
            </a:custGeom>
            <a:solidFill>
              <a:srgbClr val="FC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62362" y="1557337"/>
              <a:ext cx="2876550" cy="2381250"/>
            </a:xfrm>
            <a:custGeom>
              <a:avLst/>
              <a:gdLst/>
              <a:ahLst/>
              <a:cxnLst/>
              <a:rect l="l" t="t" r="r" b="b"/>
              <a:pathLst>
                <a:path w="2876550" h="2381250">
                  <a:moveTo>
                    <a:pt x="0" y="232600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2326005"/>
                  </a:lnTo>
                  <a:lnTo>
                    <a:pt x="2876550" y="2329637"/>
                  </a:lnTo>
                  <a:lnTo>
                    <a:pt x="2876194" y="2333218"/>
                  </a:lnTo>
                  <a:lnTo>
                    <a:pt x="2875483" y="2336787"/>
                  </a:lnTo>
                  <a:lnTo>
                    <a:pt x="2874784" y="2340343"/>
                  </a:lnTo>
                  <a:lnTo>
                    <a:pt x="2860370" y="2365070"/>
                  </a:lnTo>
                  <a:lnTo>
                    <a:pt x="2857804" y="2367635"/>
                  </a:lnTo>
                  <a:lnTo>
                    <a:pt x="2832074" y="2380183"/>
                  </a:lnTo>
                  <a:lnTo>
                    <a:pt x="2828518" y="2380894"/>
                  </a:lnTo>
                  <a:lnTo>
                    <a:pt x="2824937" y="2381250"/>
                  </a:lnTo>
                  <a:lnTo>
                    <a:pt x="2821305" y="2381250"/>
                  </a:lnTo>
                  <a:lnTo>
                    <a:pt x="55245" y="2381250"/>
                  </a:lnTo>
                  <a:lnTo>
                    <a:pt x="51612" y="2381250"/>
                  </a:lnTo>
                  <a:lnTo>
                    <a:pt x="48018" y="2380894"/>
                  </a:lnTo>
                  <a:lnTo>
                    <a:pt x="44462" y="2380183"/>
                  </a:lnTo>
                  <a:lnTo>
                    <a:pt x="40906" y="2379484"/>
                  </a:lnTo>
                  <a:lnTo>
                    <a:pt x="9309" y="2356688"/>
                  </a:lnTo>
                  <a:lnTo>
                    <a:pt x="7289" y="2353678"/>
                  </a:lnTo>
                  <a:lnTo>
                    <a:pt x="1066" y="2336787"/>
                  </a:lnTo>
                  <a:lnTo>
                    <a:pt x="355" y="2333218"/>
                  </a:lnTo>
                  <a:lnTo>
                    <a:pt x="0" y="2329637"/>
                  </a:lnTo>
                  <a:lnTo>
                    <a:pt x="0" y="2326005"/>
                  </a:lnTo>
                  <a:close/>
                </a:path>
              </a:pathLst>
            </a:custGeom>
            <a:ln w="9525">
              <a:solidFill>
                <a:srgbClr val="E2C8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25875" y="1695995"/>
            <a:ext cx="2487295" cy="176148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  <a:tabLst>
                <a:tab pos="307975" algn="l"/>
              </a:tabLst>
            </a:pP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650" spc="75" dirty="0">
                <a:solidFill>
                  <a:srgbClr val="2B2E3C"/>
                </a:solidFill>
                <a:latin typeface="Cambria"/>
                <a:cs typeface="Cambria"/>
              </a:rPr>
              <a:t>Goal</a:t>
            </a:r>
            <a:r>
              <a:rPr sz="1650" spc="-13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2</a:t>
            </a:r>
            <a:r>
              <a:rPr sz="1650" spc="-1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204" dirty="0">
                <a:solidFill>
                  <a:srgbClr val="2B2E3C"/>
                </a:solidFill>
                <a:latin typeface="Cambria"/>
                <a:cs typeface="Cambria"/>
              </a:rPr>
              <a:t>–</a:t>
            </a:r>
            <a:r>
              <a:rPr sz="1650" spc="-13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55" dirty="0">
                <a:solidFill>
                  <a:srgbClr val="2B2E3C"/>
                </a:solidFill>
                <a:latin typeface="Cambria"/>
                <a:cs typeface="Cambria"/>
              </a:rPr>
              <a:t>Zero</a:t>
            </a:r>
            <a:r>
              <a:rPr sz="1650" spc="-1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75" dirty="0">
                <a:solidFill>
                  <a:srgbClr val="2B2E3C"/>
                </a:solidFill>
                <a:latin typeface="Cambria"/>
                <a:cs typeface="Cambria"/>
              </a:rPr>
              <a:t>Hunger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710"/>
              </a:spcBef>
            </a:pP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End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hunger,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achieve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food </a:t>
            </a:r>
            <a:r>
              <a:rPr sz="1350" spc="-100" dirty="0">
                <a:solidFill>
                  <a:srgbClr val="2B2E3C"/>
                </a:solidFill>
                <a:latin typeface="Verdana"/>
                <a:cs typeface="Verdana"/>
              </a:rPr>
              <a:t>security,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improve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nutrition,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and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promote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sustainable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agriculture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feed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growing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global population.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0075" y="4114800"/>
            <a:ext cx="5943600" cy="1562100"/>
            <a:chOff x="600075" y="4114800"/>
            <a:chExt cx="5943600" cy="1562100"/>
          </a:xfrm>
        </p:grpSpPr>
        <p:sp>
          <p:nvSpPr>
            <p:cNvPr id="13" name="object 13"/>
            <p:cNvSpPr/>
            <p:nvPr/>
          </p:nvSpPr>
          <p:spPr>
            <a:xfrm>
              <a:off x="604837" y="4119562"/>
              <a:ext cx="5934075" cy="1552575"/>
            </a:xfrm>
            <a:custGeom>
              <a:avLst/>
              <a:gdLst/>
              <a:ahLst/>
              <a:cxnLst/>
              <a:rect l="l" t="t" r="r" b="b"/>
              <a:pathLst>
                <a:path w="5934075" h="1552575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497331"/>
                  </a:lnTo>
                  <a:lnTo>
                    <a:pt x="0" y="1500957"/>
                  </a:lnTo>
                  <a:lnTo>
                    <a:pt x="18747" y="1538958"/>
                  </a:lnTo>
                  <a:lnTo>
                    <a:pt x="51619" y="1552576"/>
                  </a:lnTo>
                  <a:lnTo>
                    <a:pt x="5882462" y="1552576"/>
                  </a:lnTo>
                  <a:lnTo>
                    <a:pt x="5920460" y="1533828"/>
                  </a:lnTo>
                  <a:lnTo>
                    <a:pt x="5934075" y="150095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FC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4837" y="4119562"/>
              <a:ext cx="5934075" cy="1552575"/>
            </a:xfrm>
            <a:custGeom>
              <a:avLst/>
              <a:gdLst/>
              <a:ahLst/>
              <a:cxnLst/>
              <a:rect l="l" t="t" r="r" b="b"/>
              <a:pathLst>
                <a:path w="5934075" h="1552575">
                  <a:moveTo>
                    <a:pt x="0" y="149733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25" y="9309"/>
                  </a:lnTo>
                  <a:lnTo>
                    <a:pt x="5912535" y="11315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1497331"/>
                  </a:lnTo>
                  <a:lnTo>
                    <a:pt x="5934075" y="1500957"/>
                  </a:lnTo>
                  <a:lnTo>
                    <a:pt x="5933719" y="1504548"/>
                  </a:lnTo>
                  <a:lnTo>
                    <a:pt x="5933008" y="1508105"/>
                  </a:lnTo>
                  <a:lnTo>
                    <a:pt x="5932309" y="1511663"/>
                  </a:lnTo>
                  <a:lnTo>
                    <a:pt x="5909525" y="1543264"/>
                  </a:lnTo>
                  <a:lnTo>
                    <a:pt x="5899962" y="1548368"/>
                  </a:lnTo>
                  <a:lnTo>
                    <a:pt x="5896622" y="1549758"/>
                  </a:lnTo>
                  <a:lnTo>
                    <a:pt x="5893168" y="1550804"/>
                  </a:lnTo>
                  <a:lnTo>
                    <a:pt x="5889599" y="1551514"/>
                  </a:lnTo>
                  <a:lnTo>
                    <a:pt x="5886043" y="1552219"/>
                  </a:lnTo>
                  <a:lnTo>
                    <a:pt x="5882462" y="1552576"/>
                  </a:lnTo>
                  <a:lnTo>
                    <a:pt x="5878830" y="1552576"/>
                  </a:lnTo>
                  <a:lnTo>
                    <a:pt x="55245" y="1552576"/>
                  </a:lnTo>
                  <a:lnTo>
                    <a:pt x="51619" y="1552576"/>
                  </a:lnTo>
                  <a:lnTo>
                    <a:pt x="48026" y="1552219"/>
                  </a:lnTo>
                  <a:lnTo>
                    <a:pt x="24551" y="1543264"/>
                  </a:lnTo>
                  <a:lnTo>
                    <a:pt x="21535" y="1541250"/>
                  </a:lnTo>
                  <a:lnTo>
                    <a:pt x="9311" y="1528019"/>
                  </a:lnTo>
                  <a:lnTo>
                    <a:pt x="7292" y="1525003"/>
                  </a:lnTo>
                  <a:lnTo>
                    <a:pt x="5590" y="1521823"/>
                  </a:lnTo>
                  <a:lnTo>
                    <a:pt x="4207" y="1518469"/>
                  </a:lnTo>
                  <a:lnTo>
                    <a:pt x="2818" y="1515116"/>
                  </a:lnTo>
                  <a:lnTo>
                    <a:pt x="1771" y="1511663"/>
                  </a:lnTo>
                  <a:lnTo>
                    <a:pt x="1061" y="1508105"/>
                  </a:lnTo>
                  <a:lnTo>
                    <a:pt x="351" y="1504548"/>
                  </a:lnTo>
                  <a:lnTo>
                    <a:pt x="0" y="1500957"/>
                  </a:lnTo>
                  <a:lnTo>
                    <a:pt x="0" y="1497331"/>
                  </a:lnTo>
                  <a:close/>
                </a:path>
              </a:pathLst>
            </a:custGeom>
            <a:ln w="9525">
              <a:solidFill>
                <a:srgbClr val="E2C8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68350" y="4276638"/>
            <a:ext cx="5347970" cy="119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7975" algn="l"/>
              </a:tabLst>
            </a:pPr>
            <a:r>
              <a:rPr sz="1700" spc="-1700" dirty="0">
                <a:latin typeface="Segoe UI Symbol"/>
                <a:cs typeface="Segoe UI Symbol"/>
              </a:rPr>
              <a:t>❤</a:t>
            </a:r>
            <a:r>
              <a:rPr sz="1700" dirty="0">
                <a:latin typeface="Segoe UI Symbol"/>
                <a:cs typeface="Segoe UI Symbol"/>
              </a:rPr>
              <a:t>	</a:t>
            </a:r>
            <a:r>
              <a:rPr sz="1650" spc="75" dirty="0">
                <a:solidFill>
                  <a:srgbClr val="2B2E3C"/>
                </a:solidFill>
                <a:latin typeface="Cambria"/>
                <a:cs typeface="Cambria"/>
              </a:rPr>
              <a:t>Goal</a:t>
            </a:r>
            <a:r>
              <a:rPr sz="1650" spc="-12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3</a:t>
            </a:r>
            <a:r>
              <a:rPr sz="1650" spc="-12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204" dirty="0">
                <a:solidFill>
                  <a:srgbClr val="2B2E3C"/>
                </a:solidFill>
                <a:latin typeface="Cambria"/>
                <a:cs typeface="Cambria"/>
              </a:rPr>
              <a:t>–</a:t>
            </a:r>
            <a:r>
              <a:rPr sz="1650" spc="-12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80" dirty="0">
                <a:solidFill>
                  <a:srgbClr val="2B2E3C"/>
                </a:solidFill>
                <a:latin typeface="Cambria"/>
                <a:cs typeface="Cambria"/>
              </a:rPr>
              <a:t>Good</a:t>
            </a:r>
            <a:r>
              <a:rPr sz="1650" spc="-12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50" dirty="0">
                <a:solidFill>
                  <a:srgbClr val="2B2E3C"/>
                </a:solidFill>
                <a:latin typeface="Cambria"/>
                <a:cs typeface="Cambria"/>
              </a:rPr>
              <a:t>Health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715"/>
              </a:spcBef>
            </a:pP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Ensure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healthy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lives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promote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well-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being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all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at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all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B2E3C"/>
                </a:solidFill>
                <a:latin typeface="Verdana"/>
                <a:cs typeface="Verdana"/>
              </a:rPr>
              <a:t>ages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5" dirty="0">
                <a:solidFill>
                  <a:srgbClr val="2B2E3C"/>
                </a:solidFill>
                <a:latin typeface="Verdana"/>
                <a:cs typeface="Verdana"/>
              </a:rPr>
              <a:t>through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better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healthcare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systems,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disease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prevention,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universal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health coverage.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"/>
            <a:ext cx="11430000" cy="8286751"/>
          </a:xfrm>
          <a:custGeom>
            <a:avLst/>
            <a:gdLst/>
            <a:ahLst/>
            <a:cxnLst/>
            <a:rect l="l" t="t" r="r" b="b"/>
            <a:pathLst>
              <a:path w="11430000" h="7553325">
                <a:moveTo>
                  <a:pt x="11430000" y="0"/>
                </a:moveTo>
                <a:lnTo>
                  <a:pt x="0" y="0"/>
                </a:lnTo>
                <a:lnTo>
                  <a:pt x="0" y="7553325"/>
                </a:lnTo>
                <a:lnTo>
                  <a:pt x="11430000" y="75533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20" dirty="0"/>
              <a:t>Goals</a:t>
            </a:r>
            <a:r>
              <a:rPr spc="-280" dirty="0"/>
              <a:t> </a:t>
            </a:r>
            <a:r>
              <a:rPr spc="-25" dirty="0"/>
              <a:t>4–5:</a:t>
            </a:r>
            <a:r>
              <a:rPr spc="-275" dirty="0"/>
              <a:t> </a:t>
            </a:r>
            <a:r>
              <a:rPr spc="75" dirty="0"/>
              <a:t>Education</a:t>
            </a:r>
            <a:r>
              <a:rPr spc="-275" dirty="0"/>
              <a:t> </a:t>
            </a:r>
            <a:r>
              <a:rPr dirty="0"/>
              <a:t>&amp;</a:t>
            </a:r>
            <a:r>
              <a:rPr spc="-275" dirty="0"/>
              <a:t> </a:t>
            </a:r>
            <a:r>
              <a:rPr spc="-10" dirty="0"/>
              <a:t>Equality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819275"/>
            <a:ext cx="6505574" cy="470534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539037" y="1462087"/>
            <a:ext cx="666750" cy="333375"/>
          </a:xfrm>
          <a:custGeom>
            <a:avLst/>
            <a:gdLst/>
            <a:ahLst/>
            <a:cxnLst/>
            <a:rect l="l" t="t" r="r" b="b"/>
            <a:pathLst>
              <a:path w="666750" h="333375">
                <a:moveTo>
                  <a:pt x="0" y="290131"/>
                </a:moveTo>
                <a:lnTo>
                  <a:pt x="0" y="43243"/>
                </a:lnTo>
                <a:lnTo>
                  <a:pt x="0" y="37503"/>
                </a:lnTo>
                <a:lnTo>
                  <a:pt x="1092" y="31991"/>
                </a:lnTo>
                <a:lnTo>
                  <a:pt x="3289" y="26695"/>
                </a:lnTo>
                <a:lnTo>
                  <a:pt x="5486" y="21399"/>
                </a:lnTo>
                <a:lnTo>
                  <a:pt x="8610" y="16725"/>
                </a:lnTo>
                <a:lnTo>
                  <a:pt x="37515" y="0"/>
                </a:lnTo>
                <a:lnTo>
                  <a:pt x="43243" y="0"/>
                </a:lnTo>
                <a:lnTo>
                  <a:pt x="623506" y="0"/>
                </a:lnTo>
                <a:lnTo>
                  <a:pt x="629234" y="0"/>
                </a:lnTo>
                <a:lnTo>
                  <a:pt x="634758" y="1104"/>
                </a:lnTo>
                <a:lnTo>
                  <a:pt x="663460" y="26695"/>
                </a:lnTo>
                <a:lnTo>
                  <a:pt x="665657" y="31991"/>
                </a:lnTo>
                <a:lnTo>
                  <a:pt x="666750" y="37503"/>
                </a:lnTo>
                <a:lnTo>
                  <a:pt x="666750" y="43243"/>
                </a:lnTo>
                <a:lnTo>
                  <a:pt x="666750" y="290131"/>
                </a:lnTo>
                <a:lnTo>
                  <a:pt x="666750" y="295871"/>
                </a:lnTo>
                <a:lnTo>
                  <a:pt x="665645" y="301383"/>
                </a:lnTo>
                <a:lnTo>
                  <a:pt x="640054" y="330085"/>
                </a:lnTo>
                <a:lnTo>
                  <a:pt x="629234" y="333375"/>
                </a:lnTo>
                <a:lnTo>
                  <a:pt x="623506" y="333375"/>
                </a:lnTo>
                <a:lnTo>
                  <a:pt x="43243" y="333375"/>
                </a:lnTo>
                <a:lnTo>
                  <a:pt x="37515" y="333375"/>
                </a:lnTo>
                <a:lnTo>
                  <a:pt x="31991" y="332282"/>
                </a:lnTo>
                <a:lnTo>
                  <a:pt x="3289" y="306679"/>
                </a:lnTo>
                <a:lnTo>
                  <a:pt x="1092" y="301383"/>
                </a:lnTo>
                <a:lnTo>
                  <a:pt x="0" y="295871"/>
                </a:lnTo>
                <a:lnTo>
                  <a:pt x="0" y="290131"/>
                </a:lnTo>
                <a:close/>
              </a:path>
            </a:pathLst>
          </a:custGeom>
          <a:ln w="9525">
            <a:solidFill>
              <a:srgbClr val="D25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39037" y="4443412"/>
            <a:ext cx="666750" cy="333375"/>
          </a:xfrm>
          <a:custGeom>
            <a:avLst/>
            <a:gdLst/>
            <a:ahLst/>
            <a:cxnLst/>
            <a:rect l="l" t="t" r="r" b="b"/>
            <a:pathLst>
              <a:path w="666750" h="333375">
                <a:moveTo>
                  <a:pt x="0" y="290131"/>
                </a:moveTo>
                <a:lnTo>
                  <a:pt x="0" y="43243"/>
                </a:lnTo>
                <a:lnTo>
                  <a:pt x="0" y="37503"/>
                </a:lnTo>
                <a:lnTo>
                  <a:pt x="1092" y="31991"/>
                </a:lnTo>
                <a:lnTo>
                  <a:pt x="3289" y="26695"/>
                </a:lnTo>
                <a:lnTo>
                  <a:pt x="5486" y="21399"/>
                </a:lnTo>
                <a:lnTo>
                  <a:pt x="8610" y="16725"/>
                </a:lnTo>
                <a:lnTo>
                  <a:pt x="37515" y="0"/>
                </a:lnTo>
                <a:lnTo>
                  <a:pt x="43243" y="0"/>
                </a:lnTo>
                <a:lnTo>
                  <a:pt x="623506" y="0"/>
                </a:lnTo>
                <a:lnTo>
                  <a:pt x="629234" y="0"/>
                </a:lnTo>
                <a:lnTo>
                  <a:pt x="634758" y="1104"/>
                </a:lnTo>
                <a:lnTo>
                  <a:pt x="663460" y="26695"/>
                </a:lnTo>
                <a:lnTo>
                  <a:pt x="665657" y="31991"/>
                </a:lnTo>
                <a:lnTo>
                  <a:pt x="666750" y="37503"/>
                </a:lnTo>
                <a:lnTo>
                  <a:pt x="666750" y="43243"/>
                </a:lnTo>
                <a:lnTo>
                  <a:pt x="666750" y="290131"/>
                </a:lnTo>
                <a:lnTo>
                  <a:pt x="666750" y="295859"/>
                </a:lnTo>
                <a:lnTo>
                  <a:pt x="665645" y="301383"/>
                </a:lnTo>
                <a:lnTo>
                  <a:pt x="640054" y="330085"/>
                </a:lnTo>
                <a:lnTo>
                  <a:pt x="634758" y="332282"/>
                </a:lnTo>
                <a:lnTo>
                  <a:pt x="629234" y="333375"/>
                </a:lnTo>
                <a:lnTo>
                  <a:pt x="623506" y="333375"/>
                </a:lnTo>
                <a:lnTo>
                  <a:pt x="43243" y="333375"/>
                </a:lnTo>
                <a:lnTo>
                  <a:pt x="37515" y="333375"/>
                </a:lnTo>
                <a:lnTo>
                  <a:pt x="31991" y="332282"/>
                </a:lnTo>
                <a:lnTo>
                  <a:pt x="26695" y="330085"/>
                </a:lnTo>
                <a:lnTo>
                  <a:pt x="21399" y="327888"/>
                </a:lnTo>
                <a:lnTo>
                  <a:pt x="3289" y="306679"/>
                </a:lnTo>
                <a:lnTo>
                  <a:pt x="1092" y="301383"/>
                </a:lnTo>
                <a:lnTo>
                  <a:pt x="0" y="295859"/>
                </a:lnTo>
                <a:lnTo>
                  <a:pt x="0" y="290131"/>
                </a:lnTo>
                <a:close/>
              </a:path>
            </a:pathLst>
          </a:custGeom>
          <a:ln w="9525">
            <a:solidFill>
              <a:srgbClr val="D25F0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34275" y="4191000"/>
            <a:ext cx="3305175" cy="9525"/>
          </a:xfrm>
          <a:custGeom>
            <a:avLst/>
            <a:gdLst/>
            <a:ahLst/>
            <a:cxnLst/>
            <a:rect l="l" t="t" r="r" b="b"/>
            <a:pathLst>
              <a:path w="3305175" h="9525">
                <a:moveTo>
                  <a:pt x="3305175" y="0"/>
                </a:moveTo>
                <a:lnTo>
                  <a:pt x="0" y="0"/>
                </a:lnTo>
                <a:lnTo>
                  <a:pt x="0" y="9525"/>
                </a:lnTo>
                <a:lnTo>
                  <a:pt x="3305175" y="9525"/>
                </a:lnTo>
                <a:lnTo>
                  <a:pt x="3305175" y="0"/>
                </a:lnTo>
                <a:close/>
              </a:path>
            </a:pathLst>
          </a:custGeom>
          <a:solidFill>
            <a:srgbClr val="2B2E3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18006" y="1431320"/>
            <a:ext cx="3330575" cy="54737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880"/>
              </a:spcBef>
            </a:pPr>
            <a:r>
              <a:rPr sz="1050" spc="-50" dirty="0">
                <a:solidFill>
                  <a:srgbClr val="D25F0E"/>
                </a:solidFill>
                <a:latin typeface="Verdana"/>
                <a:cs typeface="Verdana"/>
              </a:rPr>
              <a:t>GOAL</a:t>
            </a:r>
            <a:r>
              <a:rPr sz="1050" spc="-125" dirty="0">
                <a:solidFill>
                  <a:srgbClr val="D25F0E"/>
                </a:solidFill>
                <a:latin typeface="Verdana"/>
                <a:cs typeface="Verdana"/>
              </a:rPr>
              <a:t> </a:t>
            </a:r>
            <a:r>
              <a:rPr sz="1050" spc="-50" dirty="0">
                <a:solidFill>
                  <a:srgbClr val="D25F0E"/>
                </a:solidFill>
                <a:latin typeface="Verdana"/>
                <a:cs typeface="Verdana"/>
              </a:rPr>
              <a:t>4</a:t>
            </a:r>
            <a:endParaRPr sz="10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spc="45" dirty="0">
                <a:solidFill>
                  <a:srgbClr val="2C3F41"/>
                </a:solidFill>
                <a:latin typeface="Cambria"/>
                <a:cs typeface="Cambria"/>
              </a:rPr>
              <a:t>Quality</a:t>
            </a:r>
            <a:r>
              <a:rPr sz="1650" spc="-140" dirty="0">
                <a:solidFill>
                  <a:srgbClr val="2C3F41"/>
                </a:solidFill>
                <a:latin typeface="Cambria"/>
                <a:cs typeface="Cambria"/>
              </a:rPr>
              <a:t> </a:t>
            </a:r>
            <a:r>
              <a:rPr sz="1650" spc="35" dirty="0">
                <a:solidFill>
                  <a:srgbClr val="2C3F41"/>
                </a:solidFill>
                <a:latin typeface="Cambria"/>
                <a:cs typeface="Cambria"/>
              </a:rPr>
              <a:t>Education</a:t>
            </a:r>
            <a:endParaRPr sz="1650" dirty="0">
              <a:latin typeface="Cambria"/>
              <a:cs typeface="Cambria"/>
            </a:endParaRPr>
          </a:p>
          <a:p>
            <a:pPr marL="12700" marR="5080">
              <a:lnSpc>
                <a:spcPct val="133300"/>
              </a:lnSpc>
              <a:spcBef>
                <a:spcPts val="1230"/>
              </a:spcBef>
            </a:pP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Ensure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inclusive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equitable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quality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education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promote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Arial Black"/>
                <a:cs typeface="Arial Black"/>
              </a:rPr>
              <a:t>lifelong</a:t>
            </a:r>
            <a:r>
              <a:rPr sz="1350" spc="-10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Arial Black"/>
                <a:cs typeface="Arial Black"/>
              </a:rPr>
              <a:t>learning </a:t>
            </a:r>
            <a:r>
              <a:rPr sz="1350" spc="-85" dirty="0">
                <a:solidFill>
                  <a:srgbClr val="2B2E3C"/>
                </a:solidFill>
                <a:latin typeface="Arial Black"/>
                <a:cs typeface="Arial Black"/>
              </a:rPr>
              <a:t>opportunities</a:t>
            </a:r>
            <a:r>
              <a:rPr sz="1350" spc="-125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B2E3C"/>
                </a:solidFill>
                <a:latin typeface="Verdana"/>
                <a:cs typeface="Verdana"/>
              </a:rPr>
              <a:t>all.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This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includes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access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early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childhood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development,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vocational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training,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higher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education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2B2E3C"/>
                </a:solidFill>
                <a:latin typeface="Verdana"/>
                <a:cs typeface="Verdana"/>
              </a:rPr>
              <a:t>—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leaving </a:t>
            </a:r>
            <a:r>
              <a:rPr sz="1350" spc="-45" dirty="0">
                <a:solidFill>
                  <a:srgbClr val="2B2E3C"/>
                </a:solidFill>
                <a:latin typeface="Verdana"/>
                <a:cs typeface="Verdana"/>
              </a:rPr>
              <a:t>no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learner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behind.</a:t>
            </a: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350" dirty="0">
              <a:latin typeface="Verdana"/>
              <a:cs typeface="Verdana"/>
            </a:endParaRPr>
          </a:p>
          <a:p>
            <a:pPr marL="124460">
              <a:lnSpc>
                <a:spcPct val="100000"/>
              </a:lnSpc>
            </a:pPr>
            <a:r>
              <a:rPr sz="1050" spc="-50" dirty="0">
                <a:solidFill>
                  <a:srgbClr val="D25F0E"/>
                </a:solidFill>
                <a:latin typeface="Verdana"/>
                <a:cs typeface="Verdana"/>
              </a:rPr>
              <a:t>GOAL</a:t>
            </a:r>
            <a:r>
              <a:rPr sz="1050" spc="-125" dirty="0">
                <a:solidFill>
                  <a:srgbClr val="D25F0E"/>
                </a:solidFill>
                <a:latin typeface="Verdana"/>
                <a:cs typeface="Verdana"/>
              </a:rPr>
              <a:t> </a:t>
            </a:r>
            <a:r>
              <a:rPr sz="1050" spc="-50" dirty="0">
                <a:solidFill>
                  <a:srgbClr val="D25F0E"/>
                </a:solidFill>
                <a:latin typeface="Verdana"/>
                <a:cs typeface="Verdana"/>
              </a:rPr>
              <a:t>5</a:t>
            </a:r>
            <a:endParaRPr sz="10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spc="80" dirty="0">
                <a:solidFill>
                  <a:srgbClr val="2C3F41"/>
                </a:solidFill>
                <a:latin typeface="Cambria"/>
                <a:cs typeface="Cambria"/>
              </a:rPr>
              <a:t>Gender</a:t>
            </a:r>
            <a:r>
              <a:rPr sz="1650" spc="-135" dirty="0">
                <a:solidFill>
                  <a:srgbClr val="2C3F41"/>
                </a:solidFill>
                <a:latin typeface="Cambria"/>
                <a:cs typeface="Cambria"/>
              </a:rPr>
              <a:t> </a:t>
            </a:r>
            <a:r>
              <a:rPr sz="1650" spc="-10" dirty="0">
                <a:solidFill>
                  <a:srgbClr val="2C3F41"/>
                </a:solidFill>
                <a:latin typeface="Cambria"/>
                <a:cs typeface="Cambria"/>
              </a:rPr>
              <a:t>Equality</a:t>
            </a:r>
            <a:endParaRPr sz="1650" dirty="0">
              <a:latin typeface="Cambria"/>
              <a:cs typeface="Cambria"/>
            </a:endParaRPr>
          </a:p>
          <a:p>
            <a:pPr marL="12700" marR="75565">
              <a:lnSpc>
                <a:spcPct val="133300"/>
              </a:lnSpc>
              <a:spcBef>
                <a:spcPts val="1235"/>
              </a:spcBef>
            </a:pP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Achieve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gender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equality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2B2E3C"/>
                </a:solidFill>
                <a:latin typeface="Arial Black"/>
                <a:cs typeface="Arial Black"/>
              </a:rPr>
              <a:t>empower</a:t>
            </a:r>
            <a:r>
              <a:rPr sz="1350" spc="-11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Arial Black"/>
                <a:cs typeface="Arial Black"/>
              </a:rPr>
              <a:t>all </a:t>
            </a:r>
            <a:r>
              <a:rPr sz="1350" spc="-100" dirty="0">
                <a:solidFill>
                  <a:srgbClr val="2B2E3C"/>
                </a:solidFill>
                <a:latin typeface="Arial Black"/>
                <a:cs typeface="Arial Black"/>
              </a:rPr>
              <a:t>women</a:t>
            </a:r>
            <a:r>
              <a:rPr sz="1350" spc="-13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Arial Black"/>
                <a:cs typeface="Arial Black"/>
              </a:rPr>
              <a:t>and</a:t>
            </a:r>
            <a:r>
              <a:rPr sz="1350" spc="-125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114" dirty="0">
                <a:solidFill>
                  <a:srgbClr val="2B2E3C"/>
                </a:solidFill>
                <a:latin typeface="Arial Black"/>
                <a:cs typeface="Arial Black"/>
              </a:rPr>
              <a:t>girls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.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This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means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eliminating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discrimination,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 ensuring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equal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opportunities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2B2E3C"/>
                </a:solidFill>
                <a:latin typeface="Verdana"/>
                <a:cs typeface="Verdana"/>
              </a:rPr>
              <a:t>in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education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and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employment,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ending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all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forms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of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violence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against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women.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70" dirty="0"/>
              <a:t>Environmental</a:t>
            </a:r>
            <a:r>
              <a:rPr spc="-240" dirty="0"/>
              <a:t> </a:t>
            </a:r>
            <a:r>
              <a:rPr spc="100" dirty="0"/>
              <a:t>Goals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647824"/>
            <a:ext cx="1390650" cy="866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7375" y="2697162"/>
            <a:ext cx="2371725" cy="11982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60" dirty="0">
                <a:solidFill>
                  <a:srgbClr val="2B2E3C"/>
                </a:solidFill>
                <a:latin typeface="Cambria"/>
                <a:cs typeface="Cambria"/>
              </a:rPr>
              <a:t>Clean</a:t>
            </a:r>
            <a:r>
              <a:rPr sz="1650" spc="-6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Water</a:t>
            </a:r>
            <a:r>
              <a:rPr sz="1650" spc="-6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&amp;</a:t>
            </a:r>
            <a:r>
              <a:rPr sz="1650" spc="-6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40" dirty="0">
                <a:solidFill>
                  <a:srgbClr val="2B2E3C"/>
                </a:solidFill>
                <a:latin typeface="Cambria"/>
                <a:cs typeface="Cambria"/>
              </a:rPr>
              <a:t>Sanitation</a:t>
            </a:r>
            <a:endParaRPr sz="1650">
              <a:latin typeface="Cambria"/>
              <a:cs typeface="Cambria"/>
            </a:endParaRPr>
          </a:p>
          <a:p>
            <a:pPr marL="12700" marR="205104">
              <a:lnSpc>
                <a:spcPct val="134300"/>
              </a:lnSpc>
              <a:spcBef>
                <a:spcPts val="690"/>
              </a:spcBef>
            </a:pP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Ensure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availability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and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sustainable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management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of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water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sanitation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all.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9925" y="1647824"/>
            <a:ext cx="1390650" cy="866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98418" y="2697162"/>
            <a:ext cx="2176780" cy="14649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402590">
              <a:lnSpc>
                <a:spcPct val="106100"/>
              </a:lnSpc>
              <a:spcBef>
                <a:spcPts val="15"/>
              </a:spcBef>
            </a:pP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Affordable</a:t>
            </a:r>
            <a:r>
              <a:rPr sz="1650" spc="8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&amp;</a:t>
            </a:r>
            <a:r>
              <a:rPr sz="1650" spc="8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40" dirty="0">
                <a:solidFill>
                  <a:srgbClr val="2B2E3C"/>
                </a:solidFill>
                <a:latin typeface="Cambria"/>
                <a:cs typeface="Cambria"/>
              </a:rPr>
              <a:t>Clean </a:t>
            </a:r>
            <a:r>
              <a:rPr sz="1650" spc="-10" dirty="0">
                <a:solidFill>
                  <a:srgbClr val="2B2E3C"/>
                </a:solidFill>
                <a:latin typeface="Cambria"/>
                <a:cs typeface="Cambria"/>
              </a:rPr>
              <a:t>Energy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Ensure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access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affordable,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reliable,</a:t>
            </a:r>
            <a:r>
              <a:rPr sz="1350" spc="-10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sustainable,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and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modern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energy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all.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9775" y="1647824"/>
            <a:ext cx="1390650" cy="8667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09462" y="2697162"/>
            <a:ext cx="2277745" cy="1464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55" dirty="0">
                <a:solidFill>
                  <a:srgbClr val="2B2E3C"/>
                </a:solidFill>
                <a:latin typeface="Cambria"/>
                <a:cs typeface="Cambria"/>
              </a:rPr>
              <a:t>Climate</a:t>
            </a:r>
            <a:r>
              <a:rPr sz="1650" spc="-13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45" dirty="0">
                <a:solidFill>
                  <a:srgbClr val="2B2E3C"/>
                </a:solidFill>
                <a:latin typeface="Cambria"/>
                <a:cs typeface="Cambria"/>
              </a:rPr>
              <a:t>Action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715"/>
              </a:spcBef>
            </a:pPr>
            <a:r>
              <a:rPr sz="1350" spc="-105" dirty="0">
                <a:solidFill>
                  <a:srgbClr val="2B2E3C"/>
                </a:solidFill>
                <a:latin typeface="Verdana"/>
                <a:cs typeface="Verdana"/>
              </a:rPr>
              <a:t>Take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urgent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action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combat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climate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change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its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devastating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impacts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on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communities</a:t>
            </a:r>
            <a:r>
              <a:rPr sz="1350" spc="-10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worldwide.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9625" y="1647824"/>
            <a:ext cx="1390650" cy="8667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20493" y="2697162"/>
            <a:ext cx="2260600" cy="20078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170180">
              <a:lnSpc>
                <a:spcPct val="106100"/>
              </a:lnSpc>
              <a:spcBef>
                <a:spcPts val="15"/>
              </a:spcBef>
            </a:pP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Life</a:t>
            </a:r>
            <a:r>
              <a:rPr sz="1650" spc="-2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Below</a:t>
            </a:r>
            <a:r>
              <a:rPr sz="1650" spc="-2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Water</a:t>
            </a:r>
            <a:r>
              <a:rPr sz="1650" spc="-1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&amp;</a:t>
            </a:r>
            <a:r>
              <a:rPr sz="1650" spc="-2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95" dirty="0">
                <a:solidFill>
                  <a:srgbClr val="2B2E3C"/>
                </a:solidFill>
                <a:latin typeface="Cambria"/>
                <a:cs typeface="Cambria"/>
              </a:rPr>
              <a:t>On </a:t>
            </a:r>
            <a:r>
              <a:rPr sz="1650" spc="35" dirty="0">
                <a:solidFill>
                  <a:srgbClr val="2B2E3C"/>
                </a:solidFill>
                <a:latin typeface="Cambria"/>
                <a:cs typeface="Cambria"/>
              </a:rPr>
              <a:t>Land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710"/>
              </a:spcBef>
            </a:pP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Protect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oceans,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seas,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forests,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terrestrial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ecosystems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—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conserving</a:t>
            </a:r>
            <a:r>
              <a:rPr sz="1350" spc="-11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biodiversity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and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natural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resources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future generations.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0075" y="4924425"/>
            <a:ext cx="10229850" cy="742950"/>
            <a:chOff x="600075" y="4924425"/>
            <a:chExt cx="10229850" cy="742950"/>
          </a:xfrm>
        </p:grpSpPr>
        <p:sp>
          <p:nvSpPr>
            <p:cNvPr id="12" name="object 12"/>
            <p:cNvSpPr/>
            <p:nvPr/>
          </p:nvSpPr>
          <p:spPr>
            <a:xfrm>
              <a:off x="600075" y="4924425"/>
              <a:ext cx="10229850" cy="742950"/>
            </a:xfrm>
            <a:custGeom>
              <a:avLst/>
              <a:gdLst/>
              <a:ahLst/>
              <a:cxnLst/>
              <a:rect l="l" t="t" r="r" b="b"/>
              <a:pathLst>
                <a:path w="10229850" h="742950">
                  <a:moveTo>
                    <a:pt x="10173779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682943"/>
                  </a:lnTo>
                  <a:lnTo>
                    <a:pt x="0" y="686882"/>
                  </a:lnTo>
                  <a:lnTo>
                    <a:pt x="14789" y="722586"/>
                  </a:lnTo>
                  <a:lnTo>
                    <a:pt x="52163" y="742563"/>
                  </a:lnTo>
                  <a:lnTo>
                    <a:pt x="56067" y="742946"/>
                  </a:lnTo>
                  <a:lnTo>
                    <a:pt x="10173779" y="742946"/>
                  </a:lnTo>
                  <a:lnTo>
                    <a:pt x="10209479" y="728157"/>
                  </a:lnTo>
                  <a:lnTo>
                    <a:pt x="10229469" y="690782"/>
                  </a:lnTo>
                  <a:lnTo>
                    <a:pt x="10229850" y="686882"/>
                  </a:lnTo>
                  <a:lnTo>
                    <a:pt x="10229850" y="56070"/>
                  </a:lnTo>
                  <a:lnTo>
                    <a:pt x="10215067" y="20358"/>
                  </a:lnTo>
                  <a:lnTo>
                    <a:pt x="10177691" y="381"/>
                  </a:lnTo>
                  <a:lnTo>
                    <a:pt x="10173779" y="0"/>
                  </a:lnTo>
                  <a:close/>
                </a:path>
              </a:pathLst>
            </a:custGeom>
            <a:solidFill>
              <a:srgbClr val="B5FC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956" y="5191126"/>
              <a:ext cx="171450" cy="1714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44587" y="5142465"/>
            <a:ext cx="673671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3525" algn="l"/>
              </a:tabLst>
            </a:pPr>
            <a:r>
              <a:rPr sz="1450" spc="-1450" dirty="0">
                <a:latin typeface="MingLiU_HKSCS-ExtB"/>
                <a:cs typeface="MingLiU_HKSCS-ExtB"/>
              </a:rPr>
              <a:t>➡</a:t>
            </a:r>
            <a:r>
              <a:rPr sz="1450" dirty="0">
                <a:latin typeface="MingLiU_HKSCS-ExtB"/>
                <a:cs typeface="MingLiU_HKSCS-ExtB"/>
              </a:rPr>
              <a:t>	</a:t>
            </a:r>
            <a:r>
              <a:rPr sz="1350" spc="-100" dirty="0">
                <a:latin typeface="Verdana"/>
                <a:cs typeface="Verdana"/>
              </a:rPr>
              <a:t>Together,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80" dirty="0">
                <a:latin typeface="Verdana"/>
                <a:cs typeface="Verdana"/>
              </a:rPr>
              <a:t>these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90" dirty="0">
                <a:latin typeface="Verdana"/>
                <a:cs typeface="Verdana"/>
              </a:rPr>
              <a:t>goals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form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a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shield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for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50" dirty="0">
                <a:latin typeface="Verdana"/>
                <a:cs typeface="Verdana"/>
              </a:rPr>
              <a:t>our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80" dirty="0">
                <a:latin typeface="Verdana"/>
                <a:cs typeface="Verdana"/>
              </a:rPr>
              <a:t>planet's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80" dirty="0">
                <a:latin typeface="Verdana"/>
                <a:cs typeface="Verdana"/>
              </a:rPr>
              <a:t>most</a:t>
            </a:r>
            <a:r>
              <a:rPr sz="1350" spc="-140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precious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natural</a:t>
            </a:r>
            <a:r>
              <a:rPr sz="1350" spc="-145" dirty="0">
                <a:latin typeface="Verdana"/>
                <a:cs typeface="Verdana"/>
              </a:rPr>
              <a:t> </a:t>
            </a:r>
            <a:r>
              <a:rPr sz="1350" spc="-30" dirty="0">
                <a:latin typeface="Verdana"/>
                <a:cs typeface="Verdana"/>
              </a:rPr>
              <a:t>resources.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8286751"/>
          </a:xfrm>
          <a:custGeom>
            <a:avLst/>
            <a:gdLst/>
            <a:ahLst/>
            <a:cxnLst/>
            <a:rect l="l" t="t" r="r" b="b"/>
            <a:pathLst>
              <a:path w="11430000" h="6629400">
                <a:moveTo>
                  <a:pt x="11429999" y="6629399"/>
                </a:moveTo>
                <a:lnTo>
                  <a:pt x="0" y="66293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629399"/>
                </a:lnTo>
                <a:close/>
              </a:path>
            </a:pathLst>
          </a:custGeom>
          <a:solidFill>
            <a:srgbClr val="FFF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10" dirty="0">
                <a:solidFill>
                  <a:srgbClr val="2B3F41"/>
                </a:solidFill>
              </a:rPr>
              <a:t>Economic</a:t>
            </a:r>
            <a:r>
              <a:rPr spc="-280" dirty="0">
                <a:solidFill>
                  <a:srgbClr val="2B3F41"/>
                </a:solidFill>
              </a:rPr>
              <a:t> </a:t>
            </a:r>
            <a:r>
              <a:rPr dirty="0">
                <a:solidFill>
                  <a:srgbClr val="2B3F41"/>
                </a:solidFill>
              </a:rPr>
              <a:t>&amp;</a:t>
            </a:r>
            <a:r>
              <a:rPr spc="-275" dirty="0">
                <a:solidFill>
                  <a:srgbClr val="2B3F41"/>
                </a:solidFill>
              </a:rPr>
              <a:t> </a:t>
            </a:r>
            <a:r>
              <a:rPr spc="85" dirty="0">
                <a:solidFill>
                  <a:srgbClr val="2B3F41"/>
                </a:solidFill>
              </a:rPr>
              <a:t>Social</a:t>
            </a:r>
            <a:r>
              <a:rPr spc="-280" dirty="0">
                <a:solidFill>
                  <a:srgbClr val="2B3F41"/>
                </a:solidFill>
              </a:rPr>
              <a:t> </a:t>
            </a:r>
            <a:r>
              <a:rPr spc="100" dirty="0">
                <a:solidFill>
                  <a:srgbClr val="2B3F41"/>
                </a:solidFill>
              </a:rPr>
              <a:t>Goals</a:t>
            </a:r>
          </a:p>
        </p:txBody>
      </p:sp>
      <p:sp>
        <p:nvSpPr>
          <p:cNvPr id="4" name="object 4"/>
          <p:cNvSpPr/>
          <p:nvPr/>
        </p:nvSpPr>
        <p:spPr>
          <a:xfrm>
            <a:off x="600074" y="1457324"/>
            <a:ext cx="904875" cy="323850"/>
          </a:xfrm>
          <a:custGeom>
            <a:avLst/>
            <a:gdLst/>
            <a:ahLst/>
            <a:cxnLst/>
            <a:rect l="l" t="t" r="r" b="b"/>
            <a:pathLst>
              <a:path w="904875" h="323850">
                <a:moveTo>
                  <a:pt x="863234" y="323849"/>
                </a:moveTo>
                <a:lnTo>
                  <a:pt x="41639" y="323849"/>
                </a:lnTo>
                <a:lnTo>
                  <a:pt x="35516" y="322631"/>
                </a:lnTo>
                <a:lnTo>
                  <a:pt x="1218" y="288333"/>
                </a:lnTo>
                <a:lnTo>
                  <a:pt x="0" y="282209"/>
                </a:lnTo>
                <a:lnTo>
                  <a:pt x="0" y="275844"/>
                </a:lnTo>
                <a:lnTo>
                  <a:pt x="0" y="41639"/>
                </a:lnTo>
                <a:lnTo>
                  <a:pt x="23753" y="6090"/>
                </a:lnTo>
                <a:lnTo>
                  <a:pt x="41639" y="0"/>
                </a:lnTo>
                <a:lnTo>
                  <a:pt x="863234" y="0"/>
                </a:lnTo>
                <a:lnTo>
                  <a:pt x="898784" y="23753"/>
                </a:lnTo>
                <a:lnTo>
                  <a:pt x="904874" y="41639"/>
                </a:lnTo>
                <a:lnTo>
                  <a:pt x="904874" y="282209"/>
                </a:lnTo>
                <a:lnTo>
                  <a:pt x="881121" y="317759"/>
                </a:lnTo>
                <a:lnTo>
                  <a:pt x="869358" y="322631"/>
                </a:lnTo>
                <a:lnTo>
                  <a:pt x="863234" y="323849"/>
                </a:lnTo>
                <a:close/>
              </a:path>
            </a:pathLst>
          </a:custGeom>
          <a:solidFill>
            <a:srgbClr val="FB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6749" y="2339214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4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A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749" y="36631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4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A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6749" y="49966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4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A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780"/>
              </a:spcBef>
            </a:pPr>
            <a:r>
              <a:rPr spc="-10" dirty="0"/>
              <a:t>ECONOMIC</a:t>
            </a: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50" spc="10" dirty="0">
                <a:solidFill>
                  <a:srgbClr val="2B3F41"/>
                </a:solidFill>
                <a:latin typeface="Cambria"/>
                <a:cs typeface="Cambria"/>
              </a:rPr>
              <a:t>Driving </a:t>
            </a:r>
            <a:r>
              <a:rPr sz="1650" spc="-10" dirty="0">
                <a:solidFill>
                  <a:srgbClr val="2B3F41"/>
                </a:solidFill>
                <a:latin typeface="Cambria"/>
                <a:cs typeface="Cambria"/>
              </a:rPr>
              <a:t>Prosperity</a:t>
            </a:r>
            <a:endParaRPr sz="1650" dirty="0">
              <a:latin typeface="Cambria"/>
              <a:cs typeface="Cambria"/>
            </a:endParaRPr>
          </a:p>
          <a:p>
            <a:pPr marL="569595">
              <a:lnSpc>
                <a:spcPct val="100000"/>
              </a:lnSpc>
              <a:spcBef>
                <a:spcPts val="1695"/>
              </a:spcBef>
            </a:pPr>
            <a:r>
              <a:rPr sz="1650" spc="65" dirty="0">
                <a:latin typeface="Cambria"/>
                <a:cs typeface="Cambria"/>
              </a:rPr>
              <a:t>Economic</a:t>
            </a:r>
            <a:r>
              <a:rPr sz="1650" spc="-114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Growth</a:t>
            </a:r>
            <a:endParaRPr sz="1650" dirty="0">
              <a:latin typeface="Cambria"/>
              <a:cs typeface="Cambria"/>
            </a:endParaRPr>
          </a:p>
          <a:p>
            <a:pPr marL="569595" marR="5080">
              <a:lnSpc>
                <a:spcPct val="134300"/>
              </a:lnSpc>
              <a:spcBef>
                <a:spcPts val="1215"/>
              </a:spcBef>
            </a:pPr>
            <a:r>
              <a:rPr sz="1350" spc="-70" dirty="0"/>
              <a:t>Promote</a:t>
            </a:r>
            <a:r>
              <a:rPr sz="1350" spc="-114" dirty="0"/>
              <a:t> </a:t>
            </a:r>
            <a:r>
              <a:rPr sz="1350" spc="-90" dirty="0"/>
              <a:t>sustained,</a:t>
            </a:r>
            <a:r>
              <a:rPr sz="1350" spc="-114" dirty="0"/>
              <a:t> </a:t>
            </a:r>
            <a:r>
              <a:rPr sz="1350" spc="-95" dirty="0"/>
              <a:t>inclusive,</a:t>
            </a:r>
            <a:r>
              <a:rPr sz="1350" spc="-110" dirty="0"/>
              <a:t> </a:t>
            </a:r>
            <a:r>
              <a:rPr sz="1350" spc="-65" dirty="0"/>
              <a:t>and</a:t>
            </a:r>
            <a:r>
              <a:rPr sz="1350" spc="-114" dirty="0"/>
              <a:t> </a:t>
            </a:r>
            <a:r>
              <a:rPr sz="1350" spc="-80" dirty="0"/>
              <a:t>sustainable</a:t>
            </a:r>
            <a:r>
              <a:rPr sz="1350" spc="-114" dirty="0"/>
              <a:t> </a:t>
            </a:r>
            <a:r>
              <a:rPr sz="1350" spc="-35" dirty="0"/>
              <a:t>economic </a:t>
            </a:r>
            <a:r>
              <a:rPr sz="1350" spc="-80" dirty="0"/>
              <a:t>growth</a:t>
            </a:r>
            <a:r>
              <a:rPr sz="1350" spc="-135" dirty="0"/>
              <a:t> </a:t>
            </a:r>
            <a:r>
              <a:rPr sz="1350" spc="-65" dirty="0"/>
              <a:t>and</a:t>
            </a:r>
            <a:r>
              <a:rPr sz="1350" spc="-130" dirty="0"/>
              <a:t> </a:t>
            </a:r>
            <a:r>
              <a:rPr sz="1350" spc="-85" dirty="0"/>
              <a:t>full,</a:t>
            </a:r>
            <a:r>
              <a:rPr sz="1350" spc="-130" dirty="0"/>
              <a:t> </a:t>
            </a:r>
            <a:r>
              <a:rPr sz="1350" spc="-80" dirty="0"/>
              <a:t>productive</a:t>
            </a:r>
            <a:r>
              <a:rPr sz="1350" spc="-135" dirty="0"/>
              <a:t> </a:t>
            </a:r>
            <a:r>
              <a:rPr sz="1350" spc="-85" dirty="0"/>
              <a:t>employment</a:t>
            </a:r>
            <a:r>
              <a:rPr sz="1350" spc="-130" dirty="0"/>
              <a:t> </a:t>
            </a:r>
            <a:r>
              <a:rPr sz="1350" spc="-50" dirty="0"/>
              <a:t>for</a:t>
            </a:r>
            <a:r>
              <a:rPr sz="1350" spc="-130" dirty="0"/>
              <a:t> </a:t>
            </a:r>
            <a:r>
              <a:rPr sz="1350" spc="-20" dirty="0"/>
              <a:t>all.</a:t>
            </a:r>
            <a:endParaRPr sz="1350" dirty="0"/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350" dirty="0"/>
          </a:p>
          <a:p>
            <a:pPr marL="569595">
              <a:lnSpc>
                <a:spcPct val="100000"/>
              </a:lnSpc>
            </a:pPr>
            <a:r>
              <a:rPr sz="1650" dirty="0">
                <a:latin typeface="Cambria"/>
                <a:cs typeface="Cambria"/>
              </a:rPr>
              <a:t>Innovation</a:t>
            </a:r>
            <a:r>
              <a:rPr sz="1650" spc="8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&amp;</a:t>
            </a:r>
            <a:r>
              <a:rPr sz="1650" spc="90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Infrastructure</a:t>
            </a:r>
            <a:endParaRPr sz="1650" dirty="0">
              <a:latin typeface="Cambria"/>
              <a:cs typeface="Cambria"/>
            </a:endParaRPr>
          </a:p>
          <a:p>
            <a:pPr marL="569595" marR="157480">
              <a:lnSpc>
                <a:spcPct val="129600"/>
              </a:lnSpc>
              <a:spcBef>
                <a:spcPts val="1365"/>
              </a:spcBef>
            </a:pPr>
            <a:r>
              <a:rPr sz="1350" spc="-65" dirty="0"/>
              <a:t>Build</a:t>
            </a:r>
            <a:r>
              <a:rPr sz="1350" spc="-110" dirty="0"/>
              <a:t> </a:t>
            </a:r>
            <a:r>
              <a:rPr sz="1350" spc="-75" dirty="0"/>
              <a:t>resilient</a:t>
            </a:r>
            <a:r>
              <a:rPr sz="1350" spc="-110" dirty="0"/>
              <a:t> </a:t>
            </a:r>
            <a:r>
              <a:rPr sz="1350" spc="-85" dirty="0"/>
              <a:t>infrastructure,</a:t>
            </a:r>
            <a:r>
              <a:rPr sz="1350" spc="-110" dirty="0"/>
              <a:t> </a:t>
            </a:r>
            <a:r>
              <a:rPr sz="1350" spc="-70" dirty="0"/>
              <a:t>promote</a:t>
            </a:r>
            <a:r>
              <a:rPr sz="1350" spc="-110" dirty="0"/>
              <a:t> </a:t>
            </a:r>
            <a:r>
              <a:rPr sz="1350" spc="-10" dirty="0"/>
              <a:t>inclusive </a:t>
            </a:r>
            <a:r>
              <a:rPr sz="1350" spc="-85" dirty="0"/>
              <a:t>industrialisation,</a:t>
            </a:r>
            <a:r>
              <a:rPr sz="1350" spc="-110" dirty="0"/>
              <a:t> </a:t>
            </a:r>
            <a:r>
              <a:rPr sz="1350" spc="-65" dirty="0"/>
              <a:t>and</a:t>
            </a:r>
            <a:r>
              <a:rPr sz="1350" spc="-105" dirty="0"/>
              <a:t> </a:t>
            </a:r>
            <a:r>
              <a:rPr sz="1350" spc="-70" dirty="0"/>
              <a:t>foster</a:t>
            </a:r>
            <a:r>
              <a:rPr sz="1350" spc="-105" dirty="0"/>
              <a:t> </a:t>
            </a:r>
            <a:r>
              <a:rPr sz="1350" spc="-80" dirty="0"/>
              <a:t>innovation</a:t>
            </a:r>
            <a:r>
              <a:rPr sz="1350" spc="-110" dirty="0"/>
              <a:t> </a:t>
            </a:r>
            <a:r>
              <a:rPr sz="1350" spc="-80" dirty="0"/>
              <a:t>across</a:t>
            </a:r>
            <a:r>
              <a:rPr sz="1350" spc="-105" dirty="0"/>
              <a:t> </a:t>
            </a:r>
            <a:r>
              <a:rPr sz="1350" spc="-55" dirty="0"/>
              <a:t>sectors.</a:t>
            </a:r>
            <a:endParaRPr sz="1350" dirty="0"/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350" dirty="0"/>
          </a:p>
          <a:p>
            <a:pPr marL="569595">
              <a:lnSpc>
                <a:spcPct val="100000"/>
              </a:lnSpc>
            </a:pPr>
            <a:r>
              <a:rPr sz="1650" spc="20" dirty="0">
                <a:latin typeface="Cambria"/>
                <a:cs typeface="Cambria"/>
              </a:rPr>
              <a:t>Responsible</a:t>
            </a:r>
            <a:r>
              <a:rPr sz="1650" spc="7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Consumption</a:t>
            </a:r>
            <a:endParaRPr sz="1650" dirty="0">
              <a:latin typeface="Cambria"/>
              <a:cs typeface="Cambria"/>
            </a:endParaRPr>
          </a:p>
          <a:p>
            <a:pPr marL="569595" marR="257810">
              <a:lnSpc>
                <a:spcPct val="134300"/>
              </a:lnSpc>
              <a:spcBef>
                <a:spcPts val="1215"/>
              </a:spcBef>
            </a:pPr>
            <a:r>
              <a:rPr sz="1350" spc="-80" dirty="0"/>
              <a:t>Ensure</a:t>
            </a:r>
            <a:r>
              <a:rPr sz="1350" spc="-130" dirty="0"/>
              <a:t> </a:t>
            </a:r>
            <a:r>
              <a:rPr sz="1350" spc="-80" dirty="0"/>
              <a:t>sustainable</a:t>
            </a:r>
            <a:r>
              <a:rPr sz="1350" spc="-130" dirty="0"/>
              <a:t> </a:t>
            </a:r>
            <a:r>
              <a:rPr sz="1350" spc="-70" dirty="0"/>
              <a:t>consumption</a:t>
            </a:r>
            <a:r>
              <a:rPr sz="1350" spc="-130" dirty="0"/>
              <a:t> </a:t>
            </a:r>
            <a:r>
              <a:rPr sz="1350" spc="-65" dirty="0"/>
              <a:t>and</a:t>
            </a:r>
            <a:r>
              <a:rPr sz="1350" spc="-130" dirty="0"/>
              <a:t> </a:t>
            </a:r>
            <a:r>
              <a:rPr sz="1350" spc="-10" dirty="0"/>
              <a:t>production </a:t>
            </a:r>
            <a:r>
              <a:rPr sz="1350" spc="-80" dirty="0"/>
              <a:t>patterns</a:t>
            </a:r>
            <a:r>
              <a:rPr sz="1350" spc="-140" dirty="0"/>
              <a:t> </a:t>
            </a:r>
            <a:r>
              <a:rPr sz="1350" spc="-60" dirty="0"/>
              <a:t>to</a:t>
            </a:r>
            <a:r>
              <a:rPr sz="1350" spc="-135" dirty="0"/>
              <a:t> </a:t>
            </a:r>
            <a:r>
              <a:rPr sz="1350" spc="-70" dirty="0"/>
              <a:t>reduce</a:t>
            </a:r>
            <a:r>
              <a:rPr sz="1350" spc="-135" dirty="0"/>
              <a:t> </a:t>
            </a:r>
            <a:r>
              <a:rPr sz="1350" spc="-90" dirty="0"/>
              <a:t>waste</a:t>
            </a:r>
            <a:r>
              <a:rPr sz="1350" spc="-135" dirty="0"/>
              <a:t> </a:t>
            </a:r>
            <a:r>
              <a:rPr sz="1350" spc="-65" dirty="0"/>
              <a:t>and</a:t>
            </a:r>
            <a:r>
              <a:rPr sz="1350" spc="-140" dirty="0"/>
              <a:t> </a:t>
            </a:r>
            <a:r>
              <a:rPr sz="1350" spc="-80" dirty="0"/>
              <a:t>environmental</a:t>
            </a:r>
            <a:r>
              <a:rPr sz="1350" spc="-135" dirty="0"/>
              <a:t> </a:t>
            </a:r>
            <a:r>
              <a:rPr sz="1350" spc="-60" dirty="0"/>
              <a:t>impact.</a:t>
            </a:r>
            <a:endParaRPr sz="1350" dirty="0"/>
          </a:p>
        </p:txBody>
      </p:sp>
      <p:sp>
        <p:nvSpPr>
          <p:cNvPr id="9" name="object 9"/>
          <p:cNvSpPr/>
          <p:nvPr/>
        </p:nvSpPr>
        <p:spPr>
          <a:xfrm>
            <a:off x="5934073" y="1457324"/>
            <a:ext cx="647700" cy="323850"/>
          </a:xfrm>
          <a:custGeom>
            <a:avLst/>
            <a:gdLst/>
            <a:ahLst/>
            <a:cxnLst/>
            <a:rect l="l" t="t" r="r" b="b"/>
            <a:pathLst>
              <a:path w="647700" h="323850">
                <a:moveTo>
                  <a:pt x="606060" y="323849"/>
                </a:moveTo>
                <a:lnTo>
                  <a:pt x="41639" y="323849"/>
                </a:lnTo>
                <a:lnTo>
                  <a:pt x="35515" y="322631"/>
                </a:lnTo>
                <a:lnTo>
                  <a:pt x="1217" y="288333"/>
                </a:lnTo>
                <a:lnTo>
                  <a:pt x="0" y="282209"/>
                </a:lnTo>
                <a:lnTo>
                  <a:pt x="0" y="275844"/>
                </a:lnTo>
                <a:lnTo>
                  <a:pt x="0" y="41639"/>
                </a:lnTo>
                <a:lnTo>
                  <a:pt x="23753" y="6090"/>
                </a:lnTo>
                <a:lnTo>
                  <a:pt x="41639" y="0"/>
                </a:lnTo>
                <a:lnTo>
                  <a:pt x="606060" y="0"/>
                </a:lnTo>
                <a:lnTo>
                  <a:pt x="641609" y="23753"/>
                </a:lnTo>
                <a:lnTo>
                  <a:pt x="647699" y="41639"/>
                </a:lnTo>
                <a:lnTo>
                  <a:pt x="647699" y="282209"/>
                </a:lnTo>
                <a:lnTo>
                  <a:pt x="623946" y="317759"/>
                </a:lnTo>
                <a:lnTo>
                  <a:pt x="612183" y="322631"/>
                </a:lnTo>
                <a:lnTo>
                  <a:pt x="606060" y="323849"/>
                </a:lnTo>
                <a:close/>
              </a:path>
            </a:pathLst>
          </a:custGeom>
          <a:solidFill>
            <a:srgbClr val="FB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00749" y="2339214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A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00749" y="36631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A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00749" y="4996689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901" y="222182"/>
                </a:moveTo>
                <a:lnTo>
                  <a:pt x="144045" y="222182"/>
                </a:lnTo>
                <a:lnTo>
                  <a:pt x="136926" y="215063"/>
                </a:lnTo>
                <a:lnTo>
                  <a:pt x="136926" y="209207"/>
                </a:lnTo>
                <a:lnTo>
                  <a:pt x="225856" y="120277"/>
                </a:lnTo>
                <a:lnTo>
                  <a:pt x="4133" y="120277"/>
                </a:lnTo>
                <a:lnTo>
                  <a:pt x="0" y="116143"/>
                </a:lnTo>
                <a:lnTo>
                  <a:pt x="0" y="106039"/>
                </a:lnTo>
                <a:lnTo>
                  <a:pt x="4133" y="101905"/>
                </a:lnTo>
                <a:lnTo>
                  <a:pt x="225856" y="101905"/>
                </a:lnTo>
                <a:lnTo>
                  <a:pt x="136926" y="12975"/>
                </a:lnTo>
                <a:lnTo>
                  <a:pt x="136926" y="7119"/>
                </a:lnTo>
                <a:lnTo>
                  <a:pt x="144045" y="0"/>
                </a:lnTo>
                <a:lnTo>
                  <a:pt x="149901" y="0"/>
                </a:lnTo>
                <a:lnTo>
                  <a:pt x="258064" y="108163"/>
                </a:lnTo>
                <a:lnTo>
                  <a:pt x="258064" y="114019"/>
                </a:lnTo>
                <a:lnTo>
                  <a:pt x="254505" y="117578"/>
                </a:lnTo>
                <a:lnTo>
                  <a:pt x="149901" y="222182"/>
                </a:lnTo>
                <a:close/>
              </a:path>
            </a:pathLst>
          </a:custGeom>
          <a:solidFill>
            <a:srgbClr val="2A2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780"/>
              </a:spcBef>
            </a:pPr>
            <a:r>
              <a:rPr spc="-10" dirty="0"/>
              <a:t>SOCIAL</a:t>
            </a: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650" spc="20" dirty="0">
                <a:solidFill>
                  <a:srgbClr val="2B3F41"/>
                </a:solidFill>
                <a:latin typeface="Cambria"/>
                <a:cs typeface="Cambria"/>
              </a:rPr>
              <a:t>Building</a:t>
            </a:r>
            <a:r>
              <a:rPr sz="1650" spc="-50" dirty="0">
                <a:solidFill>
                  <a:srgbClr val="2B3F41"/>
                </a:solidFill>
                <a:latin typeface="Cambria"/>
                <a:cs typeface="Cambria"/>
              </a:rPr>
              <a:t> </a:t>
            </a:r>
            <a:r>
              <a:rPr sz="1650" spc="20" dirty="0">
                <a:solidFill>
                  <a:srgbClr val="2B3F41"/>
                </a:solidFill>
                <a:latin typeface="Cambria"/>
                <a:cs typeface="Cambria"/>
              </a:rPr>
              <a:t>Fairer</a:t>
            </a:r>
            <a:r>
              <a:rPr sz="1650" spc="-45" dirty="0">
                <a:solidFill>
                  <a:srgbClr val="2B3F41"/>
                </a:solidFill>
                <a:latin typeface="Cambria"/>
                <a:cs typeface="Cambria"/>
              </a:rPr>
              <a:t> </a:t>
            </a:r>
            <a:r>
              <a:rPr sz="1650" spc="40" dirty="0">
                <a:solidFill>
                  <a:srgbClr val="2B3F41"/>
                </a:solidFill>
                <a:latin typeface="Cambria"/>
                <a:cs typeface="Cambria"/>
              </a:rPr>
              <a:t>Societies</a:t>
            </a:r>
            <a:endParaRPr sz="1650">
              <a:latin typeface="Cambria"/>
              <a:cs typeface="Cambria"/>
            </a:endParaRPr>
          </a:p>
          <a:p>
            <a:pPr marL="569595">
              <a:lnSpc>
                <a:spcPct val="100000"/>
              </a:lnSpc>
              <a:spcBef>
                <a:spcPts val="1695"/>
              </a:spcBef>
            </a:pPr>
            <a:r>
              <a:rPr sz="1650" spc="50" dirty="0">
                <a:latin typeface="Cambria"/>
                <a:cs typeface="Cambria"/>
              </a:rPr>
              <a:t>Reduced</a:t>
            </a:r>
            <a:r>
              <a:rPr sz="1650" spc="-110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Inequality</a:t>
            </a:r>
            <a:endParaRPr sz="1650">
              <a:latin typeface="Cambria"/>
              <a:cs typeface="Cambria"/>
            </a:endParaRPr>
          </a:p>
          <a:p>
            <a:pPr marL="569595" marR="27940">
              <a:lnSpc>
                <a:spcPct val="134300"/>
              </a:lnSpc>
              <a:spcBef>
                <a:spcPts val="1215"/>
              </a:spcBef>
            </a:pPr>
            <a:r>
              <a:rPr sz="1350" spc="-85" dirty="0"/>
              <a:t>Reduce</a:t>
            </a:r>
            <a:r>
              <a:rPr sz="1350" spc="-120" dirty="0"/>
              <a:t> </a:t>
            </a:r>
            <a:r>
              <a:rPr sz="1350" spc="-85" dirty="0"/>
              <a:t>inequality</a:t>
            </a:r>
            <a:r>
              <a:rPr sz="1350" spc="-120" dirty="0"/>
              <a:t> </a:t>
            </a:r>
            <a:r>
              <a:rPr sz="1350" spc="-75" dirty="0"/>
              <a:t>within</a:t>
            </a:r>
            <a:r>
              <a:rPr sz="1350" spc="-120" dirty="0"/>
              <a:t> </a:t>
            </a:r>
            <a:r>
              <a:rPr sz="1350" spc="-65" dirty="0"/>
              <a:t>and</a:t>
            </a:r>
            <a:r>
              <a:rPr sz="1350" spc="-114" dirty="0"/>
              <a:t> </a:t>
            </a:r>
            <a:r>
              <a:rPr sz="1350" spc="-90" dirty="0"/>
              <a:t>among</a:t>
            </a:r>
            <a:r>
              <a:rPr sz="1350" spc="-120" dirty="0"/>
              <a:t> </a:t>
            </a:r>
            <a:r>
              <a:rPr sz="1350" spc="-85" dirty="0"/>
              <a:t>countries,</a:t>
            </a:r>
            <a:r>
              <a:rPr sz="1350" spc="-120" dirty="0"/>
              <a:t> </a:t>
            </a:r>
            <a:r>
              <a:rPr sz="1350" spc="-45" dirty="0"/>
              <a:t>ensuring </a:t>
            </a:r>
            <a:r>
              <a:rPr sz="1350" spc="-70" dirty="0"/>
              <a:t>fair</a:t>
            </a:r>
            <a:r>
              <a:rPr sz="1350" spc="-135" dirty="0"/>
              <a:t> </a:t>
            </a:r>
            <a:r>
              <a:rPr sz="1350" spc="-70" dirty="0"/>
              <a:t>distribution</a:t>
            </a:r>
            <a:r>
              <a:rPr sz="1350" spc="-135" dirty="0"/>
              <a:t> </a:t>
            </a:r>
            <a:r>
              <a:rPr sz="1350" spc="-45" dirty="0"/>
              <a:t>of</a:t>
            </a:r>
            <a:r>
              <a:rPr sz="1350" spc="-135" dirty="0"/>
              <a:t> </a:t>
            </a:r>
            <a:r>
              <a:rPr sz="1350" spc="-75" dirty="0"/>
              <a:t>resources</a:t>
            </a:r>
            <a:r>
              <a:rPr sz="1350" spc="-135" dirty="0"/>
              <a:t> </a:t>
            </a:r>
            <a:r>
              <a:rPr sz="1350" spc="-65" dirty="0"/>
              <a:t>and</a:t>
            </a:r>
            <a:r>
              <a:rPr sz="1350" spc="-135" dirty="0"/>
              <a:t> </a:t>
            </a:r>
            <a:r>
              <a:rPr sz="1350" spc="-10" dirty="0"/>
              <a:t>opportunities.</a:t>
            </a:r>
            <a:endParaRPr sz="1350"/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350"/>
          </a:p>
          <a:p>
            <a:pPr marL="569595">
              <a:lnSpc>
                <a:spcPct val="100000"/>
              </a:lnSpc>
            </a:pPr>
            <a:r>
              <a:rPr sz="1650" spc="50" dirty="0">
                <a:latin typeface="Cambria"/>
                <a:cs typeface="Cambria"/>
              </a:rPr>
              <a:t>Sustainable</a:t>
            </a:r>
            <a:r>
              <a:rPr sz="1650" spc="-95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Cities</a:t>
            </a:r>
            <a:endParaRPr sz="1650">
              <a:latin typeface="Cambria"/>
              <a:cs typeface="Cambria"/>
            </a:endParaRPr>
          </a:p>
          <a:p>
            <a:pPr marL="569595" marR="5080">
              <a:lnSpc>
                <a:spcPct val="129600"/>
              </a:lnSpc>
              <a:spcBef>
                <a:spcPts val="1365"/>
              </a:spcBef>
            </a:pPr>
            <a:r>
              <a:rPr sz="1350" spc="-65" dirty="0"/>
              <a:t>Make</a:t>
            </a:r>
            <a:r>
              <a:rPr sz="1350" spc="-130" dirty="0"/>
              <a:t> </a:t>
            </a:r>
            <a:r>
              <a:rPr sz="1350" spc="-85" dirty="0"/>
              <a:t>cities</a:t>
            </a:r>
            <a:r>
              <a:rPr sz="1350" spc="-130" dirty="0"/>
              <a:t> </a:t>
            </a:r>
            <a:r>
              <a:rPr sz="1350" spc="-65" dirty="0"/>
              <a:t>and</a:t>
            </a:r>
            <a:r>
              <a:rPr sz="1350" spc="-130" dirty="0"/>
              <a:t> </a:t>
            </a:r>
            <a:r>
              <a:rPr sz="1350" spc="-75" dirty="0"/>
              <a:t>human</a:t>
            </a:r>
            <a:r>
              <a:rPr sz="1350" spc="-130" dirty="0"/>
              <a:t> </a:t>
            </a:r>
            <a:r>
              <a:rPr sz="1350" spc="-85" dirty="0"/>
              <a:t>settlements</a:t>
            </a:r>
            <a:r>
              <a:rPr sz="1350" spc="-130" dirty="0"/>
              <a:t> </a:t>
            </a:r>
            <a:r>
              <a:rPr sz="1350" spc="-95" dirty="0"/>
              <a:t>inclusive,</a:t>
            </a:r>
            <a:r>
              <a:rPr sz="1350" spc="-130" dirty="0"/>
              <a:t> </a:t>
            </a:r>
            <a:r>
              <a:rPr sz="1350" spc="-10" dirty="0"/>
              <a:t>safe, </a:t>
            </a:r>
            <a:r>
              <a:rPr sz="1350" spc="-85" dirty="0"/>
              <a:t>resilient,</a:t>
            </a:r>
            <a:r>
              <a:rPr sz="1350" spc="-135" dirty="0"/>
              <a:t> </a:t>
            </a:r>
            <a:r>
              <a:rPr sz="1350" spc="-65" dirty="0"/>
              <a:t>and</a:t>
            </a:r>
            <a:r>
              <a:rPr sz="1350" spc="-130" dirty="0"/>
              <a:t> </a:t>
            </a:r>
            <a:r>
              <a:rPr sz="1350" spc="-80" dirty="0"/>
              <a:t>sustainable</a:t>
            </a:r>
            <a:r>
              <a:rPr sz="1350" spc="-135" dirty="0"/>
              <a:t> </a:t>
            </a:r>
            <a:r>
              <a:rPr sz="1350" spc="-50" dirty="0"/>
              <a:t>for</a:t>
            </a:r>
            <a:r>
              <a:rPr sz="1350" spc="-130" dirty="0"/>
              <a:t> </a:t>
            </a:r>
            <a:r>
              <a:rPr sz="1350" spc="-90" dirty="0"/>
              <a:t>growing</a:t>
            </a:r>
            <a:r>
              <a:rPr sz="1350" spc="-130" dirty="0"/>
              <a:t> </a:t>
            </a:r>
            <a:r>
              <a:rPr sz="1350" spc="-65" dirty="0"/>
              <a:t>urban</a:t>
            </a:r>
            <a:r>
              <a:rPr sz="1350" spc="-135" dirty="0"/>
              <a:t> </a:t>
            </a:r>
            <a:r>
              <a:rPr sz="1350" spc="-50" dirty="0"/>
              <a:t>populations.</a:t>
            </a:r>
            <a:endParaRPr sz="1350"/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350"/>
          </a:p>
          <a:p>
            <a:pPr marL="569595">
              <a:lnSpc>
                <a:spcPct val="100000"/>
              </a:lnSpc>
            </a:pPr>
            <a:r>
              <a:rPr sz="1650" spc="60" dirty="0">
                <a:latin typeface="Cambria"/>
                <a:cs typeface="Cambria"/>
              </a:rPr>
              <a:t>Peace</a:t>
            </a:r>
            <a:r>
              <a:rPr sz="1650" spc="-13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&amp;</a:t>
            </a:r>
            <a:r>
              <a:rPr sz="1650" spc="-130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Justice</a:t>
            </a:r>
            <a:endParaRPr sz="1650">
              <a:latin typeface="Cambria"/>
              <a:cs typeface="Cambria"/>
            </a:endParaRPr>
          </a:p>
          <a:p>
            <a:pPr marL="569595" marR="24130">
              <a:lnSpc>
                <a:spcPct val="134300"/>
              </a:lnSpc>
              <a:spcBef>
                <a:spcPts val="1215"/>
              </a:spcBef>
            </a:pPr>
            <a:r>
              <a:rPr sz="1350" spc="-70" dirty="0"/>
              <a:t>Promote</a:t>
            </a:r>
            <a:r>
              <a:rPr sz="1350" spc="-125" dirty="0"/>
              <a:t> </a:t>
            </a:r>
            <a:r>
              <a:rPr sz="1350" spc="-75" dirty="0"/>
              <a:t>peaceful</a:t>
            </a:r>
            <a:r>
              <a:rPr sz="1350" spc="-125" dirty="0"/>
              <a:t> </a:t>
            </a:r>
            <a:r>
              <a:rPr sz="1350" spc="-65" dirty="0"/>
              <a:t>and</a:t>
            </a:r>
            <a:r>
              <a:rPr sz="1350" spc="-120" dirty="0"/>
              <a:t> </a:t>
            </a:r>
            <a:r>
              <a:rPr sz="1350" spc="-85" dirty="0"/>
              <a:t>inclusive</a:t>
            </a:r>
            <a:r>
              <a:rPr sz="1350" spc="-125" dirty="0"/>
              <a:t> </a:t>
            </a:r>
            <a:r>
              <a:rPr sz="1350" spc="-90" dirty="0"/>
              <a:t>societies,</a:t>
            </a:r>
            <a:r>
              <a:rPr sz="1350" spc="-120" dirty="0"/>
              <a:t> </a:t>
            </a:r>
            <a:r>
              <a:rPr sz="1350" spc="-75" dirty="0"/>
              <a:t>provide</a:t>
            </a:r>
            <a:r>
              <a:rPr sz="1350" spc="-125" dirty="0"/>
              <a:t> </a:t>
            </a:r>
            <a:r>
              <a:rPr sz="1350" spc="-40" dirty="0"/>
              <a:t>access </a:t>
            </a:r>
            <a:r>
              <a:rPr sz="1350" spc="-60" dirty="0"/>
              <a:t>to</a:t>
            </a:r>
            <a:r>
              <a:rPr sz="1350" spc="-150" dirty="0"/>
              <a:t> </a:t>
            </a:r>
            <a:r>
              <a:rPr sz="1350" spc="-90" dirty="0"/>
              <a:t>justice</a:t>
            </a:r>
            <a:r>
              <a:rPr sz="1350" spc="-150" dirty="0"/>
              <a:t> </a:t>
            </a:r>
            <a:r>
              <a:rPr sz="1350" spc="-50" dirty="0"/>
              <a:t>for</a:t>
            </a:r>
            <a:r>
              <a:rPr sz="1350" spc="-145" dirty="0"/>
              <a:t> </a:t>
            </a:r>
            <a:r>
              <a:rPr sz="1350" spc="-100" dirty="0"/>
              <a:t>all,</a:t>
            </a:r>
            <a:r>
              <a:rPr sz="1350" spc="-150" dirty="0"/>
              <a:t> </a:t>
            </a:r>
            <a:r>
              <a:rPr sz="1350" spc="-65" dirty="0"/>
              <a:t>and</a:t>
            </a:r>
            <a:r>
              <a:rPr sz="1350" spc="-145" dirty="0"/>
              <a:t> </a:t>
            </a:r>
            <a:r>
              <a:rPr sz="1350" spc="-60" dirty="0"/>
              <a:t>build</a:t>
            </a:r>
            <a:r>
              <a:rPr sz="1350" spc="-150" dirty="0"/>
              <a:t> </a:t>
            </a:r>
            <a:r>
              <a:rPr sz="1350" spc="-85" dirty="0"/>
              <a:t>effective</a:t>
            </a:r>
            <a:r>
              <a:rPr sz="1350" spc="-145" dirty="0"/>
              <a:t> </a:t>
            </a:r>
            <a:r>
              <a:rPr sz="1350" spc="-10" dirty="0"/>
              <a:t>institutions.</a:t>
            </a:r>
            <a:endParaRPr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286749"/>
          </a:xfrm>
          <a:custGeom>
            <a:avLst/>
            <a:gdLst/>
            <a:ahLst/>
            <a:cxnLst/>
            <a:rect l="l" t="t" r="r" b="b"/>
            <a:pathLst>
              <a:path w="11430000" h="6496050">
                <a:moveTo>
                  <a:pt x="11430000" y="0"/>
                </a:moveTo>
                <a:lnTo>
                  <a:pt x="0" y="0"/>
                </a:lnTo>
                <a:lnTo>
                  <a:pt x="0" y="6496050"/>
                </a:lnTo>
                <a:lnTo>
                  <a:pt x="11430000" y="6496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4"/>
            <a:ext cx="4286250" cy="64957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98950">
              <a:lnSpc>
                <a:spcPct val="100000"/>
              </a:lnSpc>
              <a:spcBef>
                <a:spcPts val="125"/>
              </a:spcBef>
            </a:pPr>
            <a:r>
              <a:rPr spc="95" dirty="0"/>
              <a:t>Importance</a:t>
            </a:r>
            <a:r>
              <a:rPr spc="-28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75" dirty="0"/>
              <a:t>Conclusion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86325" y="1266825"/>
            <a:ext cx="5943600" cy="3362325"/>
            <a:chOff x="4886325" y="1266825"/>
            <a:chExt cx="5943600" cy="3362325"/>
          </a:xfrm>
        </p:grpSpPr>
        <p:sp>
          <p:nvSpPr>
            <p:cNvPr id="6" name="object 6"/>
            <p:cNvSpPr/>
            <p:nvPr/>
          </p:nvSpPr>
          <p:spPr>
            <a:xfrm>
              <a:off x="4891087" y="1271587"/>
              <a:ext cx="5934075" cy="3352800"/>
            </a:xfrm>
            <a:custGeom>
              <a:avLst/>
              <a:gdLst/>
              <a:ahLst/>
              <a:cxnLst/>
              <a:rect l="l" t="t" r="r" b="b"/>
              <a:pathLst>
                <a:path w="5934075" h="3352800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25"/>
                  </a:lnTo>
                  <a:lnTo>
                    <a:pt x="0" y="3297555"/>
                  </a:lnTo>
                  <a:lnTo>
                    <a:pt x="0" y="3301187"/>
                  </a:lnTo>
                  <a:lnTo>
                    <a:pt x="18745" y="3339185"/>
                  </a:lnTo>
                  <a:lnTo>
                    <a:pt x="51612" y="3352800"/>
                  </a:lnTo>
                  <a:lnTo>
                    <a:pt x="5882462" y="3352800"/>
                  </a:lnTo>
                  <a:lnTo>
                    <a:pt x="5920460" y="3334054"/>
                  </a:lnTo>
                  <a:lnTo>
                    <a:pt x="5934075" y="3301187"/>
                  </a:lnTo>
                  <a:lnTo>
                    <a:pt x="5934075" y="51625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FC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91087" y="1271587"/>
              <a:ext cx="5934075" cy="3352800"/>
            </a:xfrm>
            <a:custGeom>
              <a:avLst/>
              <a:gdLst/>
              <a:ahLst/>
              <a:cxnLst/>
              <a:rect l="l" t="t" r="r" b="b"/>
              <a:pathLst>
                <a:path w="5934075" h="3352800">
                  <a:moveTo>
                    <a:pt x="0" y="3297555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25"/>
                  </a:lnTo>
                  <a:lnTo>
                    <a:pt x="5934075" y="55245"/>
                  </a:lnTo>
                  <a:lnTo>
                    <a:pt x="5934075" y="3297555"/>
                  </a:lnTo>
                  <a:lnTo>
                    <a:pt x="5934075" y="3301187"/>
                  </a:lnTo>
                  <a:lnTo>
                    <a:pt x="5933719" y="3304768"/>
                  </a:lnTo>
                  <a:lnTo>
                    <a:pt x="5933008" y="3308337"/>
                  </a:lnTo>
                  <a:lnTo>
                    <a:pt x="5932309" y="3311893"/>
                  </a:lnTo>
                  <a:lnTo>
                    <a:pt x="5917895" y="3336620"/>
                  </a:lnTo>
                  <a:lnTo>
                    <a:pt x="5915329" y="3339185"/>
                  </a:lnTo>
                  <a:lnTo>
                    <a:pt x="5889599" y="3351733"/>
                  </a:lnTo>
                  <a:lnTo>
                    <a:pt x="5886043" y="3352444"/>
                  </a:lnTo>
                  <a:lnTo>
                    <a:pt x="5882462" y="3352800"/>
                  </a:lnTo>
                  <a:lnTo>
                    <a:pt x="5878830" y="3352800"/>
                  </a:lnTo>
                  <a:lnTo>
                    <a:pt x="55245" y="3352800"/>
                  </a:lnTo>
                  <a:lnTo>
                    <a:pt x="51612" y="3352800"/>
                  </a:lnTo>
                  <a:lnTo>
                    <a:pt x="48018" y="3352444"/>
                  </a:lnTo>
                  <a:lnTo>
                    <a:pt x="44462" y="3351733"/>
                  </a:lnTo>
                  <a:lnTo>
                    <a:pt x="40906" y="3351034"/>
                  </a:lnTo>
                  <a:lnTo>
                    <a:pt x="16179" y="3336620"/>
                  </a:lnTo>
                  <a:lnTo>
                    <a:pt x="13614" y="3334054"/>
                  </a:lnTo>
                  <a:lnTo>
                    <a:pt x="11328" y="3331260"/>
                  </a:lnTo>
                  <a:lnTo>
                    <a:pt x="9309" y="3328238"/>
                  </a:lnTo>
                  <a:lnTo>
                    <a:pt x="7289" y="3325228"/>
                  </a:lnTo>
                  <a:lnTo>
                    <a:pt x="1066" y="3308337"/>
                  </a:lnTo>
                  <a:lnTo>
                    <a:pt x="355" y="3304768"/>
                  </a:lnTo>
                  <a:lnTo>
                    <a:pt x="0" y="3301187"/>
                  </a:lnTo>
                  <a:lnTo>
                    <a:pt x="0" y="3297555"/>
                  </a:lnTo>
                  <a:close/>
                </a:path>
              </a:pathLst>
            </a:custGeom>
            <a:ln w="9525">
              <a:solidFill>
                <a:srgbClr val="E2C8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5850" y="1276350"/>
              <a:ext cx="2962275" cy="2076450"/>
            </a:xfrm>
            <a:custGeom>
              <a:avLst/>
              <a:gdLst/>
              <a:ahLst/>
              <a:cxnLst/>
              <a:rect l="l" t="t" r="r" b="b"/>
              <a:pathLst>
                <a:path w="2962275" h="2076450">
                  <a:moveTo>
                    <a:pt x="2962275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2076450"/>
                  </a:lnTo>
                  <a:lnTo>
                    <a:pt x="2962275" y="2076450"/>
                  </a:lnTo>
                  <a:lnTo>
                    <a:pt x="2962275" y="0"/>
                  </a:lnTo>
                  <a:close/>
                </a:path>
              </a:pathLst>
            </a:custGeom>
            <a:solidFill>
              <a:srgbClr val="FC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54600" y="1420812"/>
            <a:ext cx="2556510" cy="17316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803275">
              <a:lnSpc>
                <a:spcPct val="106100"/>
              </a:lnSpc>
              <a:spcBef>
                <a:spcPts val="15"/>
              </a:spcBef>
            </a:pPr>
            <a:r>
              <a:rPr sz="1650" spc="55" dirty="0">
                <a:solidFill>
                  <a:srgbClr val="2B2E3C"/>
                </a:solidFill>
                <a:latin typeface="Cambria"/>
                <a:cs typeface="Cambria"/>
              </a:rPr>
              <a:t>Reduces</a:t>
            </a:r>
            <a:r>
              <a:rPr sz="1650" spc="-8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Poverty</a:t>
            </a:r>
            <a:r>
              <a:rPr sz="1650" spc="-7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-60" dirty="0">
                <a:solidFill>
                  <a:srgbClr val="2B2E3C"/>
                </a:solidFill>
                <a:latin typeface="Cambria"/>
                <a:cs typeface="Cambria"/>
              </a:rPr>
              <a:t>&amp; </a:t>
            </a:r>
            <a:r>
              <a:rPr sz="1650" spc="-10" dirty="0">
                <a:solidFill>
                  <a:srgbClr val="2B2E3C"/>
                </a:solidFill>
                <a:latin typeface="Cambria"/>
                <a:cs typeface="Cambria"/>
              </a:rPr>
              <a:t>Inequality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715"/>
              </a:spcBef>
            </a:pP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SDGs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directly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target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root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causes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2B2E3C"/>
                </a:solidFill>
                <a:latin typeface="Verdana"/>
                <a:cs typeface="Verdana"/>
              </a:rPr>
              <a:t>of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poverty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social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exclusion,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creating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pathways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a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more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equitable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world.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858125" y="1276350"/>
            <a:ext cx="2962275" cy="2076450"/>
            <a:chOff x="7858125" y="1276350"/>
            <a:chExt cx="2962275" cy="2076450"/>
          </a:xfrm>
        </p:grpSpPr>
        <p:sp>
          <p:nvSpPr>
            <p:cNvPr id="11" name="object 11"/>
            <p:cNvSpPr/>
            <p:nvPr/>
          </p:nvSpPr>
          <p:spPr>
            <a:xfrm>
              <a:off x="7858125" y="1276350"/>
              <a:ext cx="2962275" cy="2076450"/>
            </a:xfrm>
            <a:custGeom>
              <a:avLst/>
              <a:gdLst/>
              <a:ahLst/>
              <a:cxnLst/>
              <a:rect l="l" t="t" r="r" b="b"/>
              <a:pathLst>
                <a:path w="2962275" h="2076450">
                  <a:moveTo>
                    <a:pt x="2906204" y="0"/>
                  </a:moveTo>
                  <a:lnTo>
                    <a:pt x="0" y="0"/>
                  </a:lnTo>
                  <a:lnTo>
                    <a:pt x="0" y="2076450"/>
                  </a:lnTo>
                  <a:lnTo>
                    <a:pt x="2962275" y="2076450"/>
                  </a:lnTo>
                  <a:lnTo>
                    <a:pt x="2962275" y="56070"/>
                  </a:lnTo>
                  <a:lnTo>
                    <a:pt x="2947479" y="20358"/>
                  </a:lnTo>
                  <a:lnTo>
                    <a:pt x="2910116" y="381"/>
                  </a:lnTo>
                  <a:lnTo>
                    <a:pt x="2906204" y="0"/>
                  </a:lnTo>
                  <a:close/>
                </a:path>
              </a:pathLst>
            </a:custGeom>
            <a:solidFill>
              <a:srgbClr val="FC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58125" y="1276350"/>
              <a:ext cx="19050" cy="2076450"/>
            </a:xfrm>
            <a:custGeom>
              <a:avLst/>
              <a:gdLst/>
              <a:ahLst/>
              <a:cxnLst/>
              <a:rect l="l" t="t" r="r" b="b"/>
              <a:pathLst>
                <a:path w="19050" h="2076450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2066925"/>
                  </a:lnTo>
                  <a:lnTo>
                    <a:pt x="0" y="2069553"/>
                  </a:lnTo>
                  <a:lnTo>
                    <a:pt x="927" y="2071801"/>
                  </a:lnTo>
                  <a:lnTo>
                    <a:pt x="4648" y="2075522"/>
                  </a:lnTo>
                  <a:lnTo>
                    <a:pt x="6896" y="2076450"/>
                  </a:lnTo>
                  <a:lnTo>
                    <a:pt x="12153" y="2076450"/>
                  </a:lnTo>
                  <a:lnTo>
                    <a:pt x="14401" y="2075522"/>
                  </a:lnTo>
                  <a:lnTo>
                    <a:pt x="18122" y="2071801"/>
                  </a:lnTo>
                  <a:lnTo>
                    <a:pt x="19050" y="2069553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E2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016875" y="1420812"/>
            <a:ext cx="2646045" cy="14649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" dirty="0">
                <a:solidFill>
                  <a:srgbClr val="2B2E3C"/>
                </a:solidFill>
                <a:latin typeface="Cambria"/>
                <a:cs typeface="Cambria"/>
              </a:rPr>
              <a:t>Protects</a:t>
            </a:r>
            <a:r>
              <a:rPr sz="1650" spc="-6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65" dirty="0">
                <a:solidFill>
                  <a:srgbClr val="2B2E3C"/>
                </a:solidFill>
                <a:latin typeface="Cambria"/>
                <a:cs typeface="Cambria"/>
              </a:rPr>
              <a:t>the</a:t>
            </a:r>
            <a:r>
              <a:rPr sz="1650" spc="-6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40" dirty="0">
                <a:solidFill>
                  <a:srgbClr val="2B2E3C"/>
                </a:solidFill>
                <a:latin typeface="Cambria"/>
                <a:cs typeface="Cambria"/>
              </a:rPr>
              <a:t>Environment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715"/>
              </a:spcBef>
            </a:pP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By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addressing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climate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change,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biodiversity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loss,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resource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depletion,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SDGs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safeguard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the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planet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Verdana"/>
                <a:cs typeface="Verdana"/>
              </a:rPr>
              <a:t>for</a:t>
            </a:r>
            <a:r>
              <a:rPr sz="1350" spc="-13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future</a:t>
            </a:r>
            <a:r>
              <a:rPr sz="1350" spc="-14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generations.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95850" y="3352800"/>
            <a:ext cx="5924550" cy="1266825"/>
            <a:chOff x="4895850" y="3352800"/>
            <a:chExt cx="5924550" cy="1266825"/>
          </a:xfrm>
        </p:grpSpPr>
        <p:sp>
          <p:nvSpPr>
            <p:cNvPr id="15" name="object 15"/>
            <p:cNvSpPr/>
            <p:nvPr/>
          </p:nvSpPr>
          <p:spPr>
            <a:xfrm>
              <a:off x="4895850" y="3352800"/>
              <a:ext cx="5924550" cy="1266825"/>
            </a:xfrm>
            <a:custGeom>
              <a:avLst/>
              <a:gdLst/>
              <a:ahLst/>
              <a:cxnLst/>
              <a:rect l="l" t="t" r="r" b="b"/>
              <a:pathLst>
                <a:path w="5924550" h="1266825">
                  <a:moveTo>
                    <a:pt x="5924550" y="0"/>
                  </a:moveTo>
                  <a:lnTo>
                    <a:pt x="0" y="0"/>
                  </a:lnTo>
                  <a:lnTo>
                    <a:pt x="0" y="1206817"/>
                  </a:lnTo>
                  <a:lnTo>
                    <a:pt x="0" y="1210754"/>
                  </a:lnTo>
                  <a:lnTo>
                    <a:pt x="14782" y="1246466"/>
                  </a:lnTo>
                  <a:lnTo>
                    <a:pt x="52158" y="1266444"/>
                  </a:lnTo>
                  <a:lnTo>
                    <a:pt x="56070" y="1266825"/>
                  </a:lnTo>
                  <a:lnTo>
                    <a:pt x="5868479" y="1266825"/>
                  </a:lnTo>
                  <a:lnTo>
                    <a:pt x="5904179" y="1252029"/>
                  </a:lnTo>
                  <a:lnTo>
                    <a:pt x="5924169" y="1214666"/>
                  </a:lnTo>
                  <a:lnTo>
                    <a:pt x="5924550" y="1210754"/>
                  </a:lnTo>
                  <a:lnTo>
                    <a:pt x="5924550" y="0"/>
                  </a:lnTo>
                  <a:close/>
                </a:path>
              </a:pathLst>
            </a:custGeom>
            <a:solidFill>
              <a:srgbClr val="FCE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95850" y="3352800"/>
              <a:ext cx="5924550" cy="19050"/>
            </a:xfrm>
            <a:custGeom>
              <a:avLst/>
              <a:gdLst/>
              <a:ahLst/>
              <a:cxnLst/>
              <a:rect l="l" t="t" r="r" b="b"/>
              <a:pathLst>
                <a:path w="5924550" h="19050">
                  <a:moveTo>
                    <a:pt x="59176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17653" y="19050"/>
                  </a:lnTo>
                  <a:lnTo>
                    <a:pt x="5919901" y="18122"/>
                  </a:lnTo>
                  <a:lnTo>
                    <a:pt x="5923622" y="14401"/>
                  </a:lnTo>
                  <a:lnTo>
                    <a:pt x="5924550" y="12153"/>
                  </a:lnTo>
                  <a:lnTo>
                    <a:pt x="5924550" y="6896"/>
                  </a:lnTo>
                  <a:lnTo>
                    <a:pt x="5923622" y="4648"/>
                  </a:lnTo>
                  <a:lnTo>
                    <a:pt x="5919901" y="927"/>
                  </a:lnTo>
                  <a:lnTo>
                    <a:pt x="5917653" y="0"/>
                  </a:lnTo>
                  <a:close/>
                </a:path>
              </a:pathLst>
            </a:custGeom>
            <a:solidFill>
              <a:srgbClr val="E2C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54600" y="3497262"/>
            <a:ext cx="4776470" cy="9220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50" dirty="0">
                <a:solidFill>
                  <a:srgbClr val="2B2E3C"/>
                </a:solidFill>
                <a:latin typeface="Cambria"/>
                <a:cs typeface="Cambria"/>
              </a:rPr>
              <a:t>Ensures</a:t>
            </a:r>
            <a:r>
              <a:rPr sz="1650" spc="-1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60" dirty="0">
                <a:solidFill>
                  <a:srgbClr val="2B2E3C"/>
                </a:solidFill>
                <a:latin typeface="Cambria"/>
                <a:cs typeface="Cambria"/>
              </a:rPr>
              <a:t>Peace</a:t>
            </a:r>
            <a:r>
              <a:rPr sz="1650" spc="-130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dirty="0">
                <a:solidFill>
                  <a:srgbClr val="2B2E3C"/>
                </a:solidFill>
                <a:latin typeface="Cambria"/>
                <a:cs typeface="Cambria"/>
              </a:rPr>
              <a:t>&amp;</a:t>
            </a:r>
            <a:r>
              <a:rPr sz="1650" spc="-125" dirty="0">
                <a:solidFill>
                  <a:srgbClr val="2B2E3C"/>
                </a:solidFill>
                <a:latin typeface="Cambria"/>
                <a:cs typeface="Cambria"/>
              </a:rPr>
              <a:t> </a:t>
            </a:r>
            <a:r>
              <a:rPr sz="1650" spc="-10" dirty="0">
                <a:solidFill>
                  <a:srgbClr val="2B2E3C"/>
                </a:solidFill>
                <a:latin typeface="Cambria"/>
                <a:cs typeface="Cambria"/>
              </a:rPr>
              <a:t>Cooperation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690"/>
              </a:spcBef>
            </a:pP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goals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foster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global</a:t>
            </a:r>
            <a:r>
              <a:rPr sz="1350" spc="-114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partnerships,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peaceful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institutions,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and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international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cooperation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across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all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nations.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30800" y="4955540"/>
            <a:ext cx="552450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5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SDGs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are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2B2E3C"/>
                </a:solidFill>
                <a:latin typeface="Arial Black"/>
                <a:cs typeface="Arial Black"/>
              </a:rPr>
              <a:t>essential</a:t>
            </a:r>
            <a:r>
              <a:rPr sz="1350" spc="-12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50" dirty="0">
                <a:solidFill>
                  <a:srgbClr val="2B2E3C"/>
                </a:solidFill>
                <a:latin typeface="Arial Black"/>
                <a:cs typeface="Arial Black"/>
              </a:rPr>
              <a:t>for</a:t>
            </a:r>
            <a:r>
              <a:rPr sz="1350" spc="-12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55" dirty="0">
                <a:solidFill>
                  <a:srgbClr val="2B2E3C"/>
                </a:solidFill>
                <a:latin typeface="Arial Black"/>
                <a:cs typeface="Arial Black"/>
              </a:rPr>
              <a:t>our</a:t>
            </a:r>
            <a:r>
              <a:rPr sz="1350" spc="-12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100" dirty="0">
                <a:solidFill>
                  <a:srgbClr val="2B2E3C"/>
                </a:solidFill>
                <a:latin typeface="Arial Black"/>
                <a:cs typeface="Arial Black"/>
              </a:rPr>
              <a:t>shared</a:t>
            </a:r>
            <a:r>
              <a:rPr sz="1350" spc="-120" dirty="0">
                <a:solidFill>
                  <a:srgbClr val="2B2E3C"/>
                </a:solidFill>
                <a:latin typeface="Arial Black"/>
                <a:cs typeface="Arial Black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Arial Black"/>
                <a:cs typeface="Arial Black"/>
              </a:rPr>
              <a:t>future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.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20" dirty="0">
                <a:solidFill>
                  <a:srgbClr val="2B2E3C"/>
                </a:solidFill>
                <a:latin typeface="Verdana"/>
                <a:cs typeface="Verdana"/>
              </a:rPr>
              <a:t>Every</a:t>
            </a:r>
            <a:r>
              <a:rPr sz="1350" spc="-14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2B2E3C"/>
                </a:solidFill>
                <a:latin typeface="Verdana"/>
                <a:cs typeface="Verdana"/>
              </a:rPr>
              <a:t>individual,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institution,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2B2E3C"/>
                </a:solidFill>
                <a:latin typeface="Verdana"/>
                <a:cs typeface="Verdana"/>
              </a:rPr>
              <a:t>and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government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must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2B2E3C"/>
                </a:solidFill>
                <a:latin typeface="Verdana"/>
                <a:cs typeface="Verdana"/>
              </a:rPr>
              <a:t>contribute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2B2E3C"/>
                </a:solidFill>
                <a:latin typeface="Verdana"/>
                <a:cs typeface="Verdana"/>
              </a:rPr>
              <a:t>achieving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2B2E3C"/>
                </a:solidFill>
                <a:latin typeface="Verdana"/>
                <a:cs typeface="Verdana"/>
              </a:rPr>
              <a:t>these</a:t>
            </a:r>
            <a:r>
              <a:rPr sz="1350" spc="-12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goals</a:t>
            </a:r>
            <a:r>
              <a:rPr sz="1350" spc="-130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2B2E3C"/>
                </a:solidFill>
                <a:latin typeface="Verdana"/>
                <a:cs typeface="Verdana"/>
              </a:rPr>
              <a:t>by </a:t>
            </a:r>
            <a:r>
              <a:rPr sz="1350" spc="-165" dirty="0">
                <a:solidFill>
                  <a:srgbClr val="2B2E3C"/>
                </a:solidFill>
                <a:latin typeface="Arial Black"/>
                <a:cs typeface="Arial Black"/>
              </a:rPr>
              <a:t>2030</a:t>
            </a:r>
            <a:r>
              <a:rPr sz="1350" spc="-165" dirty="0">
                <a:solidFill>
                  <a:srgbClr val="2B2E3C"/>
                </a:solidFill>
                <a:latin typeface="Verdana"/>
                <a:cs typeface="Verdana"/>
              </a:rPr>
              <a:t>.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The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2B2E3C"/>
                </a:solidFill>
                <a:latin typeface="Verdana"/>
                <a:cs typeface="Verdana"/>
              </a:rPr>
              <a:t>time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2B2E3C"/>
                </a:solidFill>
                <a:latin typeface="Verdana"/>
                <a:cs typeface="Verdana"/>
              </a:rPr>
              <a:t>to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2B2E3C"/>
                </a:solidFill>
                <a:latin typeface="Verdana"/>
                <a:cs typeface="Verdana"/>
              </a:rPr>
              <a:t>act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2B2E3C"/>
                </a:solidFill>
                <a:latin typeface="Verdana"/>
                <a:cs typeface="Verdana"/>
              </a:rPr>
              <a:t>is</a:t>
            </a:r>
            <a:r>
              <a:rPr sz="1350" spc="-155" dirty="0">
                <a:solidFill>
                  <a:srgbClr val="2B2E3C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2B2E3C"/>
                </a:solidFill>
                <a:latin typeface="Verdana"/>
                <a:cs typeface="Verdana"/>
              </a:rPr>
              <a:t>now.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86325" y="4819651"/>
            <a:ext cx="19050" cy="1209675"/>
          </a:xfrm>
          <a:custGeom>
            <a:avLst/>
            <a:gdLst/>
            <a:ahLst/>
            <a:cxnLst/>
            <a:rect l="l" t="t" r="r" b="b"/>
            <a:pathLst>
              <a:path w="19050" h="1209675">
                <a:moveTo>
                  <a:pt x="19050" y="0"/>
                </a:moveTo>
                <a:lnTo>
                  <a:pt x="0" y="0"/>
                </a:lnTo>
                <a:lnTo>
                  <a:pt x="0" y="1209675"/>
                </a:lnTo>
                <a:lnTo>
                  <a:pt x="19050" y="1209675"/>
                </a:lnTo>
                <a:lnTo>
                  <a:pt x="19050" y="0"/>
                </a:lnTo>
                <a:close/>
              </a:path>
            </a:pathLst>
          </a:custGeom>
          <a:solidFill>
            <a:srgbClr val="D25F0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822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MingLiU_HKSCS-ExtB</vt:lpstr>
      <vt:lpstr>Arial Black</vt:lpstr>
      <vt:lpstr>Calibri</vt:lpstr>
      <vt:lpstr>Cambria</vt:lpstr>
      <vt:lpstr>Segoe UI Symbol</vt:lpstr>
      <vt:lpstr>Times New Roman</vt:lpstr>
      <vt:lpstr>Verdana</vt:lpstr>
      <vt:lpstr>Office Theme</vt:lpstr>
      <vt:lpstr>Sustainable Development Goals (SDGs) – Overview</vt:lpstr>
      <vt:lpstr>Introduction</vt:lpstr>
      <vt:lpstr>What are SDGs?</vt:lpstr>
      <vt:lpstr>Key Features of the SDGs</vt:lpstr>
      <vt:lpstr>All 17 SDGs – Overview</vt:lpstr>
      <vt:lpstr>Goals 1–3: People &amp; Health</vt:lpstr>
      <vt:lpstr>Goals 4–5: Education &amp; Equality</vt:lpstr>
      <vt:lpstr>Environmental Goals</vt:lpstr>
      <vt:lpstr>Economic &amp; Social Goals</vt:lpstr>
      <vt:lpstr>Importance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Sustainable Development Goals (SDGs) – Overview</dc:title>
  <dc:subject>1</dc:subject>
  <dc:creator>maheriya hardik</dc:creator>
  <cp:lastModifiedBy>maher_27tf</cp:lastModifiedBy>
  <cp:revision>6</cp:revision>
  <dcterms:created xsi:type="dcterms:W3CDTF">2026-04-21T09:36:25Z</dcterms:created>
  <dcterms:modified xsi:type="dcterms:W3CDTF">2026-04-21T09:58:37Z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2026-04-21T00:00:00Z</vt:filetime>
  </property>
  <property fmtid="{D5CDD505-2E9C-101B-9397-08002B2CF9AE}" pid="3" name="Creator">
    <vt:lpwstr>lightpdf.com</vt:lpwstr>
  </property>
  <property fmtid="{D5CDD505-2E9C-101B-9397-08002B2CF9AE}" pid="4" name="LastSaved">
    <vt:filetime>2026-04-21T00:00:00Z</vt:filetime>
  </property>
</Properties>
</file>